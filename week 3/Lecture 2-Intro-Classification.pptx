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52"/>
  </p:notesMasterIdLst>
  <p:sldIdLst>
    <p:sldId id="259" r:id="rId2"/>
    <p:sldId id="260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5" r:id="rId15"/>
    <p:sldId id="274" r:id="rId16"/>
    <p:sldId id="276" r:id="rId17"/>
    <p:sldId id="277" r:id="rId18"/>
    <p:sldId id="281" r:id="rId19"/>
    <p:sldId id="283" r:id="rId20"/>
    <p:sldId id="284" r:id="rId21"/>
    <p:sldId id="285" r:id="rId22"/>
    <p:sldId id="287" r:id="rId23"/>
    <p:sldId id="288" r:id="rId24"/>
    <p:sldId id="289" r:id="rId25"/>
    <p:sldId id="290" r:id="rId26"/>
    <p:sldId id="291" r:id="rId27"/>
    <p:sldId id="292" r:id="rId28"/>
    <p:sldId id="298" r:id="rId29"/>
    <p:sldId id="294" r:id="rId30"/>
    <p:sldId id="295" r:id="rId31"/>
    <p:sldId id="299" r:id="rId32"/>
    <p:sldId id="305" r:id="rId33"/>
    <p:sldId id="306" r:id="rId34"/>
    <p:sldId id="308" r:id="rId35"/>
    <p:sldId id="309" r:id="rId36"/>
    <p:sldId id="310" r:id="rId37"/>
    <p:sldId id="311" r:id="rId38"/>
    <p:sldId id="312" r:id="rId39"/>
    <p:sldId id="313" r:id="rId40"/>
    <p:sldId id="314" r:id="rId41"/>
    <p:sldId id="315" r:id="rId42"/>
    <p:sldId id="316" r:id="rId43"/>
    <p:sldId id="317" r:id="rId44"/>
    <p:sldId id="318" r:id="rId45"/>
    <p:sldId id="319" r:id="rId46"/>
    <p:sldId id="321" r:id="rId47"/>
    <p:sldId id="322" r:id="rId48"/>
    <p:sldId id="323" r:id="rId49"/>
    <p:sldId id="325" r:id="rId50"/>
    <p:sldId id="326" r:id="rId5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2" d="100"/>
          <a:sy n="102" d="100"/>
        </p:scale>
        <p:origin x="132" y="1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microsoft.com/office/2016/11/relationships/changesInfo" Target="changesInfos/changesInfo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mla Topallı" userId="af3aade63f12e0bc" providerId="LiveId" clId="{2A728071-AFB6-4958-82FA-FA088FF120C7}"/>
    <pc:docChg chg="delSld">
      <pc:chgData name="Damla Topallı" userId="af3aade63f12e0bc" providerId="LiveId" clId="{2A728071-AFB6-4958-82FA-FA088FF120C7}" dt="2025-02-27T06:42:51.591" v="0" actId="47"/>
      <pc:docMkLst>
        <pc:docMk/>
      </pc:docMkLst>
      <pc:sldChg chg="del">
        <pc:chgData name="Damla Topallı" userId="af3aade63f12e0bc" providerId="LiveId" clId="{2A728071-AFB6-4958-82FA-FA088FF120C7}" dt="2025-02-27T06:42:51.591" v="0" actId="47"/>
        <pc:sldMkLst>
          <pc:docMk/>
          <pc:sldMk cId="3960785124" sldId="32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762B5B-BA07-498B-B845-A96423A8C5B2}" type="datetimeFigureOut">
              <a:rPr lang="tr-TR" smtClean="0"/>
              <a:pPr/>
              <a:t>1.10.2026</a:t>
            </a:fld>
            <a:endParaRPr lang="tr-T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A81D1C-76ED-4DBB-852E-C6DE90F8ABC4}" type="slidenum">
              <a:rPr lang="tr-TR" smtClean="0"/>
              <a:pPr/>
              <a:t>‹#›</a:t>
            </a:fld>
            <a:endParaRPr lang="tr-T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92007FA-7771-4BB3-9AE1-CCA484EF3523}" type="slidenum">
              <a:rPr lang="en-US"/>
              <a:pPr/>
              <a:t>9</a:t>
            </a:fld>
            <a:endParaRPr lang="en-US"/>
          </a:p>
        </p:txBody>
      </p:sp>
      <p:sp>
        <p:nvSpPr>
          <p:cNvPr id="1320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20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024341D-C1CC-4A30-81C6-C45494979A88}" type="slidenum">
              <a:rPr lang="en-US"/>
              <a:pPr/>
              <a:t>10</a:t>
            </a:fld>
            <a:endParaRPr lang="en-US"/>
          </a:p>
        </p:txBody>
      </p:sp>
      <p:sp>
        <p:nvSpPr>
          <p:cNvPr id="162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28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18901EA-759D-4BD6-BADB-4FE3E6004A1F}" type="slidenum">
              <a:rPr lang="en-US"/>
              <a:pPr/>
              <a:t>20</a:t>
            </a:fld>
            <a:endParaRPr lang="en-US"/>
          </a:p>
        </p:txBody>
      </p:sp>
      <p:sp>
        <p:nvSpPr>
          <p:cNvPr id="1495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95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08D74FC-F1AF-4940-AD16-C206C74FA964}" type="slidenum">
              <a:rPr lang="en-US"/>
              <a:pPr/>
              <a:t>22</a:t>
            </a:fld>
            <a:endParaRPr lang="en-US"/>
          </a:p>
        </p:txBody>
      </p:sp>
      <p:sp>
        <p:nvSpPr>
          <p:cNvPr id="6901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01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08D74FC-F1AF-4940-AD16-C206C74FA964}" type="slidenum">
              <a:rPr lang="en-US"/>
              <a:pPr/>
              <a:t>34</a:t>
            </a:fld>
            <a:endParaRPr lang="en-US"/>
          </a:p>
        </p:txBody>
      </p:sp>
      <p:sp>
        <p:nvSpPr>
          <p:cNvPr id="6901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01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>
              <a:defRPr sz="1400"/>
            </a:lvl1pPr>
          </a:lstStyle>
          <a:p>
            <a:fld id="{1D8BD707-D9CF-40AE-B4C6-C98DA3205C09}" type="datetimeFigureOut">
              <a:rPr lang="en-US" smtClean="0"/>
              <a:pPr/>
              <a:t>10/1/2026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216152" y="6355080"/>
            <a:ext cx="1219200" cy="36576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3" name="Rectangle 32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Rectangle 21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Rectangle 31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Isosceles Triangle 7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wmf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wmf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wmf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wmf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5.wmf"/><Relationship Id="rId4" Type="http://schemas.openxmlformats.org/officeDocument/2006/relationships/oleObject" Target="../embeddings/oleObject2.bin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wmf"/><Relationship Id="rId7" Type="http://schemas.openxmlformats.org/officeDocument/2006/relationships/image" Target="../media/image29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5.bin"/><Relationship Id="rId5" Type="http://schemas.openxmlformats.org/officeDocument/2006/relationships/image" Target="../media/image28.wmf"/><Relationship Id="rId4" Type="http://schemas.openxmlformats.org/officeDocument/2006/relationships/oleObject" Target="../embeddings/oleObject4.bin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wmf"/><Relationship Id="rId7" Type="http://schemas.openxmlformats.org/officeDocument/2006/relationships/image" Target="../media/image35.wmf"/><Relationship Id="rId2" Type="http://schemas.openxmlformats.org/officeDocument/2006/relationships/image" Target="../media/image30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wmf"/><Relationship Id="rId5" Type="http://schemas.openxmlformats.org/officeDocument/2006/relationships/image" Target="../media/image33.wmf"/><Relationship Id="rId4" Type="http://schemas.openxmlformats.org/officeDocument/2006/relationships/image" Target="../media/image32.wmf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emf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e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wmf"/><Relationship Id="rId2" Type="http://schemas.openxmlformats.org/officeDocument/2006/relationships/oleObject" Target="../embeddings/oleObject8.bin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wmf"/><Relationship Id="rId2" Type="http://schemas.openxmlformats.org/officeDocument/2006/relationships/oleObject" Target="../embeddings/oleObject9.bin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wmf"/><Relationship Id="rId2" Type="http://schemas.openxmlformats.org/officeDocument/2006/relationships/oleObject" Target="../embeddings/oleObject10.bin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emf"/><Relationship Id="rId2" Type="http://schemas.openxmlformats.org/officeDocument/2006/relationships/oleObject" Target="../embeddings/oleObject11.bin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dirty="0"/>
              <a:t>CLASSIFICATION TECHNIQUES</a:t>
            </a:r>
            <a:br>
              <a:rPr lang="tr-TR" dirty="0"/>
            </a:b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81600"/>
          </a:xfrm>
        </p:spPr>
        <p:txBody>
          <a:bodyPr/>
          <a:lstStyle/>
          <a:p>
            <a:r>
              <a:rPr lang="tr-TR" dirty="0"/>
              <a:t>Classification is about </a:t>
            </a:r>
            <a:r>
              <a:rPr lang="tr-TR" dirty="0">
                <a:solidFill>
                  <a:srgbClr val="FF0000"/>
                </a:solidFill>
              </a:rPr>
              <a:t>determining the class of a given record </a:t>
            </a:r>
            <a:r>
              <a:rPr lang="tr-TR" dirty="0"/>
              <a:t>by applying a classification model.</a:t>
            </a:r>
          </a:p>
          <a:p>
            <a:r>
              <a:rPr lang="tr-TR" dirty="0"/>
              <a:t>Classification Techniques:</a:t>
            </a:r>
          </a:p>
          <a:p>
            <a:pPr lvl="1">
              <a:lnSpc>
                <a:spcPct val="115000"/>
              </a:lnSpc>
              <a:spcAft>
                <a:spcPts val="1000"/>
              </a:spcAft>
            </a:pPr>
            <a:r>
              <a:rPr lang="en-GB" sz="2500" dirty="0">
                <a:latin typeface="Calibri"/>
                <a:ea typeface="Calibri"/>
                <a:cs typeface="Times New Roman"/>
              </a:rPr>
              <a:t>1. Decision Trees (e.g. ID3, C4.5, C5.5(j48))</a:t>
            </a:r>
            <a:endParaRPr lang="tr-TR" sz="2500" dirty="0">
              <a:latin typeface="Calibri"/>
              <a:ea typeface="Calibri"/>
              <a:cs typeface="Times New Roman"/>
            </a:endParaRPr>
          </a:p>
          <a:p>
            <a:pPr lvl="1">
              <a:lnSpc>
                <a:spcPct val="115000"/>
              </a:lnSpc>
              <a:spcAft>
                <a:spcPts val="1000"/>
              </a:spcAft>
            </a:pPr>
            <a:r>
              <a:rPr lang="en-GB" sz="2500" dirty="0">
                <a:latin typeface="Calibri"/>
                <a:ea typeface="Calibri"/>
                <a:cs typeface="Times New Roman"/>
              </a:rPr>
              <a:t>2. Rule Based Algorithms</a:t>
            </a:r>
            <a:endParaRPr lang="tr-TR" sz="2500" dirty="0">
              <a:latin typeface="Calibri"/>
              <a:ea typeface="Calibri"/>
              <a:cs typeface="Times New Roman"/>
            </a:endParaRPr>
          </a:p>
          <a:p>
            <a:pPr lvl="1">
              <a:lnSpc>
                <a:spcPct val="115000"/>
              </a:lnSpc>
              <a:spcAft>
                <a:spcPts val="1000"/>
              </a:spcAft>
            </a:pPr>
            <a:r>
              <a:rPr lang="en-GB" sz="2500" dirty="0">
                <a:latin typeface="Calibri"/>
                <a:ea typeface="Calibri"/>
                <a:cs typeface="Times New Roman"/>
              </a:rPr>
              <a:t>3. K- Nearest </a:t>
            </a:r>
            <a:r>
              <a:rPr lang="en-GB" sz="2500" dirty="0" err="1">
                <a:latin typeface="Calibri"/>
                <a:ea typeface="Calibri"/>
                <a:cs typeface="Times New Roman"/>
              </a:rPr>
              <a:t>Neighbor</a:t>
            </a:r>
            <a:r>
              <a:rPr lang="en-GB" sz="2500" dirty="0">
                <a:latin typeface="Calibri"/>
                <a:ea typeface="Calibri"/>
                <a:cs typeface="Times New Roman"/>
              </a:rPr>
              <a:t> Algorithm</a:t>
            </a:r>
            <a:endParaRPr lang="tr-TR" sz="2500" dirty="0">
              <a:latin typeface="Calibri"/>
              <a:ea typeface="Calibri"/>
              <a:cs typeface="Times New Roman"/>
            </a:endParaRPr>
          </a:p>
          <a:p>
            <a:pPr lvl="1">
              <a:lnSpc>
                <a:spcPct val="115000"/>
              </a:lnSpc>
              <a:spcAft>
                <a:spcPts val="1000"/>
              </a:spcAft>
            </a:pPr>
            <a:r>
              <a:rPr lang="en-GB" sz="2200" dirty="0">
                <a:latin typeface="Calibri"/>
                <a:ea typeface="Calibri"/>
                <a:cs typeface="Times New Roman"/>
              </a:rPr>
              <a:t>4. </a:t>
            </a:r>
            <a:r>
              <a:rPr lang="en-GB" sz="2500" dirty="0">
                <a:latin typeface="Calibri"/>
                <a:ea typeface="Calibri"/>
                <a:cs typeface="Times New Roman"/>
              </a:rPr>
              <a:t>Bayesian Classifier</a:t>
            </a:r>
            <a:r>
              <a:rPr lang="tr-TR" sz="2500" dirty="0">
                <a:latin typeface="Calibri"/>
                <a:ea typeface="Calibri"/>
                <a:cs typeface="Times New Roman"/>
              </a:rPr>
              <a:t> (A Statistical Method)</a:t>
            </a:r>
          </a:p>
          <a:p>
            <a:pPr lvl="1">
              <a:lnSpc>
                <a:spcPct val="115000"/>
              </a:lnSpc>
              <a:spcAft>
                <a:spcPts val="1000"/>
              </a:spcAft>
            </a:pPr>
            <a:r>
              <a:rPr lang="en-GB" sz="2500" dirty="0">
                <a:latin typeface="Calibri"/>
                <a:ea typeface="Calibri"/>
                <a:cs typeface="Times New Roman"/>
              </a:rPr>
              <a:t>5. ANN (Artificial Neural Nets)</a:t>
            </a:r>
            <a:endParaRPr lang="tr-TR" sz="2500" dirty="0">
              <a:latin typeface="Calibri"/>
              <a:ea typeface="Calibri"/>
              <a:cs typeface="Times New Roman"/>
            </a:endParaRPr>
          </a:p>
          <a:p>
            <a:endParaRPr lang="tr-TR" dirty="0"/>
          </a:p>
          <a:p>
            <a:endParaRPr lang="tr-TR" dirty="0"/>
          </a:p>
          <a:p>
            <a:pPr>
              <a:buNone/>
            </a:pPr>
            <a:endParaRPr lang="tr-TR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dirty="0"/>
              <a:t>Forms of Some Classification Models</a:t>
            </a:r>
            <a:br>
              <a:rPr lang="tr-TR" dirty="0"/>
            </a:br>
            <a:endParaRPr lang="tr-TR" dirty="0"/>
          </a:p>
        </p:txBody>
      </p:sp>
      <p:pic>
        <p:nvPicPr>
          <p:cNvPr id="4" name="Picture 3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5800" y="2133600"/>
            <a:ext cx="5486400" cy="2819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4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324600" y="2286000"/>
            <a:ext cx="2514600" cy="259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dirty="0"/>
              <a:t>Classification Rules</a:t>
            </a:r>
            <a:br>
              <a:rPr lang="tr-TR" dirty="0"/>
            </a:b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533400" y="1371600"/>
            <a:ext cx="8229600" cy="4419600"/>
          </a:xfrm>
        </p:spPr>
        <p:txBody>
          <a:bodyPr/>
          <a:lstStyle/>
          <a:p>
            <a:r>
              <a:rPr lang="tr-TR" dirty="0"/>
              <a:t>A rule is an </a:t>
            </a:r>
            <a:r>
              <a:rPr lang="tr-TR" dirty="0">
                <a:solidFill>
                  <a:srgbClr val="FF0000"/>
                </a:solidFill>
              </a:rPr>
              <a:t>IF…THEN</a:t>
            </a:r>
            <a:r>
              <a:rPr lang="tr-TR" dirty="0"/>
              <a:t> structure that states a fact about the data set.</a:t>
            </a:r>
          </a:p>
          <a:p>
            <a:pPr>
              <a:buNone/>
            </a:pPr>
            <a:endParaRPr lang="tr-TR" dirty="0"/>
          </a:p>
          <a:p>
            <a:r>
              <a:rPr lang="tr-TR" dirty="0"/>
              <a:t>Exp: Credit Card Application</a:t>
            </a:r>
          </a:p>
          <a:p>
            <a:pPr>
              <a:buNone/>
            </a:pPr>
            <a:endParaRPr lang="tr-TR" dirty="0"/>
          </a:p>
          <a:p>
            <a:pPr>
              <a:buNone/>
            </a:pPr>
            <a:r>
              <a:rPr lang="tr-TR" dirty="0"/>
              <a:t>	IF (20000 &lt; income &lt; 40000) And (ownHouse= ‘YES’)</a:t>
            </a:r>
          </a:p>
          <a:p>
            <a:pPr>
              <a:buNone/>
            </a:pPr>
            <a:r>
              <a:rPr lang="tr-TR" dirty="0"/>
              <a:t>	THEN class= “safe customer”</a:t>
            </a:r>
          </a:p>
          <a:p>
            <a:pPr>
              <a:buNone/>
            </a:pPr>
            <a:r>
              <a:rPr lang="tr-TR" dirty="0"/>
              <a:t> </a:t>
            </a:r>
          </a:p>
          <a:p>
            <a:endParaRPr lang="tr-TR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dirty="0"/>
              <a:t>Steps of Classification</a:t>
            </a:r>
            <a:br>
              <a:rPr lang="tr-TR" dirty="0"/>
            </a:b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28600" y="1219200"/>
            <a:ext cx="8915400" cy="4937760"/>
          </a:xfrm>
        </p:spPr>
        <p:txBody>
          <a:bodyPr>
            <a:normAutofit fontScale="92500" lnSpcReduction="10000"/>
          </a:bodyPr>
          <a:lstStyle/>
          <a:p>
            <a:r>
              <a:rPr lang="tr-TR" sz="3000" b="1" dirty="0"/>
              <a:t>3 steps in classification</a:t>
            </a:r>
          </a:p>
          <a:p>
            <a:pPr marL="342900" indent="-342900">
              <a:lnSpc>
                <a:spcPct val="90000"/>
              </a:lnSpc>
            </a:pPr>
            <a:r>
              <a:rPr lang="tr-TR" b="1" dirty="0"/>
              <a:t>Construct</a:t>
            </a:r>
            <a:r>
              <a:rPr lang="en-US" b="1" dirty="0"/>
              <a:t>  </a:t>
            </a:r>
            <a:r>
              <a:rPr lang="en-US" b="1" i="1" dirty="0">
                <a:solidFill>
                  <a:srgbClr val="CC0000"/>
                </a:solidFill>
              </a:rPr>
              <a:t>model</a:t>
            </a:r>
            <a:r>
              <a:rPr lang="en-US" b="1" dirty="0"/>
              <a:t> 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for class attribute as a function of the values of other attributes.</a:t>
            </a:r>
            <a:endParaRPr lang="tr-TR" dirty="0">
              <a:solidFill>
                <a:srgbClr val="FF0000"/>
              </a:solidFill>
            </a:endParaRPr>
          </a:p>
          <a:p>
            <a:pPr marL="617220" lvl="1" indent="-342900">
              <a:lnSpc>
                <a:spcPct val="90000"/>
              </a:lnSpc>
            </a:pPr>
            <a:r>
              <a:rPr lang="en-US" dirty="0"/>
              <a:t>Given a collection of records (</a:t>
            </a:r>
            <a:r>
              <a:rPr lang="en-US" i="1" dirty="0">
                <a:solidFill>
                  <a:srgbClr val="CC0000"/>
                </a:solidFill>
              </a:rPr>
              <a:t>training set </a:t>
            </a:r>
            <a:r>
              <a:rPr lang="en-US" dirty="0"/>
              <a:t>)</a:t>
            </a:r>
            <a:endParaRPr lang="tr-TR" dirty="0"/>
          </a:p>
          <a:p>
            <a:pPr marL="617220" lvl="1" indent="-342900">
              <a:lnSpc>
                <a:spcPct val="90000"/>
              </a:lnSpc>
            </a:pPr>
            <a:r>
              <a:rPr lang="en-US" sz="2400" dirty="0"/>
              <a:t>Each record contains a set of </a:t>
            </a:r>
            <a:r>
              <a:rPr lang="en-US" sz="2400" i="1" dirty="0">
                <a:solidFill>
                  <a:srgbClr val="CC0000"/>
                </a:solidFill>
              </a:rPr>
              <a:t>attributes</a:t>
            </a:r>
            <a:r>
              <a:rPr lang="en-US" sz="2400" dirty="0"/>
              <a:t>, one of the attributes is the </a:t>
            </a:r>
            <a:r>
              <a:rPr lang="en-US" sz="2400" i="1" dirty="0">
                <a:solidFill>
                  <a:srgbClr val="CC0000"/>
                </a:solidFill>
              </a:rPr>
              <a:t>class</a:t>
            </a:r>
            <a:r>
              <a:rPr lang="en-US" sz="2400" dirty="0"/>
              <a:t>.</a:t>
            </a:r>
            <a:endParaRPr lang="en-US" dirty="0"/>
          </a:p>
          <a:p>
            <a:pPr marL="342900" indent="-342900">
              <a:lnSpc>
                <a:spcPct val="90000"/>
              </a:lnSpc>
            </a:pPr>
            <a:r>
              <a:rPr lang="tr-TR" b="1" dirty="0"/>
              <a:t>Evaluate  model</a:t>
            </a:r>
            <a:endParaRPr lang="en-US" b="1" dirty="0"/>
          </a:p>
          <a:p>
            <a:pPr marL="742950" lvl="1" indent="-285750">
              <a:lnSpc>
                <a:spcPct val="90000"/>
              </a:lnSpc>
            </a:pPr>
            <a:r>
              <a:rPr lang="en-US" sz="2400" dirty="0">
                <a:solidFill>
                  <a:srgbClr val="FF0000"/>
                </a:solidFill>
              </a:rPr>
              <a:t>A </a:t>
            </a:r>
            <a:r>
              <a:rPr lang="en-US" sz="2400" i="1" dirty="0">
                <a:solidFill>
                  <a:srgbClr val="FF0000"/>
                </a:solidFill>
              </a:rPr>
              <a:t>test set</a:t>
            </a:r>
            <a:r>
              <a:rPr lang="en-US" sz="2400" dirty="0">
                <a:solidFill>
                  <a:srgbClr val="FF0000"/>
                </a:solidFill>
              </a:rPr>
              <a:t> is used to determine the accuracy of the model</a:t>
            </a:r>
            <a:r>
              <a:rPr lang="en-US" sz="2400" dirty="0"/>
              <a:t>. Usually, the given data set is divided into training and test sets, with training set used to build the model and test set used to validate it.</a:t>
            </a:r>
            <a:endParaRPr lang="tr-TR" sz="2400" dirty="0"/>
          </a:p>
          <a:p>
            <a:pPr marL="742950" lvl="1" indent="-285750">
              <a:lnSpc>
                <a:spcPct val="90000"/>
              </a:lnSpc>
            </a:pPr>
            <a:endParaRPr lang="tr-TR" sz="2400" dirty="0"/>
          </a:p>
          <a:p>
            <a:pPr marL="342900" lvl="0" indent="-342900">
              <a:lnSpc>
                <a:spcPct val="90000"/>
              </a:lnSpc>
              <a:buClr>
                <a:srgbClr val="727CA3"/>
              </a:buClr>
            </a:pPr>
            <a:r>
              <a:rPr lang="tr-TR" b="1" dirty="0">
                <a:solidFill>
                  <a:prstClr val="black"/>
                </a:solidFill>
              </a:rPr>
              <a:t>Use model</a:t>
            </a:r>
            <a:endParaRPr lang="tr-TR" sz="2400" dirty="0"/>
          </a:p>
          <a:p>
            <a:pPr marL="742950" lvl="1" indent="-285750">
              <a:lnSpc>
                <a:spcPct val="90000"/>
              </a:lnSpc>
              <a:buNone/>
            </a:pPr>
            <a:r>
              <a:rPr lang="en-US" dirty="0">
                <a:solidFill>
                  <a:srgbClr val="FF0000"/>
                </a:solidFill>
              </a:rPr>
              <a:t>Goal: </a:t>
            </a:r>
            <a:r>
              <a:rPr lang="en-US" u="sng" dirty="0"/>
              <a:t>previously </a:t>
            </a:r>
            <a:r>
              <a:rPr lang="en-US" u="sng" dirty="0">
                <a:solidFill>
                  <a:srgbClr val="FF0000"/>
                </a:solidFill>
              </a:rPr>
              <a:t>unseen</a:t>
            </a:r>
            <a:r>
              <a:rPr lang="en-US" dirty="0">
                <a:solidFill>
                  <a:srgbClr val="FF0000"/>
                </a:solidFill>
              </a:rPr>
              <a:t> records should be assigned a class </a:t>
            </a:r>
            <a:r>
              <a:rPr lang="en-US" dirty="0"/>
              <a:t>as accurately as possible.</a:t>
            </a:r>
          </a:p>
          <a:p>
            <a:pPr marL="742950" lvl="1" indent="-285750">
              <a:lnSpc>
                <a:spcPct val="90000"/>
              </a:lnSpc>
              <a:buNone/>
            </a:pPr>
            <a:endParaRPr lang="en-US" dirty="0"/>
          </a:p>
          <a:p>
            <a:pPr>
              <a:buNone/>
            </a:pPr>
            <a:endParaRPr lang="tr-TR" dirty="0"/>
          </a:p>
          <a:p>
            <a:pPr lvl="1"/>
            <a:endParaRPr lang="tr-TR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81000" y="0"/>
            <a:ext cx="8229600" cy="1143000"/>
          </a:xfrm>
        </p:spPr>
        <p:txBody>
          <a:bodyPr/>
          <a:lstStyle/>
          <a:p>
            <a:r>
              <a:rPr lang="en-GB" dirty="0"/>
              <a:t>Construct a classification model to determine the class of a given record</a:t>
            </a:r>
            <a:endParaRPr lang="tr-TR" dirty="0"/>
          </a:p>
          <a:p>
            <a:endParaRPr lang="tr-TR" dirty="0"/>
          </a:p>
        </p:txBody>
      </p:sp>
      <p:pic>
        <p:nvPicPr>
          <p:cNvPr id="4" name="Picture 3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1752600"/>
            <a:ext cx="8229600" cy="403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dirty="0"/>
              <a:t>Constructing Model</a:t>
            </a:r>
            <a:br>
              <a:rPr lang="tr-TR" dirty="0"/>
            </a:br>
            <a:endParaRPr lang="tr-TR" dirty="0"/>
          </a:p>
        </p:txBody>
      </p:sp>
      <p:pic>
        <p:nvPicPr>
          <p:cNvPr id="6861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19188" y="1343025"/>
            <a:ext cx="6905625" cy="4295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dirty="0"/>
              <a:t>Evaluating Model</a:t>
            </a:r>
            <a:br>
              <a:rPr lang="tr-TR" dirty="0"/>
            </a:br>
            <a:endParaRPr lang="tr-TR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95388" y="1376363"/>
            <a:ext cx="6753225" cy="4105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Rectangle 3"/>
          <p:cNvSpPr/>
          <p:nvPr/>
        </p:nvSpPr>
        <p:spPr>
          <a:xfrm>
            <a:off x="2971800" y="2743200"/>
            <a:ext cx="914400" cy="533400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/>
              <a:t>Test Set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0" y="4267200"/>
            <a:ext cx="14478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/>
              <a:t>Accuracy </a:t>
            </a:r>
          </a:p>
          <a:p>
            <a:pPr algn="ctr"/>
            <a:r>
              <a:rPr lang="tr-TR" dirty="0"/>
              <a:t>75%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dirty="0"/>
              <a:t>Using Model</a:t>
            </a:r>
            <a:br>
              <a:rPr lang="tr-TR" dirty="0"/>
            </a:b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685800"/>
          </a:xfrm>
        </p:spPr>
        <p:txBody>
          <a:bodyPr/>
          <a:lstStyle/>
          <a:p>
            <a:r>
              <a:rPr lang="tr-TR" dirty="0"/>
              <a:t>To classify a new data according to constructed model.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66801" y="2438400"/>
            <a:ext cx="6019800" cy="3876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934200" y="5257800"/>
            <a:ext cx="2209800" cy="790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5"/>
          <p:cNvSpPr/>
          <p:nvPr/>
        </p:nvSpPr>
        <p:spPr>
          <a:xfrm>
            <a:off x="2514600" y="3733800"/>
            <a:ext cx="914400" cy="533400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/>
              <a:t>Test Set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0" y="2971800"/>
            <a:ext cx="10668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>
                <a:solidFill>
                  <a:srgbClr val="FFFF00"/>
                </a:solidFill>
              </a:rPr>
              <a:t>Classifier</a:t>
            </a:r>
          </a:p>
        </p:txBody>
      </p:sp>
      <p:sp>
        <p:nvSpPr>
          <p:cNvPr id="8" name="Rectangle 7"/>
          <p:cNvSpPr/>
          <p:nvPr/>
        </p:nvSpPr>
        <p:spPr>
          <a:xfrm>
            <a:off x="5638800" y="3810000"/>
            <a:ext cx="9906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1600" dirty="0"/>
              <a:t>Unseen Record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863DA3-644D-4807-96CE-EC51177E5AA2}" type="slidenum">
              <a:rPr lang="en-US"/>
              <a:pPr/>
              <a:t>9</a:t>
            </a:fld>
            <a:endParaRPr lang="en-US"/>
          </a:p>
        </p:txBody>
      </p:sp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ea typeface="PMingLiU" pitchFamily="18" charset="-120"/>
              </a:rPr>
              <a:t>DECISION TREE</a:t>
            </a:r>
          </a:p>
        </p:txBody>
      </p:sp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8305800" cy="4495800"/>
          </a:xfrm>
        </p:spPr>
        <p:txBody>
          <a:bodyPr/>
          <a:lstStyle/>
          <a:p>
            <a:pPr marL="342900" indent="-342900"/>
            <a:r>
              <a:rPr lang="en-US" dirty="0"/>
              <a:t>A decision tree is a tree where the root and each internal node is labeled with a question. </a:t>
            </a:r>
            <a:endParaRPr lang="en-US" altLang="zh-TW" dirty="0">
              <a:ea typeface="PMingLiU" pitchFamily="18" charset="-120"/>
            </a:endParaRPr>
          </a:p>
        </p:txBody>
      </p:sp>
      <p:pic>
        <p:nvPicPr>
          <p:cNvPr id="56325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447800" y="2582879"/>
            <a:ext cx="6705600" cy="4275121"/>
          </a:xfrm>
          <a:prstGeom prst="rect">
            <a:avLst/>
          </a:prstGeom>
          <a:noFill/>
          <a:ln w="9525">
            <a:noFill/>
            <a:miter lim="800000"/>
            <a:headEnd type="none" w="sm" len="sm"/>
            <a:tailEnd type="none" w="sm" len="sm"/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ea typeface="PMingLiU" pitchFamily="18" charset="-120"/>
              </a:rPr>
              <a:t>DECISION TREE</a:t>
            </a:r>
          </a:p>
        </p:txBody>
      </p:sp>
      <p:sp>
        <p:nvSpPr>
          <p:cNvPr id="1617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305800" cy="3505200"/>
          </a:xfrm>
        </p:spPr>
        <p:txBody>
          <a:bodyPr/>
          <a:lstStyle/>
          <a:p>
            <a:pPr marL="342900" indent="-342900"/>
            <a:r>
              <a:rPr lang="tr-TR" dirty="0"/>
              <a:t>Constructing </a:t>
            </a:r>
            <a:r>
              <a:rPr lang="en-US" dirty="0"/>
              <a:t>decision tree is a </a:t>
            </a:r>
            <a:r>
              <a:rPr lang="tr-TR" dirty="0"/>
              <a:t>recursive problem</a:t>
            </a:r>
          </a:p>
          <a:p>
            <a:pPr marL="742950" lvl="1" indent="-285750"/>
            <a:r>
              <a:rPr lang="tr-TR" dirty="0"/>
              <a:t>Select an attribute to place at the root node</a:t>
            </a:r>
          </a:p>
          <a:p>
            <a:pPr marL="742950" lvl="1" indent="-285750">
              <a:buNone/>
            </a:pPr>
            <a:endParaRPr lang="tr-TR" dirty="0"/>
          </a:p>
          <a:p>
            <a:pPr marL="742950" lvl="1" indent="-285750"/>
            <a:r>
              <a:rPr lang="tr-TR" dirty="0"/>
              <a:t>Make branch for each posibble value of attribute</a:t>
            </a:r>
          </a:p>
          <a:p>
            <a:pPr marL="742950" lvl="1" indent="-285750">
              <a:buNone/>
            </a:pPr>
            <a:endParaRPr lang="tr-TR" dirty="0"/>
          </a:p>
          <a:p>
            <a:pPr marL="742950" lvl="1" indent="-285750"/>
            <a:r>
              <a:rPr lang="tr-TR" dirty="0"/>
              <a:t>Repeat recursively for each branch</a:t>
            </a:r>
          </a:p>
          <a:p>
            <a:pPr marL="742950" lvl="1" indent="-285750"/>
            <a:endParaRPr lang="tr-TR" altLang="zh-TW" dirty="0">
              <a:ea typeface="PMingLiU" pitchFamily="18" charset="-120"/>
            </a:endParaRPr>
          </a:p>
          <a:p>
            <a:pPr marL="742950" lvl="1" indent="-285750"/>
            <a:r>
              <a:rPr lang="tr-TR" altLang="zh-TW" dirty="0">
                <a:ea typeface="PMingLiU" pitchFamily="18" charset="-120"/>
              </a:rPr>
              <a:t>S</a:t>
            </a:r>
            <a:r>
              <a:rPr lang="en-US" altLang="zh-TW" dirty="0">
                <a:ea typeface="PMingLiU" pitchFamily="18" charset="-120"/>
              </a:rPr>
              <a:t>top when data can’t be split any further</a:t>
            </a:r>
          </a:p>
          <a:p>
            <a:pPr marL="742950" lvl="1" indent="-285750"/>
            <a:endParaRPr lang="tr-TR" dirty="0"/>
          </a:p>
          <a:p>
            <a:pPr marL="342900" indent="-342900">
              <a:buNone/>
            </a:pPr>
            <a:endParaRPr lang="en-US" altLang="zh-TW" dirty="0">
              <a:ea typeface="PMingLiU" pitchFamily="18" charset="-12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8001000" y="6356350"/>
            <a:ext cx="688848" cy="365760"/>
          </a:xfrm>
        </p:spPr>
        <p:txBody>
          <a:bodyPr/>
          <a:lstStyle/>
          <a:p>
            <a:fld id="{6495DF1F-2F5E-4605-9C5D-685A2D79705A}" type="slidenum">
              <a:rPr lang="en-US"/>
              <a:pPr/>
              <a:t>11</a:t>
            </a:fld>
            <a:endParaRPr lang="en-US" dirty="0"/>
          </a:p>
        </p:txBody>
      </p:sp>
      <p:sp>
        <p:nvSpPr>
          <p:cNvPr id="15769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sz="3600" dirty="0"/>
              <a:t>Decision Tree Advantages &amp; Disadvantages</a:t>
            </a:r>
          </a:p>
        </p:txBody>
      </p:sp>
      <p:sp>
        <p:nvSpPr>
          <p:cNvPr id="1576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8305800" cy="50292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tr-TR" sz="2400" u="sng" dirty="0"/>
              <a:t>Advantages:</a:t>
            </a:r>
          </a:p>
          <a:p>
            <a:pPr>
              <a:lnSpc>
                <a:spcPct val="90000"/>
              </a:lnSpc>
            </a:pPr>
            <a:r>
              <a:rPr lang="tr-TR" sz="2400" dirty="0"/>
              <a:t>Easy to use and efficient</a:t>
            </a:r>
          </a:p>
          <a:p>
            <a:pPr>
              <a:lnSpc>
                <a:spcPct val="90000"/>
              </a:lnSpc>
            </a:pPr>
            <a:r>
              <a:rPr lang="tr-TR" sz="2400" dirty="0"/>
              <a:t>Rules are easily generated and interpreted</a:t>
            </a:r>
          </a:p>
          <a:p>
            <a:pPr>
              <a:lnSpc>
                <a:spcPct val="90000"/>
              </a:lnSpc>
            </a:pPr>
            <a:r>
              <a:rPr lang="tr-TR" sz="2400" dirty="0"/>
              <a:t>Tree size is independent from data (good for large scale databases)</a:t>
            </a:r>
          </a:p>
          <a:p>
            <a:pPr>
              <a:lnSpc>
                <a:spcPct val="90000"/>
              </a:lnSpc>
            </a:pPr>
            <a:r>
              <a:rPr lang="tr-TR" sz="2400" dirty="0"/>
              <a:t>Easy to İntegrate with databases.</a:t>
            </a:r>
          </a:p>
          <a:p>
            <a:pPr>
              <a:lnSpc>
                <a:spcPct val="90000"/>
              </a:lnSpc>
              <a:buNone/>
            </a:pPr>
            <a:endParaRPr lang="tr-TR" sz="2400" dirty="0"/>
          </a:p>
          <a:p>
            <a:pPr>
              <a:lnSpc>
                <a:spcPct val="90000"/>
              </a:lnSpc>
            </a:pPr>
            <a:r>
              <a:rPr lang="tr-TR" sz="2400" u="sng" dirty="0"/>
              <a:t>Disadvantages:</a:t>
            </a:r>
          </a:p>
          <a:p>
            <a:pPr>
              <a:lnSpc>
                <a:spcPct val="90000"/>
              </a:lnSpc>
            </a:pPr>
            <a:r>
              <a:rPr lang="tr-TR" sz="2400" dirty="0"/>
              <a:t>Not easy to handle continous data</a:t>
            </a:r>
          </a:p>
          <a:p>
            <a:pPr>
              <a:lnSpc>
                <a:spcPct val="90000"/>
              </a:lnSpc>
            </a:pPr>
            <a:r>
              <a:rPr lang="tr-TR" sz="2400" dirty="0"/>
              <a:t>Domains must be divided in to categories, not all domains appropriate for this</a:t>
            </a:r>
          </a:p>
          <a:p>
            <a:pPr>
              <a:lnSpc>
                <a:spcPct val="90000"/>
              </a:lnSpc>
            </a:pPr>
            <a:r>
              <a:rPr lang="tr-TR" sz="2400" dirty="0"/>
              <a:t>Handling missing data is difficult </a:t>
            </a:r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ADE855-FDB3-4001-9855-BD69E0FCE328}" type="slidenum">
              <a:rPr lang="en-US"/>
              <a:pPr/>
              <a:t>12</a:t>
            </a:fld>
            <a:endParaRPr lang="en-US"/>
          </a:p>
        </p:txBody>
      </p:sp>
      <p:sp>
        <p:nvSpPr>
          <p:cNvPr id="1228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ea typeface="PMingLiU" pitchFamily="18" charset="-120"/>
              </a:rPr>
              <a:t>Weather Data: Play or not Play?</a:t>
            </a:r>
            <a:endParaRPr lang="en-US">
              <a:ea typeface="PMingLiU" pitchFamily="18" charset="-120"/>
            </a:endParaRPr>
          </a:p>
        </p:txBody>
      </p:sp>
      <p:graphicFrame>
        <p:nvGraphicFramePr>
          <p:cNvPr id="122883" name="Group 3"/>
          <p:cNvGraphicFramePr>
            <a:graphicFrameLocks noGrp="1"/>
          </p:cNvGraphicFramePr>
          <p:nvPr/>
        </p:nvGraphicFramePr>
        <p:xfrm>
          <a:off x="990600" y="1447800"/>
          <a:ext cx="7086600" cy="4953003"/>
        </p:xfrm>
        <a:graphic>
          <a:graphicData uri="http://schemas.openxmlformats.org/drawingml/2006/table">
            <a:tbl>
              <a:tblPr/>
              <a:tblGrid>
                <a:gridCol w="13353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430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228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80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2721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986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Batang" pitchFamily="18" charset="-127"/>
                          <a:cs typeface="Times New Roman" pitchFamily="18" charset="0"/>
                        </a:rPr>
                        <a:t>Outlook</a:t>
                      </a:r>
                      <a:endParaRPr kumimoji="0" lang="en-US" altLang="ko-KR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Batang" pitchFamily="18" charset="-127"/>
                        <a:cs typeface="Times New Roman" pitchFamily="18" charset="0"/>
                      </a:endParaRPr>
                    </a:p>
                  </a:txBody>
                  <a:tcPr anchor="b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Batang" pitchFamily="18" charset="-127"/>
                          <a:cs typeface="Times New Roman" pitchFamily="18" charset="0"/>
                        </a:rPr>
                        <a:t>Temperature</a:t>
                      </a:r>
                      <a:endParaRPr kumimoji="0" lang="en-US" altLang="ko-KR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Batang" pitchFamily="18" charset="-127"/>
                        <a:cs typeface="Times New Roman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Batang" pitchFamily="18" charset="-127"/>
                          <a:cs typeface="Times New Roman" pitchFamily="18" charset="0"/>
                        </a:rPr>
                        <a:t>Humidity</a:t>
                      </a:r>
                      <a:endParaRPr kumimoji="0" lang="en-US" altLang="ko-KR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Batang" pitchFamily="18" charset="-127"/>
                        <a:cs typeface="Times New Roman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Batang" pitchFamily="18" charset="-127"/>
                          <a:cs typeface="Times New Roman" pitchFamily="18" charset="0"/>
                        </a:rPr>
                        <a:t>Windy</a:t>
                      </a:r>
                      <a:endParaRPr kumimoji="0" lang="en-US" altLang="ko-KR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Batang" pitchFamily="18" charset="-127"/>
                        <a:cs typeface="Times New Roman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Batang" pitchFamily="18" charset="-127"/>
                          <a:cs typeface="Times New Roman" pitchFamily="18" charset="0"/>
                        </a:rPr>
                        <a:t>Play?</a:t>
                      </a:r>
                      <a:endParaRPr kumimoji="0" lang="en-US" altLang="ko-KR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Batang" pitchFamily="18" charset="-127"/>
                        <a:cs typeface="Times New Roman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86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Batang" pitchFamily="18" charset="-127"/>
                          <a:cs typeface="Times New Roman" pitchFamily="18" charset="0"/>
                        </a:rPr>
                        <a:t>sunny</a:t>
                      </a:r>
                      <a:endParaRPr kumimoji="0" lang="en-US" altLang="ko-KR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Batang" pitchFamily="18" charset="-127"/>
                        <a:cs typeface="Times New Roman" pitchFamily="18" charset="0"/>
                      </a:endParaRPr>
                    </a:p>
                  </a:txBody>
                  <a:tcPr anchor="b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Batang" pitchFamily="18" charset="-127"/>
                          <a:cs typeface="Times New Roman" pitchFamily="18" charset="0"/>
                        </a:rPr>
                        <a:t>hot</a:t>
                      </a:r>
                      <a:endParaRPr kumimoji="0" lang="en-US" altLang="ko-KR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Batang" pitchFamily="18" charset="-127"/>
                        <a:cs typeface="Times New Roman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Batang" pitchFamily="18" charset="-127"/>
                          <a:cs typeface="Times New Roman" pitchFamily="18" charset="0"/>
                        </a:rPr>
                        <a:t>high</a:t>
                      </a:r>
                      <a:endParaRPr kumimoji="0" lang="en-US" altLang="ko-KR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Batang" pitchFamily="18" charset="-127"/>
                        <a:cs typeface="Times New Roman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Batang" pitchFamily="18" charset="-127"/>
                          <a:cs typeface="Times New Roman" pitchFamily="18" charset="0"/>
                        </a:rPr>
                        <a:t>false</a:t>
                      </a:r>
                      <a:endParaRPr kumimoji="0" lang="en-US" altLang="ko-KR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Batang" pitchFamily="18" charset="-127"/>
                        <a:cs typeface="Times New Roman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Batang" pitchFamily="18" charset="-127"/>
                          <a:cs typeface="Times New Roman" pitchFamily="18" charset="0"/>
                        </a:rPr>
                        <a:t>No</a:t>
                      </a:r>
                      <a:endParaRPr kumimoji="0" lang="en-US" altLang="ko-KR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Batang" pitchFamily="18" charset="-127"/>
                        <a:cs typeface="Times New Roman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155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Batang" pitchFamily="18" charset="-127"/>
                          <a:cs typeface="Times New Roman" pitchFamily="18" charset="0"/>
                        </a:rPr>
                        <a:t>sunny</a:t>
                      </a:r>
                      <a:endParaRPr kumimoji="0" lang="en-US" altLang="ko-KR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Batang" pitchFamily="18" charset="-127"/>
                        <a:cs typeface="Times New Roman" pitchFamily="18" charset="0"/>
                      </a:endParaRPr>
                    </a:p>
                  </a:txBody>
                  <a:tcPr anchor="b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Batang" pitchFamily="18" charset="-127"/>
                          <a:cs typeface="Times New Roman" pitchFamily="18" charset="0"/>
                        </a:rPr>
                        <a:t>hot</a:t>
                      </a:r>
                      <a:endParaRPr kumimoji="0" lang="en-US" altLang="ko-KR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Batang" pitchFamily="18" charset="-127"/>
                        <a:cs typeface="Times New Roman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Batang" pitchFamily="18" charset="-127"/>
                          <a:cs typeface="Times New Roman" pitchFamily="18" charset="0"/>
                        </a:rPr>
                        <a:t>high</a:t>
                      </a:r>
                      <a:endParaRPr kumimoji="0" lang="en-US" altLang="ko-KR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Batang" pitchFamily="18" charset="-127"/>
                        <a:cs typeface="Times New Roman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Batang" pitchFamily="18" charset="-127"/>
                          <a:cs typeface="Times New Roman" pitchFamily="18" charset="0"/>
                        </a:rPr>
                        <a:t>true</a:t>
                      </a:r>
                      <a:endParaRPr kumimoji="0" lang="en-US" altLang="ko-KR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Batang" pitchFamily="18" charset="-127"/>
                        <a:cs typeface="Times New Roman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Batang" pitchFamily="18" charset="-127"/>
                          <a:cs typeface="Times New Roman" pitchFamily="18" charset="0"/>
                        </a:rPr>
                        <a:t>No</a:t>
                      </a:r>
                      <a:endParaRPr kumimoji="0" lang="en-US" altLang="ko-KR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Batang" pitchFamily="18" charset="-127"/>
                        <a:cs typeface="Times New Roman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86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Batang" pitchFamily="18" charset="-127"/>
                          <a:cs typeface="Times New Roman" pitchFamily="18" charset="0"/>
                        </a:rPr>
                        <a:t>overcast</a:t>
                      </a:r>
                      <a:endParaRPr kumimoji="0" lang="en-US" altLang="ko-KR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Batang" pitchFamily="18" charset="-127"/>
                        <a:cs typeface="Times New Roman" pitchFamily="18" charset="0"/>
                      </a:endParaRPr>
                    </a:p>
                  </a:txBody>
                  <a:tcPr anchor="b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Batang" pitchFamily="18" charset="-127"/>
                          <a:cs typeface="Times New Roman" pitchFamily="18" charset="0"/>
                        </a:rPr>
                        <a:t>hot</a:t>
                      </a:r>
                      <a:endParaRPr kumimoji="0" lang="en-US" altLang="ko-KR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Batang" pitchFamily="18" charset="-127"/>
                        <a:cs typeface="Times New Roman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Batang" pitchFamily="18" charset="-127"/>
                          <a:cs typeface="Times New Roman" pitchFamily="18" charset="0"/>
                        </a:rPr>
                        <a:t>high</a:t>
                      </a:r>
                      <a:endParaRPr kumimoji="0" lang="en-US" altLang="ko-KR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Batang" pitchFamily="18" charset="-127"/>
                        <a:cs typeface="Times New Roman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Batang" pitchFamily="18" charset="-127"/>
                          <a:cs typeface="Times New Roman" pitchFamily="18" charset="0"/>
                        </a:rPr>
                        <a:t>false</a:t>
                      </a:r>
                      <a:endParaRPr kumimoji="0" lang="en-US" altLang="ko-KR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Batang" pitchFamily="18" charset="-127"/>
                        <a:cs typeface="Times New Roman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Batang" pitchFamily="18" charset="-127"/>
                          <a:cs typeface="Times New Roman" pitchFamily="18" charset="0"/>
                        </a:rPr>
                        <a:t>Yes</a:t>
                      </a:r>
                      <a:endParaRPr kumimoji="0" lang="en-US" altLang="ko-KR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Batang" pitchFamily="18" charset="-127"/>
                        <a:cs typeface="Times New Roman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86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Batang" pitchFamily="18" charset="-127"/>
                          <a:cs typeface="Times New Roman" pitchFamily="18" charset="0"/>
                        </a:rPr>
                        <a:t>rain</a:t>
                      </a:r>
                      <a:endParaRPr kumimoji="0" lang="en-US" altLang="ko-KR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Batang" pitchFamily="18" charset="-127"/>
                        <a:cs typeface="Times New Roman" pitchFamily="18" charset="0"/>
                      </a:endParaRPr>
                    </a:p>
                  </a:txBody>
                  <a:tcPr anchor="b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Batang" pitchFamily="18" charset="-127"/>
                          <a:cs typeface="Times New Roman" pitchFamily="18" charset="0"/>
                        </a:rPr>
                        <a:t>mild</a:t>
                      </a:r>
                      <a:endParaRPr kumimoji="0" lang="en-US" altLang="ko-KR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Batang" pitchFamily="18" charset="-127"/>
                        <a:cs typeface="Times New Roman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Batang" pitchFamily="18" charset="-127"/>
                          <a:cs typeface="Times New Roman" pitchFamily="18" charset="0"/>
                        </a:rPr>
                        <a:t>high</a:t>
                      </a:r>
                      <a:endParaRPr kumimoji="0" lang="en-US" altLang="ko-KR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Batang" pitchFamily="18" charset="-127"/>
                        <a:cs typeface="Times New Roman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Batang" pitchFamily="18" charset="-127"/>
                          <a:cs typeface="Times New Roman" pitchFamily="18" charset="0"/>
                        </a:rPr>
                        <a:t>false</a:t>
                      </a:r>
                      <a:endParaRPr kumimoji="0" lang="en-US" altLang="ko-KR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Batang" pitchFamily="18" charset="-127"/>
                        <a:cs typeface="Times New Roman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Batang" pitchFamily="18" charset="-127"/>
                          <a:cs typeface="Times New Roman" pitchFamily="18" charset="0"/>
                        </a:rPr>
                        <a:t>Yes</a:t>
                      </a:r>
                      <a:endParaRPr kumimoji="0" lang="en-US" altLang="ko-KR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Batang" pitchFamily="18" charset="-127"/>
                        <a:cs typeface="Times New Roman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86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Batang" pitchFamily="18" charset="-127"/>
                          <a:cs typeface="Times New Roman" pitchFamily="18" charset="0"/>
                        </a:rPr>
                        <a:t>rain</a:t>
                      </a:r>
                      <a:endParaRPr kumimoji="0" lang="en-US" altLang="ko-KR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Batang" pitchFamily="18" charset="-127"/>
                        <a:cs typeface="Times New Roman" pitchFamily="18" charset="0"/>
                      </a:endParaRPr>
                    </a:p>
                  </a:txBody>
                  <a:tcPr anchor="b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Batang" pitchFamily="18" charset="-127"/>
                          <a:cs typeface="Times New Roman" pitchFamily="18" charset="0"/>
                        </a:rPr>
                        <a:t>cool</a:t>
                      </a:r>
                      <a:endParaRPr kumimoji="0" lang="en-US" altLang="ko-KR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Batang" pitchFamily="18" charset="-127"/>
                        <a:cs typeface="Times New Roman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Batang" pitchFamily="18" charset="-127"/>
                          <a:cs typeface="Times New Roman" pitchFamily="18" charset="0"/>
                        </a:rPr>
                        <a:t>normal</a:t>
                      </a:r>
                      <a:endParaRPr kumimoji="0" lang="en-US" altLang="ko-KR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Batang" pitchFamily="18" charset="-127"/>
                        <a:cs typeface="Times New Roman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Batang" pitchFamily="18" charset="-127"/>
                          <a:cs typeface="Times New Roman" pitchFamily="18" charset="0"/>
                        </a:rPr>
                        <a:t>false</a:t>
                      </a:r>
                      <a:endParaRPr kumimoji="0" lang="en-US" altLang="ko-KR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Batang" pitchFamily="18" charset="-127"/>
                        <a:cs typeface="Times New Roman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Batang" pitchFamily="18" charset="-127"/>
                          <a:cs typeface="Times New Roman" pitchFamily="18" charset="0"/>
                        </a:rPr>
                        <a:t>Yes</a:t>
                      </a:r>
                      <a:endParaRPr kumimoji="0" lang="en-US" altLang="ko-KR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Batang" pitchFamily="18" charset="-127"/>
                        <a:cs typeface="Times New Roman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86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Batang" pitchFamily="18" charset="-127"/>
                          <a:cs typeface="Times New Roman" pitchFamily="18" charset="0"/>
                        </a:rPr>
                        <a:t>rain</a:t>
                      </a:r>
                      <a:endParaRPr kumimoji="0" lang="en-US" altLang="ko-KR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Batang" pitchFamily="18" charset="-127"/>
                        <a:cs typeface="Times New Roman" pitchFamily="18" charset="0"/>
                      </a:endParaRPr>
                    </a:p>
                  </a:txBody>
                  <a:tcPr anchor="b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Batang" pitchFamily="18" charset="-127"/>
                          <a:cs typeface="Times New Roman" pitchFamily="18" charset="0"/>
                        </a:rPr>
                        <a:t>cool</a:t>
                      </a:r>
                      <a:endParaRPr kumimoji="0" lang="en-US" altLang="ko-KR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Batang" pitchFamily="18" charset="-127"/>
                        <a:cs typeface="Times New Roman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Batang" pitchFamily="18" charset="-127"/>
                          <a:cs typeface="Times New Roman" pitchFamily="18" charset="0"/>
                        </a:rPr>
                        <a:t>normal</a:t>
                      </a:r>
                      <a:endParaRPr kumimoji="0" lang="en-US" altLang="ko-KR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Batang" pitchFamily="18" charset="-127"/>
                        <a:cs typeface="Times New Roman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Batang" pitchFamily="18" charset="-127"/>
                          <a:cs typeface="Times New Roman" pitchFamily="18" charset="0"/>
                        </a:rPr>
                        <a:t>true</a:t>
                      </a:r>
                      <a:endParaRPr kumimoji="0" lang="en-US" altLang="ko-KR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Batang" pitchFamily="18" charset="-127"/>
                        <a:cs typeface="Times New Roman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Batang" pitchFamily="18" charset="-127"/>
                          <a:cs typeface="Times New Roman" pitchFamily="18" charset="0"/>
                        </a:rPr>
                        <a:t>No</a:t>
                      </a:r>
                      <a:endParaRPr kumimoji="0" lang="en-US" altLang="ko-KR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Batang" pitchFamily="18" charset="-127"/>
                        <a:cs typeface="Times New Roman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155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Batang" pitchFamily="18" charset="-127"/>
                          <a:cs typeface="Times New Roman" pitchFamily="18" charset="0"/>
                        </a:rPr>
                        <a:t>overcast</a:t>
                      </a:r>
                      <a:endParaRPr kumimoji="0" lang="en-US" altLang="ko-KR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Batang" pitchFamily="18" charset="-127"/>
                        <a:cs typeface="Times New Roman" pitchFamily="18" charset="0"/>
                      </a:endParaRPr>
                    </a:p>
                  </a:txBody>
                  <a:tcPr anchor="b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Batang" pitchFamily="18" charset="-127"/>
                          <a:cs typeface="Times New Roman" pitchFamily="18" charset="0"/>
                        </a:rPr>
                        <a:t>cool</a:t>
                      </a:r>
                      <a:endParaRPr kumimoji="0" lang="en-US" altLang="ko-KR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Batang" pitchFamily="18" charset="-127"/>
                        <a:cs typeface="Times New Roman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Batang" pitchFamily="18" charset="-127"/>
                          <a:cs typeface="Times New Roman" pitchFamily="18" charset="0"/>
                        </a:rPr>
                        <a:t>normal</a:t>
                      </a:r>
                      <a:endParaRPr kumimoji="0" lang="en-US" altLang="ko-KR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Batang" pitchFamily="18" charset="-127"/>
                        <a:cs typeface="Times New Roman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Batang" pitchFamily="18" charset="-127"/>
                          <a:cs typeface="Times New Roman" pitchFamily="18" charset="0"/>
                        </a:rPr>
                        <a:t>true</a:t>
                      </a:r>
                      <a:endParaRPr kumimoji="0" lang="en-US" altLang="ko-KR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Batang" pitchFamily="18" charset="-127"/>
                        <a:cs typeface="Times New Roman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Batang" pitchFamily="18" charset="-127"/>
                          <a:cs typeface="Times New Roman" pitchFamily="18" charset="0"/>
                        </a:rPr>
                        <a:t>Yes</a:t>
                      </a:r>
                      <a:endParaRPr kumimoji="0" lang="en-US" altLang="ko-KR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Batang" pitchFamily="18" charset="-127"/>
                        <a:cs typeface="Times New Roman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986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Batang" pitchFamily="18" charset="-127"/>
                          <a:cs typeface="Times New Roman" pitchFamily="18" charset="0"/>
                        </a:rPr>
                        <a:t>sunny</a:t>
                      </a:r>
                      <a:endParaRPr kumimoji="0" lang="en-US" altLang="ko-KR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Batang" pitchFamily="18" charset="-127"/>
                        <a:cs typeface="Times New Roman" pitchFamily="18" charset="0"/>
                      </a:endParaRPr>
                    </a:p>
                  </a:txBody>
                  <a:tcPr anchor="b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Batang" pitchFamily="18" charset="-127"/>
                          <a:cs typeface="Times New Roman" pitchFamily="18" charset="0"/>
                        </a:rPr>
                        <a:t>mild</a:t>
                      </a:r>
                      <a:endParaRPr kumimoji="0" lang="en-US" altLang="ko-KR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Batang" pitchFamily="18" charset="-127"/>
                        <a:cs typeface="Times New Roman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Batang" pitchFamily="18" charset="-127"/>
                          <a:cs typeface="Times New Roman" pitchFamily="18" charset="0"/>
                        </a:rPr>
                        <a:t>high</a:t>
                      </a:r>
                      <a:endParaRPr kumimoji="0" lang="en-US" altLang="ko-KR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Batang" pitchFamily="18" charset="-127"/>
                        <a:cs typeface="Times New Roman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Batang" pitchFamily="18" charset="-127"/>
                          <a:cs typeface="Times New Roman" pitchFamily="18" charset="0"/>
                        </a:rPr>
                        <a:t>false</a:t>
                      </a:r>
                      <a:endParaRPr kumimoji="0" lang="en-US" altLang="ko-KR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Batang" pitchFamily="18" charset="-127"/>
                        <a:cs typeface="Times New Roman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Batang" pitchFamily="18" charset="-127"/>
                          <a:cs typeface="Times New Roman" pitchFamily="18" charset="0"/>
                        </a:rPr>
                        <a:t>No</a:t>
                      </a:r>
                      <a:endParaRPr kumimoji="0" lang="en-US" altLang="ko-KR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Batang" pitchFamily="18" charset="-127"/>
                        <a:cs typeface="Times New Roman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986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Batang" pitchFamily="18" charset="-127"/>
                          <a:cs typeface="Times New Roman" pitchFamily="18" charset="0"/>
                        </a:rPr>
                        <a:t>sunny</a:t>
                      </a:r>
                      <a:endParaRPr kumimoji="0" lang="en-US" altLang="ko-KR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Batang" pitchFamily="18" charset="-127"/>
                        <a:cs typeface="Times New Roman" pitchFamily="18" charset="0"/>
                      </a:endParaRPr>
                    </a:p>
                  </a:txBody>
                  <a:tcPr anchor="b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Batang" pitchFamily="18" charset="-127"/>
                          <a:cs typeface="Times New Roman" pitchFamily="18" charset="0"/>
                        </a:rPr>
                        <a:t>cool</a:t>
                      </a:r>
                      <a:endParaRPr kumimoji="0" lang="en-US" altLang="ko-KR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Batang" pitchFamily="18" charset="-127"/>
                        <a:cs typeface="Times New Roman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Batang" pitchFamily="18" charset="-127"/>
                          <a:cs typeface="Times New Roman" pitchFamily="18" charset="0"/>
                        </a:rPr>
                        <a:t>normal</a:t>
                      </a:r>
                      <a:endParaRPr kumimoji="0" lang="en-US" altLang="ko-KR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Batang" pitchFamily="18" charset="-127"/>
                        <a:cs typeface="Times New Roman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Batang" pitchFamily="18" charset="-127"/>
                          <a:cs typeface="Times New Roman" pitchFamily="18" charset="0"/>
                        </a:rPr>
                        <a:t>false</a:t>
                      </a:r>
                      <a:endParaRPr kumimoji="0" lang="en-US" altLang="ko-KR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Batang" pitchFamily="18" charset="-127"/>
                        <a:cs typeface="Times New Roman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Batang" pitchFamily="18" charset="-127"/>
                          <a:cs typeface="Times New Roman" pitchFamily="18" charset="0"/>
                        </a:rPr>
                        <a:t>Yes</a:t>
                      </a:r>
                      <a:endParaRPr kumimoji="0" lang="en-US" altLang="ko-KR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Batang" pitchFamily="18" charset="-127"/>
                        <a:cs typeface="Times New Roman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986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Batang" pitchFamily="18" charset="-127"/>
                          <a:cs typeface="Times New Roman" pitchFamily="18" charset="0"/>
                        </a:rPr>
                        <a:t>rain</a:t>
                      </a:r>
                      <a:endParaRPr kumimoji="0" lang="en-US" altLang="ko-KR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Batang" pitchFamily="18" charset="-127"/>
                        <a:cs typeface="Times New Roman" pitchFamily="18" charset="0"/>
                      </a:endParaRPr>
                    </a:p>
                  </a:txBody>
                  <a:tcPr anchor="b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Batang" pitchFamily="18" charset="-127"/>
                          <a:cs typeface="Times New Roman" pitchFamily="18" charset="0"/>
                        </a:rPr>
                        <a:t>mild</a:t>
                      </a:r>
                      <a:endParaRPr kumimoji="0" lang="en-US" altLang="ko-KR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Batang" pitchFamily="18" charset="-127"/>
                        <a:cs typeface="Times New Roman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Batang" pitchFamily="18" charset="-127"/>
                          <a:cs typeface="Times New Roman" pitchFamily="18" charset="0"/>
                        </a:rPr>
                        <a:t>normal</a:t>
                      </a:r>
                      <a:endParaRPr kumimoji="0" lang="en-US" altLang="ko-KR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Batang" pitchFamily="18" charset="-127"/>
                        <a:cs typeface="Times New Roman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Batang" pitchFamily="18" charset="-127"/>
                          <a:cs typeface="Times New Roman" pitchFamily="18" charset="0"/>
                        </a:rPr>
                        <a:t>false</a:t>
                      </a:r>
                      <a:endParaRPr kumimoji="0" lang="en-US" altLang="ko-KR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Batang" pitchFamily="18" charset="-127"/>
                        <a:cs typeface="Times New Roman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Batang" pitchFamily="18" charset="-127"/>
                          <a:cs typeface="Times New Roman" pitchFamily="18" charset="0"/>
                        </a:rPr>
                        <a:t>Yes</a:t>
                      </a:r>
                      <a:endParaRPr kumimoji="0" lang="en-US" altLang="ko-KR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Batang" pitchFamily="18" charset="-127"/>
                        <a:cs typeface="Times New Roman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986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Batang" pitchFamily="18" charset="-127"/>
                          <a:cs typeface="Times New Roman" pitchFamily="18" charset="0"/>
                        </a:rPr>
                        <a:t>sunny</a:t>
                      </a:r>
                      <a:endParaRPr kumimoji="0" lang="en-US" altLang="ko-KR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Batang" pitchFamily="18" charset="-127"/>
                        <a:cs typeface="Times New Roman" pitchFamily="18" charset="0"/>
                      </a:endParaRPr>
                    </a:p>
                  </a:txBody>
                  <a:tcPr anchor="b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Batang" pitchFamily="18" charset="-127"/>
                          <a:cs typeface="Times New Roman" pitchFamily="18" charset="0"/>
                        </a:rPr>
                        <a:t>mild</a:t>
                      </a:r>
                      <a:endParaRPr kumimoji="0" lang="en-US" altLang="ko-KR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Batang" pitchFamily="18" charset="-127"/>
                        <a:cs typeface="Times New Roman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Batang" pitchFamily="18" charset="-127"/>
                          <a:cs typeface="Times New Roman" pitchFamily="18" charset="0"/>
                        </a:rPr>
                        <a:t>normal</a:t>
                      </a:r>
                      <a:endParaRPr kumimoji="0" lang="en-US" altLang="ko-KR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Batang" pitchFamily="18" charset="-127"/>
                        <a:cs typeface="Times New Roman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Batang" pitchFamily="18" charset="-127"/>
                          <a:cs typeface="Times New Roman" pitchFamily="18" charset="0"/>
                        </a:rPr>
                        <a:t>true</a:t>
                      </a:r>
                      <a:endParaRPr kumimoji="0" lang="en-US" altLang="ko-KR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Batang" pitchFamily="18" charset="-127"/>
                        <a:cs typeface="Times New Roman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Batang" pitchFamily="18" charset="-127"/>
                          <a:cs typeface="Times New Roman" pitchFamily="18" charset="0"/>
                        </a:rPr>
                        <a:t>Yes</a:t>
                      </a:r>
                      <a:endParaRPr kumimoji="0" lang="en-US" altLang="ko-KR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Batang" pitchFamily="18" charset="-127"/>
                        <a:cs typeface="Times New Roman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155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Batang" pitchFamily="18" charset="-127"/>
                          <a:cs typeface="Times New Roman" pitchFamily="18" charset="0"/>
                        </a:rPr>
                        <a:t>overcast</a:t>
                      </a:r>
                      <a:endParaRPr kumimoji="0" lang="en-US" altLang="ko-KR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Batang" pitchFamily="18" charset="-127"/>
                        <a:cs typeface="Times New Roman" pitchFamily="18" charset="0"/>
                      </a:endParaRPr>
                    </a:p>
                  </a:txBody>
                  <a:tcPr anchor="b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Batang" pitchFamily="18" charset="-127"/>
                          <a:cs typeface="Times New Roman" pitchFamily="18" charset="0"/>
                        </a:rPr>
                        <a:t>mild</a:t>
                      </a:r>
                      <a:endParaRPr kumimoji="0" lang="en-US" altLang="ko-KR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Batang" pitchFamily="18" charset="-127"/>
                        <a:cs typeface="Times New Roman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Batang" pitchFamily="18" charset="-127"/>
                          <a:cs typeface="Times New Roman" pitchFamily="18" charset="0"/>
                        </a:rPr>
                        <a:t>high</a:t>
                      </a:r>
                      <a:endParaRPr kumimoji="0" lang="en-US" altLang="ko-KR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Batang" pitchFamily="18" charset="-127"/>
                        <a:cs typeface="Times New Roman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Batang" pitchFamily="18" charset="-127"/>
                          <a:cs typeface="Times New Roman" pitchFamily="18" charset="0"/>
                        </a:rPr>
                        <a:t>true</a:t>
                      </a:r>
                      <a:endParaRPr kumimoji="0" lang="en-US" altLang="ko-KR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Batang" pitchFamily="18" charset="-127"/>
                        <a:cs typeface="Times New Roman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Batang" pitchFamily="18" charset="-127"/>
                          <a:cs typeface="Times New Roman" pitchFamily="18" charset="0"/>
                        </a:rPr>
                        <a:t>Yes</a:t>
                      </a:r>
                      <a:endParaRPr kumimoji="0" lang="en-US" altLang="ko-KR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Batang" pitchFamily="18" charset="-127"/>
                        <a:cs typeface="Times New Roman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2986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Batang" pitchFamily="18" charset="-127"/>
                          <a:cs typeface="Times New Roman" pitchFamily="18" charset="0"/>
                        </a:rPr>
                        <a:t>overcast</a:t>
                      </a:r>
                      <a:endParaRPr kumimoji="0" lang="en-US" altLang="ko-KR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Batang" pitchFamily="18" charset="-127"/>
                        <a:cs typeface="Times New Roman" pitchFamily="18" charset="0"/>
                      </a:endParaRPr>
                    </a:p>
                  </a:txBody>
                  <a:tcPr anchor="b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Batang" pitchFamily="18" charset="-127"/>
                          <a:cs typeface="Times New Roman" pitchFamily="18" charset="0"/>
                        </a:rPr>
                        <a:t>hot</a:t>
                      </a:r>
                      <a:endParaRPr kumimoji="0" lang="en-US" altLang="ko-KR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Batang" pitchFamily="18" charset="-127"/>
                        <a:cs typeface="Times New Roman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Batang" pitchFamily="18" charset="-127"/>
                          <a:cs typeface="Times New Roman" pitchFamily="18" charset="0"/>
                        </a:rPr>
                        <a:t>normal</a:t>
                      </a:r>
                      <a:endParaRPr kumimoji="0" lang="en-US" altLang="ko-KR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Batang" pitchFamily="18" charset="-127"/>
                        <a:cs typeface="Times New Roman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Batang" pitchFamily="18" charset="-127"/>
                          <a:cs typeface="Times New Roman" pitchFamily="18" charset="0"/>
                        </a:rPr>
                        <a:t>false</a:t>
                      </a:r>
                      <a:endParaRPr kumimoji="0" lang="en-US" altLang="ko-KR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Batang" pitchFamily="18" charset="-127"/>
                        <a:cs typeface="Times New Roman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Batang" pitchFamily="18" charset="-127"/>
                          <a:cs typeface="Times New Roman" pitchFamily="18" charset="0"/>
                        </a:rPr>
                        <a:t>Yes</a:t>
                      </a:r>
                      <a:endParaRPr kumimoji="0" lang="en-US" altLang="ko-KR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Batang" pitchFamily="18" charset="-127"/>
                        <a:cs typeface="Times New Roman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2986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Batang" pitchFamily="18" charset="-127"/>
                          <a:cs typeface="Times New Roman" pitchFamily="18" charset="0"/>
                        </a:rPr>
                        <a:t>rain</a:t>
                      </a:r>
                      <a:endParaRPr kumimoji="0" lang="en-US" altLang="ko-KR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Batang" pitchFamily="18" charset="-127"/>
                        <a:cs typeface="Times New Roman" pitchFamily="18" charset="0"/>
                      </a:endParaRPr>
                    </a:p>
                  </a:txBody>
                  <a:tcPr anchor="b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Batang" pitchFamily="18" charset="-127"/>
                          <a:cs typeface="Times New Roman" pitchFamily="18" charset="0"/>
                        </a:rPr>
                        <a:t>mild</a:t>
                      </a:r>
                      <a:endParaRPr kumimoji="0" lang="en-US" altLang="ko-KR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Batang" pitchFamily="18" charset="-127"/>
                        <a:cs typeface="Times New Roman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Batang" pitchFamily="18" charset="-127"/>
                          <a:cs typeface="Times New Roman" pitchFamily="18" charset="0"/>
                        </a:rPr>
                        <a:t>high</a:t>
                      </a:r>
                      <a:endParaRPr kumimoji="0" lang="en-US" altLang="ko-KR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Batang" pitchFamily="18" charset="-127"/>
                        <a:cs typeface="Times New Roman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Batang" pitchFamily="18" charset="-127"/>
                          <a:cs typeface="Times New Roman" pitchFamily="18" charset="0"/>
                        </a:rPr>
                        <a:t>true</a:t>
                      </a:r>
                      <a:endParaRPr kumimoji="0" lang="en-US" altLang="ko-KR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Batang" pitchFamily="18" charset="-127"/>
                        <a:cs typeface="Times New Roman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Batang" pitchFamily="18" charset="-127"/>
                          <a:cs typeface="Times New Roman" pitchFamily="18" charset="0"/>
                        </a:rPr>
                        <a:t>No</a:t>
                      </a:r>
                      <a:endParaRPr kumimoji="0" lang="en-US" altLang="ko-KR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Batang" pitchFamily="18" charset="-127"/>
                        <a:cs typeface="Times New Roman" pitchFamily="18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8C1073-CDEA-461E-982B-9EF2F84FDAF3}" type="slidenum">
              <a:rPr lang="en-US"/>
              <a:pPr/>
              <a:t>13</a:t>
            </a:fld>
            <a:endParaRPr lang="en-US"/>
          </a:p>
        </p:txBody>
      </p:sp>
      <p:sp>
        <p:nvSpPr>
          <p:cNvPr id="125954" name="Rectangle 2"/>
          <p:cNvSpPr>
            <a:spLocks noChangeArrowheads="1"/>
          </p:cNvSpPr>
          <p:nvPr/>
        </p:nvSpPr>
        <p:spPr bwMode="auto">
          <a:xfrm>
            <a:off x="3302000" y="2876550"/>
            <a:ext cx="119856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ctr"/>
            <a:r>
              <a:rPr lang="en-US" altLang="zh-TW">
                <a:ea typeface="PMingLiU" pitchFamily="18" charset="-120"/>
              </a:rPr>
              <a:t>overcast</a:t>
            </a:r>
          </a:p>
        </p:txBody>
      </p:sp>
      <p:sp>
        <p:nvSpPr>
          <p:cNvPr id="125955" name="Rectangle 3"/>
          <p:cNvSpPr>
            <a:spLocks noChangeArrowheads="1"/>
          </p:cNvSpPr>
          <p:nvPr/>
        </p:nvSpPr>
        <p:spPr bwMode="auto">
          <a:xfrm>
            <a:off x="1068388" y="4757738"/>
            <a:ext cx="72548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ctr"/>
            <a:r>
              <a:rPr lang="en-US" altLang="zh-TW">
                <a:ea typeface="PMingLiU" pitchFamily="18" charset="-120"/>
              </a:rPr>
              <a:t>high</a:t>
            </a:r>
          </a:p>
        </p:txBody>
      </p:sp>
      <p:sp>
        <p:nvSpPr>
          <p:cNvPr id="125956" name="Rectangle 4"/>
          <p:cNvSpPr>
            <a:spLocks noChangeArrowheads="1"/>
          </p:cNvSpPr>
          <p:nvPr/>
        </p:nvSpPr>
        <p:spPr bwMode="auto">
          <a:xfrm>
            <a:off x="2522538" y="4757738"/>
            <a:ext cx="104616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ctr"/>
            <a:r>
              <a:rPr lang="en-US" altLang="zh-TW">
                <a:ea typeface="PMingLiU" pitchFamily="18" charset="-120"/>
              </a:rPr>
              <a:t>normal</a:t>
            </a:r>
          </a:p>
        </p:txBody>
      </p:sp>
      <p:sp>
        <p:nvSpPr>
          <p:cNvPr id="125957" name="Rectangle 5"/>
          <p:cNvSpPr>
            <a:spLocks noChangeArrowheads="1"/>
          </p:cNvSpPr>
          <p:nvPr/>
        </p:nvSpPr>
        <p:spPr bwMode="auto">
          <a:xfrm>
            <a:off x="6435725" y="4772025"/>
            <a:ext cx="7588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ctr"/>
            <a:r>
              <a:rPr lang="en-US" altLang="zh-TW">
                <a:ea typeface="PMingLiU" pitchFamily="18" charset="-120"/>
              </a:rPr>
              <a:t>false</a:t>
            </a:r>
          </a:p>
        </p:txBody>
      </p:sp>
      <p:sp>
        <p:nvSpPr>
          <p:cNvPr id="125958" name="Rectangle 6"/>
          <p:cNvSpPr>
            <a:spLocks noChangeArrowheads="1"/>
          </p:cNvSpPr>
          <p:nvPr/>
        </p:nvSpPr>
        <p:spPr bwMode="auto">
          <a:xfrm>
            <a:off x="5187950" y="4786313"/>
            <a:ext cx="6572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ctr"/>
            <a:r>
              <a:rPr lang="en-US" altLang="zh-TW">
                <a:ea typeface="PMingLiU" pitchFamily="18" charset="-120"/>
              </a:rPr>
              <a:t>true</a:t>
            </a:r>
          </a:p>
        </p:txBody>
      </p:sp>
      <p:sp>
        <p:nvSpPr>
          <p:cNvPr id="125959" name="Line 7"/>
          <p:cNvSpPr>
            <a:spLocks noChangeShapeType="1"/>
          </p:cNvSpPr>
          <p:nvPr/>
        </p:nvSpPr>
        <p:spPr bwMode="auto">
          <a:xfrm flipH="1">
            <a:off x="2438400" y="2286000"/>
            <a:ext cx="968375" cy="4572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tr-TR"/>
          </a:p>
        </p:txBody>
      </p:sp>
      <p:sp>
        <p:nvSpPr>
          <p:cNvPr id="125960" name="Line 8"/>
          <p:cNvSpPr>
            <a:spLocks noChangeShapeType="1"/>
          </p:cNvSpPr>
          <p:nvPr/>
        </p:nvSpPr>
        <p:spPr bwMode="auto">
          <a:xfrm flipH="1">
            <a:off x="3962400" y="2438400"/>
            <a:ext cx="1588" cy="5461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tr-TR"/>
          </a:p>
        </p:txBody>
      </p:sp>
      <p:sp>
        <p:nvSpPr>
          <p:cNvPr id="125961" name="Line 9"/>
          <p:cNvSpPr>
            <a:spLocks noChangeShapeType="1"/>
          </p:cNvSpPr>
          <p:nvPr/>
        </p:nvSpPr>
        <p:spPr bwMode="auto">
          <a:xfrm>
            <a:off x="4343400" y="2286000"/>
            <a:ext cx="1371600" cy="5334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tr-TR"/>
          </a:p>
        </p:txBody>
      </p:sp>
      <p:sp>
        <p:nvSpPr>
          <p:cNvPr id="125962" name="Rectangle 10"/>
          <p:cNvSpPr>
            <a:spLocks noChangeArrowheads="1"/>
          </p:cNvSpPr>
          <p:nvPr/>
        </p:nvSpPr>
        <p:spPr bwMode="auto">
          <a:xfrm>
            <a:off x="2082800" y="2590800"/>
            <a:ext cx="925513" cy="469900"/>
          </a:xfrm>
          <a:prstGeom prst="rect">
            <a:avLst/>
          </a:prstGeom>
          <a:noFill/>
          <a:ln w="12700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ctr"/>
            <a:r>
              <a:rPr lang="en-US" altLang="zh-TW">
                <a:ea typeface="PMingLiU" pitchFamily="18" charset="-120"/>
              </a:rPr>
              <a:t>sunny</a:t>
            </a:r>
          </a:p>
        </p:txBody>
      </p:sp>
      <p:sp>
        <p:nvSpPr>
          <p:cNvPr id="125963" name="Rectangle 11"/>
          <p:cNvSpPr>
            <a:spLocks noChangeArrowheads="1"/>
          </p:cNvSpPr>
          <p:nvPr/>
        </p:nvSpPr>
        <p:spPr bwMode="auto">
          <a:xfrm>
            <a:off x="5595938" y="2743200"/>
            <a:ext cx="6572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ctr"/>
            <a:r>
              <a:rPr lang="en-US" altLang="zh-TW">
                <a:ea typeface="PMingLiU" pitchFamily="18" charset="-120"/>
              </a:rPr>
              <a:t>rain</a:t>
            </a:r>
          </a:p>
        </p:txBody>
      </p:sp>
      <p:sp>
        <p:nvSpPr>
          <p:cNvPr id="125964" name="Line 12"/>
          <p:cNvSpPr>
            <a:spLocks noChangeShapeType="1"/>
          </p:cNvSpPr>
          <p:nvPr/>
        </p:nvSpPr>
        <p:spPr bwMode="auto">
          <a:xfrm flipH="1">
            <a:off x="1479550" y="4344988"/>
            <a:ext cx="493713" cy="515937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tr-TR"/>
          </a:p>
        </p:txBody>
      </p:sp>
      <p:sp>
        <p:nvSpPr>
          <p:cNvPr id="125965" name="Line 13"/>
          <p:cNvSpPr>
            <a:spLocks noChangeShapeType="1"/>
          </p:cNvSpPr>
          <p:nvPr/>
        </p:nvSpPr>
        <p:spPr bwMode="auto">
          <a:xfrm>
            <a:off x="2608263" y="4391025"/>
            <a:ext cx="420687" cy="423863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tr-TR"/>
          </a:p>
        </p:txBody>
      </p:sp>
      <p:sp>
        <p:nvSpPr>
          <p:cNvPr id="125966" name="Line 14"/>
          <p:cNvSpPr>
            <a:spLocks noChangeShapeType="1"/>
          </p:cNvSpPr>
          <p:nvPr/>
        </p:nvSpPr>
        <p:spPr bwMode="auto">
          <a:xfrm flipH="1">
            <a:off x="5410200" y="4495800"/>
            <a:ext cx="304800" cy="379413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tr-TR"/>
          </a:p>
        </p:txBody>
      </p:sp>
      <p:sp>
        <p:nvSpPr>
          <p:cNvPr id="125967" name="Line 15"/>
          <p:cNvSpPr>
            <a:spLocks noChangeShapeType="1"/>
          </p:cNvSpPr>
          <p:nvPr/>
        </p:nvSpPr>
        <p:spPr bwMode="auto">
          <a:xfrm>
            <a:off x="6553200" y="4495800"/>
            <a:ext cx="209550" cy="3048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tr-TR"/>
          </a:p>
        </p:txBody>
      </p:sp>
      <p:sp>
        <p:nvSpPr>
          <p:cNvPr id="125968" name="Line 16"/>
          <p:cNvSpPr>
            <a:spLocks noChangeShapeType="1"/>
          </p:cNvSpPr>
          <p:nvPr/>
        </p:nvSpPr>
        <p:spPr bwMode="auto">
          <a:xfrm>
            <a:off x="1430338" y="5229225"/>
            <a:ext cx="0" cy="439738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tr-TR"/>
          </a:p>
        </p:txBody>
      </p:sp>
      <p:sp>
        <p:nvSpPr>
          <p:cNvPr id="125969" name="Line 17"/>
          <p:cNvSpPr>
            <a:spLocks noChangeShapeType="1"/>
          </p:cNvSpPr>
          <p:nvPr/>
        </p:nvSpPr>
        <p:spPr bwMode="auto">
          <a:xfrm>
            <a:off x="6815138" y="5183188"/>
            <a:ext cx="0" cy="439737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tr-TR"/>
          </a:p>
        </p:txBody>
      </p:sp>
      <p:sp>
        <p:nvSpPr>
          <p:cNvPr id="125970" name="Line 18"/>
          <p:cNvSpPr>
            <a:spLocks noChangeShapeType="1"/>
          </p:cNvSpPr>
          <p:nvPr/>
        </p:nvSpPr>
        <p:spPr bwMode="auto">
          <a:xfrm>
            <a:off x="5516563" y="5199063"/>
            <a:ext cx="0" cy="439737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tr-TR"/>
          </a:p>
        </p:txBody>
      </p:sp>
      <p:sp>
        <p:nvSpPr>
          <p:cNvPr id="125971" name="Line 19"/>
          <p:cNvSpPr>
            <a:spLocks noChangeShapeType="1"/>
          </p:cNvSpPr>
          <p:nvPr/>
        </p:nvSpPr>
        <p:spPr bwMode="auto">
          <a:xfrm>
            <a:off x="3044825" y="5199063"/>
            <a:ext cx="0" cy="439737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tr-TR"/>
          </a:p>
        </p:txBody>
      </p:sp>
      <p:sp>
        <p:nvSpPr>
          <p:cNvPr id="125972" name="Line 20"/>
          <p:cNvSpPr>
            <a:spLocks noChangeShapeType="1"/>
          </p:cNvSpPr>
          <p:nvPr/>
        </p:nvSpPr>
        <p:spPr bwMode="auto">
          <a:xfrm>
            <a:off x="3902075" y="3294063"/>
            <a:ext cx="0" cy="439737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tr-TR"/>
          </a:p>
        </p:txBody>
      </p:sp>
      <p:sp>
        <p:nvSpPr>
          <p:cNvPr id="125973" name="Rectangle 21"/>
          <p:cNvSpPr>
            <a:spLocks noChangeArrowheads="1"/>
          </p:cNvSpPr>
          <p:nvPr/>
        </p:nvSpPr>
        <p:spPr bwMode="auto">
          <a:xfrm>
            <a:off x="1152525" y="5634038"/>
            <a:ext cx="557213" cy="457200"/>
          </a:xfrm>
          <a:prstGeom prst="rect">
            <a:avLst/>
          </a:prstGeom>
          <a:solidFill>
            <a:srgbClr val="FF0000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ctr"/>
            <a:r>
              <a:rPr lang="en-US" altLang="zh-TW" b="1">
                <a:ea typeface="PMingLiU" pitchFamily="18" charset="-120"/>
              </a:rPr>
              <a:t>No</a:t>
            </a:r>
          </a:p>
        </p:txBody>
      </p:sp>
      <p:sp>
        <p:nvSpPr>
          <p:cNvPr id="125974" name="Rectangle 22"/>
          <p:cNvSpPr>
            <a:spLocks noChangeArrowheads="1"/>
          </p:cNvSpPr>
          <p:nvPr/>
        </p:nvSpPr>
        <p:spPr bwMode="auto">
          <a:xfrm>
            <a:off x="5237163" y="5634038"/>
            <a:ext cx="557212" cy="457200"/>
          </a:xfrm>
          <a:prstGeom prst="rect">
            <a:avLst/>
          </a:prstGeom>
          <a:solidFill>
            <a:srgbClr val="FF0000"/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ctr"/>
            <a:r>
              <a:rPr lang="en-US" altLang="zh-TW" b="1">
                <a:ea typeface="PMingLiU" pitchFamily="18" charset="-120"/>
              </a:rPr>
              <a:t>No</a:t>
            </a:r>
          </a:p>
        </p:txBody>
      </p:sp>
      <p:sp>
        <p:nvSpPr>
          <p:cNvPr id="125975" name="Rectangle 23"/>
          <p:cNvSpPr>
            <a:spLocks noChangeArrowheads="1"/>
          </p:cNvSpPr>
          <p:nvPr/>
        </p:nvSpPr>
        <p:spPr bwMode="auto">
          <a:xfrm>
            <a:off x="2708275" y="5634038"/>
            <a:ext cx="671513" cy="469900"/>
          </a:xfrm>
          <a:prstGeom prst="rect">
            <a:avLst/>
          </a:prstGeom>
          <a:solidFill>
            <a:srgbClr val="00FF00"/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ctr"/>
            <a:r>
              <a:rPr lang="en-US" altLang="zh-TW" b="1">
                <a:ea typeface="PMingLiU" pitchFamily="18" charset="-120"/>
              </a:rPr>
              <a:t>Yes</a:t>
            </a:r>
          </a:p>
        </p:txBody>
      </p:sp>
      <p:sp>
        <p:nvSpPr>
          <p:cNvPr id="125976" name="Rectangle 24"/>
          <p:cNvSpPr>
            <a:spLocks noChangeArrowheads="1"/>
          </p:cNvSpPr>
          <p:nvPr/>
        </p:nvSpPr>
        <p:spPr bwMode="auto">
          <a:xfrm>
            <a:off x="6480175" y="5634038"/>
            <a:ext cx="671513" cy="469900"/>
          </a:xfrm>
          <a:prstGeom prst="rect">
            <a:avLst/>
          </a:prstGeom>
          <a:solidFill>
            <a:srgbClr val="00FF00"/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ctr"/>
            <a:r>
              <a:rPr lang="en-US" altLang="zh-TW" b="1">
                <a:ea typeface="PMingLiU" pitchFamily="18" charset="-120"/>
              </a:rPr>
              <a:t>Yes</a:t>
            </a:r>
          </a:p>
        </p:txBody>
      </p:sp>
      <p:sp>
        <p:nvSpPr>
          <p:cNvPr id="125977" name="Rectangle 25"/>
          <p:cNvSpPr>
            <a:spLocks noChangeArrowheads="1"/>
          </p:cNvSpPr>
          <p:nvPr/>
        </p:nvSpPr>
        <p:spPr bwMode="auto">
          <a:xfrm>
            <a:off x="3567113" y="3794125"/>
            <a:ext cx="671512" cy="469900"/>
          </a:xfrm>
          <a:prstGeom prst="rect">
            <a:avLst/>
          </a:prstGeom>
          <a:solidFill>
            <a:srgbClr val="00FF00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ctr"/>
            <a:r>
              <a:rPr lang="en-US" altLang="zh-TW" b="1">
                <a:ea typeface="PMingLiU" pitchFamily="18" charset="-120"/>
              </a:rPr>
              <a:t>Yes</a:t>
            </a:r>
          </a:p>
        </p:txBody>
      </p:sp>
      <p:sp>
        <p:nvSpPr>
          <p:cNvPr id="125978" name="Rectangle 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ea typeface="PMingLiU" pitchFamily="18" charset="-120"/>
              </a:rPr>
              <a:t>Example Tree for “Play?”</a:t>
            </a:r>
          </a:p>
        </p:txBody>
      </p:sp>
      <p:sp>
        <p:nvSpPr>
          <p:cNvPr id="125979" name="AutoShape 27"/>
          <p:cNvSpPr>
            <a:spLocks noChangeArrowheads="1"/>
          </p:cNvSpPr>
          <p:nvPr/>
        </p:nvSpPr>
        <p:spPr bwMode="auto">
          <a:xfrm>
            <a:off x="3063875" y="1635125"/>
            <a:ext cx="1752600" cy="838200"/>
          </a:xfrm>
          <a:prstGeom prst="diamond">
            <a:avLst/>
          </a:prstGeom>
          <a:noFill/>
          <a:ln w="9525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tr-TR"/>
          </a:p>
        </p:txBody>
      </p:sp>
      <p:sp>
        <p:nvSpPr>
          <p:cNvPr id="125980" name="Text Box 28"/>
          <p:cNvSpPr txBox="1">
            <a:spLocks noChangeArrowheads="1"/>
          </p:cNvSpPr>
          <p:nvPr/>
        </p:nvSpPr>
        <p:spPr bwMode="auto">
          <a:xfrm>
            <a:off x="3352800" y="1828800"/>
            <a:ext cx="1250950" cy="457200"/>
          </a:xfrm>
          <a:prstGeom prst="rect">
            <a:avLst/>
          </a:prstGeom>
          <a:noFill/>
          <a:ln w="9525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r>
              <a:rPr lang="en-US" b="1"/>
              <a:t>Outlook</a:t>
            </a:r>
          </a:p>
        </p:txBody>
      </p:sp>
      <p:sp>
        <p:nvSpPr>
          <p:cNvPr id="125981" name="AutoShape 29"/>
          <p:cNvSpPr>
            <a:spLocks noChangeArrowheads="1"/>
          </p:cNvSpPr>
          <p:nvPr/>
        </p:nvSpPr>
        <p:spPr bwMode="auto">
          <a:xfrm>
            <a:off x="1447800" y="3657600"/>
            <a:ext cx="1752600" cy="838200"/>
          </a:xfrm>
          <a:prstGeom prst="diamond">
            <a:avLst/>
          </a:prstGeom>
          <a:noFill/>
          <a:ln w="9525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tr-TR"/>
          </a:p>
        </p:txBody>
      </p:sp>
      <p:sp>
        <p:nvSpPr>
          <p:cNvPr id="125982" name="Text Box 30"/>
          <p:cNvSpPr txBox="1">
            <a:spLocks noChangeArrowheads="1"/>
          </p:cNvSpPr>
          <p:nvPr/>
        </p:nvSpPr>
        <p:spPr bwMode="auto">
          <a:xfrm>
            <a:off x="1676400" y="3810000"/>
            <a:ext cx="1350963" cy="457200"/>
          </a:xfrm>
          <a:prstGeom prst="rect">
            <a:avLst/>
          </a:prstGeom>
          <a:noFill/>
          <a:ln w="9525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r>
              <a:rPr lang="en-US"/>
              <a:t>Humidity</a:t>
            </a:r>
          </a:p>
        </p:txBody>
      </p:sp>
      <p:sp>
        <p:nvSpPr>
          <p:cNvPr id="125983" name="AutoShape 31"/>
          <p:cNvSpPr>
            <a:spLocks noChangeArrowheads="1"/>
          </p:cNvSpPr>
          <p:nvPr/>
        </p:nvSpPr>
        <p:spPr bwMode="auto">
          <a:xfrm>
            <a:off x="5181600" y="3810000"/>
            <a:ext cx="1752600" cy="838200"/>
          </a:xfrm>
          <a:prstGeom prst="diamond">
            <a:avLst/>
          </a:prstGeom>
          <a:noFill/>
          <a:ln w="9525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tr-TR"/>
          </a:p>
        </p:txBody>
      </p:sp>
      <p:sp>
        <p:nvSpPr>
          <p:cNvPr id="125984" name="Text Box 32"/>
          <p:cNvSpPr txBox="1">
            <a:spLocks noChangeArrowheads="1"/>
          </p:cNvSpPr>
          <p:nvPr/>
        </p:nvSpPr>
        <p:spPr bwMode="auto">
          <a:xfrm>
            <a:off x="5486400" y="4038600"/>
            <a:ext cx="1012825" cy="457200"/>
          </a:xfrm>
          <a:prstGeom prst="rect">
            <a:avLst/>
          </a:prstGeom>
          <a:noFill/>
          <a:ln w="9525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r>
              <a:rPr lang="en-US"/>
              <a:t>Windy</a:t>
            </a:r>
          </a:p>
        </p:txBody>
      </p:sp>
      <p:sp>
        <p:nvSpPr>
          <p:cNvPr id="125985" name="Line 33"/>
          <p:cNvSpPr>
            <a:spLocks noChangeShapeType="1"/>
          </p:cNvSpPr>
          <p:nvPr/>
        </p:nvSpPr>
        <p:spPr bwMode="auto">
          <a:xfrm>
            <a:off x="2362200" y="29718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tr-TR"/>
          </a:p>
        </p:txBody>
      </p:sp>
      <p:sp>
        <p:nvSpPr>
          <p:cNvPr id="125986" name="Line 34"/>
          <p:cNvSpPr>
            <a:spLocks noChangeShapeType="1"/>
          </p:cNvSpPr>
          <p:nvPr/>
        </p:nvSpPr>
        <p:spPr bwMode="auto">
          <a:xfrm>
            <a:off x="6019800" y="3124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tr-TR"/>
          </a:p>
        </p:txBody>
      </p:sp>
    </p:spTree>
  </p:cSld>
  <p:clrMapOvr>
    <a:masterClrMapping/>
  </p:clrMapOvr>
  <p:transition>
    <p:wipe dir="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A9313F-DC18-4D53-BCEF-132AEDF94F5C}" type="slidenum">
              <a:rPr lang="en-US"/>
              <a:pPr/>
              <a:t>14</a:t>
            </a:fld>
            <a:endParaRPr lang="en-US"/>
          </a:p>
        </p:txBody>
      </p:sp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ea typeface="PMingLiU" pitchFamily="18" charset="-120"/>
              </a:rPr>
              <a:t>Which attribute to select?</a:t>
            </a:r>
          </a:p>
        </p:txBody>
      </p:sp>
      <p:pic>
        <p:nvPicPr>
          <p:cNvPr id="61443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71600" y="1600200"/>
            <a:ext cx="2819400" cy="1993900"/>
          </a:xfrm>
          <a:prstGeom prst="rect">
            <a:avLst/>
          </a:prstGeom>
          <a:noFill/>
        </p:spPr>
      </p:pic>
      <p:pic>
        <p:nvPicPr>
          <p:cNvPr id="61444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828800" y="3657600"/>
            <a:ext cx="1657350" cy="2667000"/>
          </a:xfrm>
          <a:prstGeom prst="rect">
            <a:avLst/>
          </a:prstGeom>
          <a:noFill/>
        </p:spPr>
      </p:pic>
      <p:pic>
        <p:nvPicPr>
          <p:cNvPr id="61445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486400" y="1600200"/>
            <a:ext cx="1776413" cy="2362200"/>
          </a:xfrm>
          <a:prstGeom prst="rect">
            <a:avLst/>
          </a:prstGeom>
          <a:noFill/>
        </p:spPr>
      </p:pic>
      <p:pic>
        <p:nvPicPr>
          <p:cNvPr id="61446" name="Picture 6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105400" y="4038600"/>
            <a:ext cx="2438400" cy="2198688"/>
          </a:xfrm>
          <a:prstGeom prst="rect">
            <a:avLst/>
          </a:prstGeom>
          <a:noFill/>
        </p:spPr>
      </p:pic>
      <p:sp>
        <p:nvSpPr>
          <p:cNvPr id="61447" name="Text Box 7"/>
          <p:cNvSpPr txBox="1">
            <a:spLocks noChangeArrowheads="1"/>
          </p:cNvSpPr>
          <p:nvPr/>
        </p:nvSpPr>
        <p:spPr bwMode="auto">
          <a:xfrm>
            <a:off x="533400" y="6583363"/>
            <a:ext cx="941388" cy="274637"/>
          </a:xfrm>
          <a:prstGeom prst="rect">
            <a:avLst/>
          </a:prstGeom>
          <a:noFill/>
          <a:ln w="9525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r>
              <a:rPr lang="en-US" sz="1200"/>
              <a:t>witten&amp;eibe</a:t>
            </a:r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51F35B-2D30-4672-B123-6FBE12E0CCD5}" type="slidenum">
              <a:rPr lang="en-US"/>
              <a:pPr/>
              <a:t>15</a:t>
            </a:fld>
            <a:endParaRPr lang="en-US"/>
          </a:p>
        </p:txBody>
      </p:sp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ea typeface="PMingLiU" pitchFamily="18" charset="-120"/>
              </a:rPr>
              <a:t>Choosing the Splitting Attribute </a:t>
            </a:r>
          </a:p>
        </p:txBody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42900" indent="-342900"/>
            <a:r>
              <a:rPr lang="en-US" altLang="zh-TW" dirty="0">
                <a:ea typeface="PMingLiU" pitchFamily="18" charset="-120"/>
              </a:rPr>
              <a:t>At each node, available attributes are evaluated on the basis of separating the classes of the training examples. A Goodness function is used for this purpose.</a:t>
            </a:r>
          </a:p>
          <a:p>
            <a:pPr marL="342900" indent="-342900"/>
            <a:r>
              <a:rPr lang="en-US" altLang="zh-TW" dirty="0">
                <a:ea typeface="PMingLiU" pitchFamily="18" charset="-120"/>
              </a:rPr>
              <a:t>Typical goodness functions:</a:t>
            </a:r>
          </a:p>
          <a:p>
            <a:pPr marL="742950" lvl="1" indent="-285750"/>
            <a:r>
              <a:rPr lang="en-US" altLang="zh-TW" dirty="0">
                <a:solidFill>
                  <a:srgbClr val="FF0000"/>
                </a:solidFill>
                <a:ea typeface="PMingLiU" pitchFamily="18" charset="-120"/>
              </a:rPr>
              <a:t>information gain (</a:t>
            </a:r>
            <a:r>
              <a:rPr lang="en-US" altLang="zh-TW" dirty="0">
                <a:ea typeface="PMingLiU" pitchFamily="18" charset="-120"/>
              </a:rPr>
              <a:t>ID3/C4.5)</a:t>
            </a:r>
          </a:p>
          <a:p>
            <a:pPr marL="742950" lvl="1" indent="-285750"/>
            <a:r>
              <a:rPr lang="en-US" altLang="zh-TW" dirty="0">
                <a:ea typeface="PMingLiU" pitchFamily="18" charset="-120"/>
              </a:rPr>
              <a:t>information gain ratio</a:t>
            </a:r>
          </a:p>
          <a:p>
            <a:pPr marL="742950" lvl="1" indent="-285750"/>
            <a:r>
              <a:rPr lang="en-US" altLang="zh-TW" dirty="0" err="1">
                <a:ea typeface="PMingLiU" pitchFamily="18" charset="-120"/>
              </a:rPr>
              <a:t>Gini</a:t>
            </a:r>
            <a:r>
              <a:rPr lang="en-US" altLang="zh-TW" dirty="0">
                <a:ea typeface="PMingLiU" pitchFamily="18" charset="-120"/>
              </a:rPr>
              <a:t> index</a:t>
            </a:r>
            <a:endParaRPr lang="tr-TR" altLang="zh-TW" dirty="0">
              <a:ea typeface="PMingLiU" pitchFamily="18" charset="-120"/>
            </a:endParaRPr>
          </a:p>
          <a:p>
            <a:pPr marL="342900" indent="-342900"/>
            <a:r>
              <a:rPr lang="en-US" altLang="zh-TW" dirty="0">
                <a:ea typeface="PMingLiU" pitchFamily="18" charset="-120"/>
              </a:rPr>
              <a:t>Strategy: choose attribute that results in </a:t>
            </a:r>
            <a:r>
              <a:rPr lang="en-US" altLang="zh-TW" dirty="0">
                <a:solidFill>
                  <a:srgbClr val="FF0000"/>
                </a:solidFill>
                <a:ea typeface="PMingLiU" pitchFamily="18" charset="-120"/>
              </a:rPr>
              <a:t>greatest information gain</a:t>
            </a:r>
            <a:r>
              <a:rPr lang="tr-TR" altLang="zh-TW" dirty="0">
                <a:solidFill>
                  <a:srgbClr val="FF0000"/>
                </a:solidFill>
                <a:ea typeface="PMingLiU" pitchFamily="18" charset="-120"/>
              </a:rPr>
              <a:t> </a:t>
            </a:r>
            <a:r>
              <a:rPr lang="tr-TR" altLang="zh-TW" dirty="0">
                <a:ea typeface="PMingLiU" pitchFamily="18" charset="-120"/>
              </a:rPr>
              <a:t>as the root.</a:t>
            </a:r>
          </a:p>
          <a:p>
            <a:pPr marL="742950" lvl="1" indent="-285750"/>
            <a:endParaRPr lang="tr-TR" altLang="zh-TW" dirty="0">
              <a:ea typeface="PMingLiU" pitchFamily="18" charset="-120"/>
            </a:endParaRPr>
          </a:p>
        </p:txBody>
      </p:sp>
      <p:sp>
        <p:nvSpPr>
          <p:cNvPr id="60420" name="Text Box 4"/>
          <p:cNvSpPr txBox="1">
            <a:spLocks noChangeArrowheads="1"/>
          </p:cNvSpPr>
          <p:nvPr/>
        </p:nvSpPr>
        <p:spPr bwMode="auto">
          <a:xfrm>
            <a:off x="533400" y="6583363"/>
            <a:ext cx="941388" cy="274637"/>
          </a:xfrm>
          <a:prstGeom prst="rect">
            <a:avLst/>
          </a:prstGeom>
          <a:noFill/>
          <a:ln w="9525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r>
              <a:rPr lang="en-US" sz="1200"/>
              <a:t>witten&amp;eibe</a:t>
            </a:r>
          </a:p>
        </p:txBody>
      </p:sp>
    </p:spTree>
  </p:cSld>
  <p:clrMapOvr>
    <a:masterClrMapping/>
  </p:clrMapOvr>
  <p:transition>
    <p:wipe dir="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Decision Tree Example</a:t>
            </a:r>
          </a:p>
        </p:txBody>
      </p:sp>
      <p:pic>
        <p:nvPicPr>
          <p:cNvPr id="327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38250" y="1547813"/>
            <a:ext cx="6667500" cy="4167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Decision Tree Example- 2</a:t>
            </a:r>
          </a:p>
        </p:txBody>
      </p:sp>
      <p:pic>
        <p:nvPicPr>
          <p:cNvPr id="337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0" y="2057400"/>
            <a:ext cx="6438900" cy="3600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Example: Customer Database</a:t>
            </a:r>
          </a:p>
        </p:txBody>
      </p:sp>
      <p:pic>
        <p:nvPicPr>
          <p:cNvPr id="4" name="Picture 3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90600" y="1524000"/>
            <a:ext cx="7543800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3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43000" y="1295400"/>
            <a:ext cx="7355338" cy="487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dirty="0"/>
              <a:t>Root: age attribute..</a:t>
            </a:r>
            <a:br>
              <a:rPr lang="tr-TR" dirty="0"/>
            </a:br>
            <a:endParaRPr lang="tr-TR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0CD7E7-0F20-4E0E-9EBD-6801E57CB654}" type="slidenum">
              <a:rPr lang="en-US"/>
              <a:pPr/>
              <a:t>20</a:t>
            </a:fld>
            <a:endParaRPr lang="en-US"/>
          </a:p>
        </p:txBody>
      </p:sp>
      <p:sp>
        <p:nvSpPr>
          <p:cNvPr id="675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ea typeface="PMingLiU" pitchFamily="18" charset="-120"/>
              </a:rPr>
              <a:t>The final decision tree</a:t>
            </a:r>
          </a:p>
        </p:txBody>
      </p:sp>
      <p:sp>
        <p:nvSpPr>
          <p:cNvPr id="675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4668838"/>
            <a:ext cx="8305800" cy="1655762"/>
          </a:xfrm>
        </p:spPr>
        <p:txBody>
          <a:bodyPr>
            <a:normAutofit lnSpcReduction="10000"/>
          </a:bodyPr>
          <a:lstStyle/>
          <a:p>
            <a:pPr marL="742950" lvl="1" indent="-285750">
              <a:buFont typeface="Wingdings" pitchFamily="2" charset="2"/>
              <a:buNone/>
            </a:pPr>
            <a:endParaRPr lang="tr-TR" altLang="zh-TW" dirty="0">
              <a:ea typeface="PMingLiU" pitchFamily="18" charset="-120"/>
              <a:sym typeface="Symbol" pitchFamily="18" charset="2"/>
            </a:endParaRPr>
          </a:p>
          <a:p>
            <a:pPr marL="742950" lvl="1" indent="-285750">
              <a:buFont typeface="Wingdings" pitchFamily="2" charset="2"/>
              <a:buNone/>
            </a:pPr>
            <a:endParaRPr lang="tr-TR" altLang="zh-TW" dirty="0">
              <a:ea typeface="PMingLiU" pitchFamily="18" charset="-120"/>
              <a:sym typeface="Symbol" pitchFamily="18" charset="2"/>
            </a:endParaRPr>
          </a:p>
          <a:p>
            <a:pPr marL="742950" lvl="1" indent="-285750">
              <a:buFont typeface="Wingdings" pitchFamily="2" charset="2"/>
              <a:buNone/>
            </a:pPr>
            <a:endParaRPr lang="tr-TR" altLang="zh-TW" dirty="0">
              <a:ea typeface="PMingLiU" pitchFamily="18" charset="-120"/>
              <a:sym typeface="Symbol" pitchFamily="18" charset="2"/>
            </a:endParaRPr>
          </a:p>
          <a:p>
            <a:pPr marL="742950" lvl="1" indent="-285750">
              <a:buFont typeface="Wingdings" pitchFamily="2" charset="2"/>
              <a:buNone/>
            </a:pPr>
            <a:r>
              <a:rPr lang="en-US" altLang="zh-TW" dirty="0">
                <a:ea typeface="PMingLiU" pitchFamily="18" charset="-120"/>
                <a:sym typeface="Symbol" pitchFamily="18" charset="2"/>
              </a:rPr>
              <a:t> </a:t>
            </a:r>
            <a:r>
              <a:rPr lang="en-US" altLang="zh-TW" dirty="0">
                <a:ea typeface="PMingLiU" pitchFamily="18" charset="-120"/>
              </a:rPr>
              <a:t>Splitting stops when data can’t be split any further</a:t>
            </a:r>
          </a:p>
        </p:txBody>
      </p:sp>
      <p:sp>
        <p:nvSpPr>
          <p:cNvPr id="67589" name="Text Box 5"/>
          <p:cNvSpPr txBox="1">
            <a:spLocks noChangeArrowheads="1"/>
          </p:cNvSpPr>
          <p:nvPr/>
        </p:nvSpPr>
        <p:spPr bwMode="auto">
          <a:xfrm>
            <a:off x="533400" y="6583363"/>
            <a:ext cx="941388" cy="274637"/>
          </a:xfrm>
          <a:prstGeom prst="rect">
            <a:avLst/>
          </a:prstGeom>
          <a:noFill/>
          <a:ln w="9525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r>
              <a:rPr lang="en-US" sz="1200"/>
              <a:t>witten&amp;eibe</a:t>
            </a:r>
          </a:p>
        </p:txBody>
      </p:sp>
      <p:pic>
        <p:nvPicPr>
          <p:cNvPr id="3686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95388" y="1376363"/>
            <a:ext cx="6753225" cy="4105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dirty="0"/>
              <a:t>QUESTIONS</a:t>
            </a:r>
            <a:br>
              <a:rPr lang="tr-TR" dirty="0"/>
            </a:b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28600" y="1219200"/>
            <a:ext cx="8915400" cy="3124200"/>
          </a:xfrm>
        </p:spPr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tr-TR" dirty="0"/>
              <a:t>Explain classification in Data Mining. Describe the techniques used for classification. Explain the steps of Classification.</a:t>
            </a:r>
          </a:p>
          <a:p>
            <a:pPr>
              <a:buNone/>
            </a:pPr>
            <a:r>
              <a:rPr lang="tr-TR" dirty="0"/>
              <a:t>2. Why we are using decision trees as a classification method? What are the advantages and disadvantages of using decision trees?</a:t>
            </a:r>
          </a:p>
          <a:p>
            <a:r>
              <a:rPr lang="tr-TR" dirty="0"/>
              <a:t>3. According to the given Decision Tree what will be the output for class - cheating (yes or no)?</a:t>
            </a:r>
          </a:p>
          <a:p>
            <a:endParaRPr lang="tr-TR" dirty="0"/>
          </a:p>
        </p:txBody>
      </p:sp>
      <p:pic>
        <p:nvPicPr>
          <p:cNvPr id="4" name="Picture 3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" y="4343400"/>
            <a:ext cx="4114800" cy="182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181600" y="4191000"/>
          <a:ext cx="3657600" cy="152400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r-TR" sz="110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Refund</a:t>
                      </a:r>
                      <a:endParaRPr lang="tr-TR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r-TR" sz="110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Marial Status</a:t>
                      </a:r>
                      <a:endParaRPr lang="tr-TR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r-TR" sz="110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Taxable income</a:t>
                      </a:r>
                      <a:endParaRPr lang="tr-TR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r-TR" sz="110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Cheat</a:t>
                      </a:r>
                      <a:endParaRPr lang="tr-TR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r-TR" sz="11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No</a:t>
                      </a:r>
                      <a:endParaRPr lang="tr-TR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r-TR" sz="11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Married</a:t>
                      </a:r>
                      <a:endParaRPr lang="tr-TR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r-TR" sz="11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80K</a:t>
                      </a:r>
                      <a:endParaRPr lang="tr-TR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r-TR" sz="1100">
                          <a:solidFill>
                            <a:srgbClr val="FF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?</a:t>
                      </a:r>
                      <a:endParaRPr lang="tr-TR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r-TR" sz="11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Yes</a:t>
                      </a:r>
                      <a:endParaRPr lang="tr-TR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r-TR" sz="11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Single </a:t>
                      </a:r>
                      <a:endParaRPr lang="tr-TR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r-TR" sz="11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125K</a:t>
                      </a:r>
                      <a:endParaRPr lang="tr-TR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r-TR" sz="1100" dirty="0">
                          <a:solidFill>
                            <a:srgbClr val="FF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?</a:t>
                      </a:r>
                      <a:endParaRPr lang="tr-TR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450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2819400"/>
            <a:ext cx="8305800" cy="1143000"/>
          </a:xfrm>
        </p:spPr>
        <p:txBody>
          <a:bodyPr>
            <a:normAutofit fontScale="90000"/>
          </a:bodyPr>
          <a:lstStyle/>
          <a:p>
            <a:pPr algn="ctr">
              <a:lnSpc>
                <a:spcPct val="110000"/>
              </a:lnSpc>
            </a:pPr>
            <a:br>
              <a:rPr lang="tr-TR" sz="2800" dirty="0"/>
            </a:br>
            <a:r>
              <a:rPr lang="tr-TR" sz="2800" dirty="0"/>
              <a:t>ISE 350 DATA WAREHOUSING AND DATA MINING </a:t>
            </a:r>
            <a:br>
              <a:rPr lang="tr-TR" sz="2800" dirty="0"/>
            </a:br>
            <a:br>
              <a:rPr lang="tr-TR" sz="2800" dirty="0"/>
            </a:br>
            <a:r>
              <a:rPr lang="tr-TR" sz="2800" dirty="0"/>
              <a:t>Classification Techniques: Rule Based Algorithms</a:t>
            </a:r>
            <a:br>
              <a:rPr lang="tr-TR" sz="3200" dirty="0"/>
            </a:br>
            <a:endParaRPr lang="en-US" sz="1800" dirty="0">
              <a:latin typeface="Berlin Sans FB Demi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43800" y="6356350"/>
            <a:ext cx="1600200" cy="365760"/>
          </a:xfrm>
        </p:spPr>
        <p:txBody>
          <a:bodyPr/>
          <a:lstStyle/>
          <a:p>
            <a:fld id="{3F186295-6529-444A-BE4B-892EE4A4A542}" type="datetime4">
              <a:rPr lang="en-US"/>
              <a:pPr/>
              <a:t>October 1, 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62000" y="6324600"/>
            <a:ext cx="6705600" cy="365760"/>
          </a:xfrm>
        </p:spPr>
        <p:txBody>
          <a:bodyPr/>
          <a:lstStyle/>
          <a:p>
            <a:r>
              <a:rPr lang="de-DE" dirty="0"/>
              <a:t>©2006 Jiawei Han and Micheline Kamber. </a:t>
            </a:r>
            <a:r>
              <a:rPr lang="en-US" dirty="0"/>
              <a:t>Data Mining: Concepts and Techniques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46992-076A-40B2-9CF1-4C365E6F1FD7}" type="slidenum">
              <a:rPr lang="en-US"/>
              <a:pPr/>
              <a:t>22</a:t>
            </a:fld>
            <a:endParaRPr lang="en-US"/>
          </a:p>
        </p:txBody>
      </p:sp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219200"/>
          </a:xfrm>
        </p:spPr>
        <p:txBody>
          <a:bodyPr>
            <a:normAutofit fontScale="90000"/>
          </a:bodyPr>
          <a:lstStyle/>
          <a:p>
            <a:br>
              <a:rPr lang="tr-TR" dirty="0"/>
            </a:br>
            <a:br>
              <a:rPr lang="tr-TR" dirty="0"/>
            </a:br>
            <a:r>
              <a:rPr lang="tr-TR" dirty="0"/>
              <a:t>Recall: </a:t>
            </a:r>
            <a:br>
              <a:rPr lang="tr-TR" dirty="0"/>
            </a:br>
            <a:r>
              <a:rPr lang="tr-TR" dirty="0"/>
              <a:t>CLASSIFICATION TECHNIQUES</a:t>
            </a:r>
            <a:br>
              <a:rPr lang="tr-TR" dirty="0"/>
            </a:b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81600"/>
          </a:xfrm>
        </p:spPr>
        <p:txBody>
          <a:bodyPr/>
          <a:lstStyle/>
          <a:p>
            <a:r>
              <a:rPr lang="tr-TR" dirty="0"/>
              <a:t>Classification is about </a:t>
            </a:r>
            <a:r>
              <a:rPr lang="tr-TR" dirty="0">
                <a:solidFill>
                  <a:srgbClr val="FF0000"/>
                </a:solidFill>
              </a:rPr>
              <a:t>determining the class of a given record </a:t>
            </a:r>
            <a:r>
              <a:rPr lang="tr-TR" dirty="0"/>
              <a:t>by applying a classification model.</a:t>
            </a:r>
          </a:p>
          <a:p>
            <a:r>
              <a:rPr lang="tr-TR" dirty="0"/>
              <a:t>Classification Techniques:</a:t>
            </a:r>
          </a:p>
          <a:p>
            <a:pPr lvl="1">
              <a:lnSpc>
                <a:spcPct val="115000"/>
              </a:lnSpc>
              <a:spcAft>
                <a:spcPts val="1000"/>
              </a:spcAft>
            </a:pPr>
            <a:r>
              <a:rPr lang="en-GB" sz="2500" dirty="0">
                <a:latin typeface="Calibri"/>
                <a:ea typeface="Calibri"/>
                <a:cs typeface="Times New Roman"/>
              </a:rPr>
              <a:t>1. Decision Trees (e.g. ID3, C4.5, C5.5(j48))</a:t>
            </a:r>
            <a:endParaRPr lang="tr-TR" sz="2500" dirty="0">
              <a:latin typeface="Calibri"/>
              <a:ea typeface="Calibri"/>
              <a:cs typeface="Times New Roman"/>
            </a:endParaRPr>
          </a:p>
          <a:p>
            <a:pPr lvl="1">
              <a:lnSpc>
                <a:spcPct val="115000"/>
              </a:lnSpc>
              <a:spcAft>
                <a:spcPts val="1000"/>
              </a:spcAft>
            </a:pPr>
            <a:r>
              <a:rPr lang="en-GB" sz="2500" dirty="0">
                <a:latin typeface="Calibri"/>
                <a:ea typeface="Calibri"/>
                <a:cs typeface="Times New Roman"/>
              </a:rPr>
              <a:t>2. </a:t>
            </a:r>
            <a:r>
              <a:rPr lang="en-GB" sz="2500" dirty="0">
                <a:solidFill>
                  <a:srgbClr val="FF0000"/>
                </a:solidFill>
                <a:latin typeface="Calibri"/>
                <a:ea typeface="Calibri"/>
                <a:cs typeface="Times New Roman"/>
              </a:rPr>
              <a:t>Rule Based Algorithms</a:t>
            </a:r>
            <a:endParaRPr lang="tr-TR" sz="2500" dirty="0">
              <a:solidFill>
                <a:srgbClr val="FF0000"/>
              </a:solidFill>
              <a:latin typeface="Calibri"/>
              <a:ea typeface="Calibri"/>
              <a:cs typeface="Times New Roman"/>
            </a:endParaRPr>
          </a:p>
          <a:p>
            <a:pPr lvl="1">
              <a:lnSpc>
                <a:spcPct val="115000"/>
              </a:lnSpc>
              <a:spcAft>
                <a:spcPts val="1000"/>
              </a:spcAft>
            </a:pPr>
            <a:r>
              <a:rPr lang="en-GB" sz="2500" dirty="0">
                <a:latin typeface="Calibri"/>
                <a:ea typeface="Calibri"/>
                <a:cs typeface="Times New Roman"/>
              </a:rPr>
              <a:t>3. K- Nearest </a:t>
            </a:r>
            <a:r>
              <a:rPr lang="en-GB" sz="2500" dirty="0" err="1">
                <a:latin typeface="Calibri"/>
                <a:ea typeface="Calibri"/>
                <a:cs typeface="Times New Roman"/>
              </a:rPr>
              <a:t>Neighbor</a:t>
            </a:r>
            <a:r>
              <a:rPr lang="en-GB" sz="2500" dirty="0">
                <a:latin typeface="Calibri"/>
                <a:ea typeface="Calibri"/>
                <a:cs typeface="Times New Roman"/>
              </a:rPr>
              <a:t> Algorithm</a:t>
            </a:r>
            <a:endParaRPr lang="tr-TR" sz="2500" dirty="0">
              <a:latin typeface="Calibri"/>
              <a:ea typeface="Calibri"/>
              <a:cs typeface="Times New Roman"/>
            </a:endParaRPr>
          </a:p>
          <a:p>
            <a:pPr lvl="1">
              <a:lnSpc>
                <a:spcPct val="115000"/>
              </a:lnSpc>
              <a:spcAft>
                <a:spcPts val="1000"/>
              </a:spcAft>
            </a:pPr>
            <a:r>
              <a:rPr lang="en-GB" sz="2200" dirty="0">
                <a:latin typeface="Calibri"/>
                <a:ea typeface="Calibri"/>
                <a:cs typeface="Times New Roman"/>
              </a:rPr>
              <a:t>4. Bayesian Classifier</a:t>
            </a:r>
            <a:endParaRPr lang="tr-TR" sz="2200" dirty="0">
              <a:latin typeface="Calibri"/>
              <a:ea typeface="Calibri"/>
              <a:cs typeface="Times New Roman"/>
            </a:endParaRPr>
          </a:p>
          <a:p>
            <a:pPr lvl="1">
              <a:lnSpc>
                <a:spcPct val="115000"/>
              </a:lnSpc>
              <a:spcAft>
                <a:spcPts val="1000"/>
              </a:spcAft>
            </a:pPr>
            <a:r>
              <a:rPr lang="en-GB" sz="2500" dirty="0">
                <a:latin typeface="Calibri"/>
                <a:ea typeface="Calibri"/>
                <a:cs typeface="Times New Roman"/>
              </a:rPr>
              <a:t>5. ANN (Artificial Neural Nets)</a:t>
            </a:r>
            <a:endParaRPr lang="tr-TR" sz="2500" dirty="0">
              <a:latin typeface="Calibri"/>
              <a:ea typeface="Calibri"/>
              <a:cs typeface="Times New Roman"/>
            </a:endParaRPr>
          </a:p>
          <a:p>
            <a:endParaRPr lang="tr-TR" dirty="0"/>
          </a:p>
          <a:p>
            <a:endParaRPr lang="tr-TR" dirty="0"/>
          </a:p>
          <a:p>
            <a:pPr>
              <a:buNone/>
            </a:pPr>
            <a:endParaRPr lang="tr-TR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94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Rule-Based Classifier</a:t>
            </a:r>
          </a:p>
        </p:txBody>
      </p:sp>
      <p:sp>
        <p:nvSpPr>
          <p:cNvPr id="9594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Classify records by using a collection of “if…then…” rules</a:t>
            </a:r>
          </a:p>
          <a:p>
            <a:pPr lvl="4"/>
            <a:endParaRPr lang="en-US" sz="1000" dirty="0"/>
          </a:p>
          <a:p>
            <a:r>
              <a:rPr lang="en-US" dirty="0"/>
              <a:t>Rule:    (</a:t>
            </a:r>
            <a:r>
              <a:rPr lang="en-US" i="1" dirty="0"/>
              <a:t>Condition</a:t>
            </a:r>
            <a:r>
              <a:rPr lang="en-US" dirty="0"/>
              <a:t>) </a:t>
            </a:r>
            <a:r>
              <a:rPr lang="en-US" dirty="0">
                <a:sym typeface="Symbol" pitchFamily="18" charset="2"/>
              </a:rPr>
              <a:t> </a:t>
            </a:r>
            <a:r>
              <a:rPr lang="en-US" i="1" dirty="0">
                <a:sym typeface="Symbol" pitchFamily="18" charset="2"/>
              </a:rPr>
              <a:t>y</a:t>
            </a:r>
          </a:p>
          <a:p>
            <a:pPr lvl="1"/>
            <a:r>
              <a:rPr lang="en-US" sz="2400" dirty="0"/>
              <a:t>where </a:t>
            </a:r>
          </a:p>
          <a:p>
            <a:pPr lvl="2"/>
            <a:r>
              <a:rPr lang="en-US" sz="2000" i="1" dirty="0"/>
              <a:t> Condition</a:t>
            </a:r>
            <a:r>
              <a:rPr lang="en-US" sz="2000" dirty="0"/>
              <a:t> is a conjunctions of attributes </a:t>
            </a:r>
          </a:p>
          <a:p>
            <a:pPr lvl="2"/>
            <a:r>
              <a:rPr lang="en-US" sz="2000" i="1" dirty="0"/>
              <a:t> y</a:t>
            </a:r>
            <a:r>
              <a:rPr lang="en-US" sz="2000" dirty="0"/>
              <a:t> is the class label</a:t>
            </a:r>
            <a:endParaRPr lang="tr-TR" sz="2000" dirty="0"/>
          </a:p>
          <a:p>
            <a:pPr lvl="2">
              <a:buNone/>
            </a:pPr>
            <a:endParaRPr lang="en-US" sz="2000" dirty="0"/>
          </a:p>
          <a:p>
            <a:pPr lvl="1"/>
            <a:r>
              <a:rPr lang="en-US" sz="2400" dirty="0"/>
              <a:t>Examples of classification rules:</a:t>
            </a:r>
          </a:p>
          <a:p>
            <a:pPr lvl="2"/>
            <a:r>
              <a:rPr lang="en-US" sz="2000" dirty="0"/>
              <a:t> (Blood Type=Warm) </a:t>
            </a:r>
            <a:r>
              <a:rPr lang="en-US" sz="2000" dirty="0">
                <a:sym typeface="Symbol" pitchFamily="18" charset="2"/>
              </a:rPr>
              <a:t> </a:t>
            </a:r>
            <a:r>
              <a:rPr lang="en-US" sz="2000" dirty="0"/>
              <a:t>(Lay Eggs=Yes) </a:t>
            </a:r>
            <a:r>
              <a:rPr lang="en-US" sz="2000" dirty="0">
                <a:sym typeface="Symbol" pitchFamily="18" charset="2"/>
              </a:rPr>
              <a:t> Birds</a:t>
            </a:r>
          </a:p>
          <a:p>
            <a:pPr lvl="2"/>
            <a:r>
              <a:rPr lang="en-US" sz="2000" dirty="0">
                <a:sym typeface="Symbol" pitchFamily="18" charset="2"/>
              </a:rPr>
              <a:t> (Taxable Income &lt; 50K)  (Refund=Yes)  </a:t>
            </a:r>
            <a:r>
              <a:rPr lang="tr-TR" dirty="0">
                <a:sym typeface="Symbol" pitchFamily="18" charset="2"/>
              </a:rPr>
              <a:t>Cheat</a:t>
            </a:r>
            <a:r>
              <a:rPr lang="en-US" sz="2000" dirty="0">
                <a:sym typeface="Symbol" pitchFamily="18" charset="2"/>
              </a:rPr>
              <a:t>=No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4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Rule-based Classifier (Example)</a:t>
            </a:r>
          </a:p>
        </p:txBody>
      </p:sp>
      <p:sp>
        <p:nvSpPr>
          <p:cNvPr id="1001475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1143000" y="4572000"/>
            <a:ext cx="6781800" cy="2209800"/>
          </a:xfrm>
        </p:spPr>
        <p:txBody>
          <a:bodyPr/>
          <a:lstStyle/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sz="2000"/>
              <a:t>R1: (Give Birth = no) </a:t>
            </a:r>
            <a:r>
              <a:rPr lang="en-US" sz="2000">
                <a:sym typeface="Symbol" pitchFamily="18" charset="2"/>
              </a:rPr>
              <a:t> (Can Fly = yes)  Birds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sz="2000"/>
              <a:t>R2: (Give Birth = no) </a:t>
            </a:r>
            <a:r>
              <a:rPr lang="en-US" sz="2000">
                <a:sym typeface="Symbol" pitchFamily="18" charset="2"/>
              </a:rPr>
              <a:t> (Live in Water = yes)  Fishes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sz="2000"/>
              <a:t>R3: (Give Birth = yes) </a:t>
            </a:r>
            <a:r>
              <a:rPr lang="en-US" sz="2000">
                <a:sym typeface="Symbol" pitchFamily="18" charset="2"/>
              </a:rPr>
              <a:t> (Blood Type = warm)  Mammals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sz="2000"/>
              <a:t>R4: (Give Birth = no) </a:t>
            </a:r>
            <a:r>
              <a:rPr lang="en-US" sz="2000">
                <a:sym typeface="Symbol" pitchFamily="18" charset="2"/>
              </a:rPr>
              <a:t> (Can Fly = no)  Reptiles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sz="2000"/>
              <a:t>R5: (Live in Water</a:t>
            </a:r>
            <a:r>
              <a:rPr lang="en-US" sz="2000">
                <a:sym typeface="Symbol" pitchFamily="18" charset="2"/>
              </a:rPr>
              <a:t> = sometimes)  Amphibians</a:t>
            </a:r>
            <a:endParaRPr lang="en-US" sz="1800">
              <a:sym typeface="Symbol" pitchFamily="18" charset="2"/>
            </a:endParaRPr>
          </a:p>
        </p:txBody>
      </p:sp>
      <p:pic>
        <p:nvPicPr>
          <p:cNvPr id="1002003" name="Picture 531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447800" y="1295400"/>
            <a:ext cx="5635625" cy="3200400"/>
          </a:xfrm>
          <a:noFill/>
          <a:ln/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05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Application of Rule-Based Classifier</a:t>
            </a:r>
          </a:p>
        </p:txBody>
      </p:sp>
      <p:sp>
        <p:nvSpPr>
          <p:cNvPr id="9605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 rule </a:t>
            </a:r>
            <a:r>
              <a:rPr lang="en-US" i="1"/>
              <a:t>r</a:t>
            </a:r>
            <a:r>
              <a:rPr lang="en-US"/>
              <a:t> </a:t>
            </a:r>
            <a:r>
              <a:rPr lang="en-US">
                <a:solidFill>
                  <a:srgbClr val="FF0000"/>
                </a:solidFill>
              </a:rPr>
              <a:t>covers</a:t>
            </a:r>
            <a:r>
              <a:rPr lang="en-US"/>
              <a:t> an instance </a:t>
            </a:r>
            <a:r>
              <a:rPr lang="en-US" b="1"/>
              <a:t>x </a:t>
            </a:r>
            <a:r>
              <a:rPr lang="en-US"/>
              <a:t>if the attributes of the instance satisfy the condition of the rule</a:t>
            </a:r>
          </a:p>
        </p:txBody>
      </p:sp>
      <p:sp>
        <p:nvSpPr>
          <p:cNvPr id="960517" name="Rectangle 5"/>
          <p:cNvSpPr>
            <a:spLocks noChangeArrowheads="1"/>
          </p:cNvSpPr>
          <p:nvPr/>
        </p:nvSpPr>
        <p:spPr bwMode="auto">
          <a:xfrm>
            <a:off x="762000" y="2362200"/>
            <a:ext cx="7543800" cy="18288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/>
          <a:lstStyle/>
          <a:p>
            <a:pPr marL="292100" indent="-2921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None/>
            </a:pPr>
            <a:r>
              <a:rPr lang="en-US" sz="1800" b="0"/>
              <a:t>R1: (Give Birth = no) </a:t>
            </a:r>
            <a:r>
              <a:rPr lang="en-US" sz="1800" b="0">
                <a:sym typeface="Symbol" pitchFamily="18" charset="2"/>
              </a:rPr>
              <a:t> (Can Fly = yes)  Birds</a:t>
            </a:r>
          </a:p>
          <a:p>
            <a:pPr marL="292100" indent="-2921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None/>
            </a:pPr>
            <a:r>
              <a:rPr lang="en-US" sz="1800" b="0"/>
              <a:t>R2: (Give Birth = no) </a:t>
            </a:r>
            <a:r>
              <a:rPr lang="en-US" sz="1800" b="0">
                <a:sym typeface="Symbol" pitchFamily="18" charset="2"/>
              </a:rPr>
              <a:t> (Live in Water = yes)  Fishes</a:t>
            </a:r>
          </a:p>
          <a:p>
            <a:pPr marL="292100" indent="-2921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None/>
            </a:pPr>
            <a:r>
              <a:rPr lang="en-US" sz="1800" b="0"/>
              <a:t>R3: (Give Birth = yes) </a:t>
            </a:r>
            <a:r>
              <a:rPr lang="en-US" sz="1800" b="0">
                <a:sym typeface="Symbol" pitchFamily="18" charset="2"/>
              </a:rPr>
              <a:t> (Blood Type = warm)  Mammals</a:t>
            </a:r>
          </a:p>
          <a:p>
            <a:pPr marL="292100" indent="-2921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None/>
            </a:pPr>
            <a:r>
              <a:rPr lang="en-US" sz="1800" b="0"/>
              <a:t>R4: (Give Birth = no) </a:t>
            </a:r>
            <a:r>
              <a:rPr lang="en-US" sz="1800" b="0">
                <a:sym typeface="Symbol" pitchFamily="18" charset="2"/>
              </a:rPr>
              <a:t> (Can Fly = no)  Reptiles</a:t>
            </a:r>
          </a:p>
          <a:p>
            <a:pPr marL="292100" indent="-2921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None/>
            </a:pPr>
            <a:r>
              <a:rPr lang="en-US" sz="1800" b="0"/>
              <a:t>R5: (Live in Water</a:t>
            </a:r>
            <a:r>
              <a:rPr lang="en-US" sz="1800" b="0">
                <a:sym typeface="Symbol" pitchFamily="18" charset="2"/>
              </a:rPr>
              <a:t> = sometimes)  Amphibians </a:t>
            </a:r>
          </a:p>
        </p:txBody>
      </p:sp>
      <p:sp>
        <p:nvSpPr>
          <p:cNvPr id="960518" name="Rectangle 6"/>
          <p:cNvSpPr>
            <a:spLocks noChangeArrowheads="1"/>
          </p:cNvSpPr>
          <p:nvPr/>
        </p:nvSpPr>
        <p:spPr bwMode="auto">
          <a:xfrm>
            <a:off x="838200" y="5410200"/>
            <a:ext cx="7391400" cy="9144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/>
          <a:lstStyle/>
          <a:p>
            <a:pPr marL="292100" indent="-2921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None/>
            </a:pPr>
            <a:r>
              <a:rPr lang="en-US" sz="1800" b="0"/>
              <a:t>The rule R1 covers a hawk =&gt; Bird</a:t>
            </a:r>
          </a:p>
          <a:p>
            <a:pPr marL="292100" indent="-2921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None/>
            </a:pPr>
            <a:r>
              <a:rPr lang="en-US" sz="1800" b="0"/>
              <a:t>The rule R3 covers the grizzly bear =&gt; Mammal</a:t>
            </a:r>
            <a:endParaRPr lang="en-US" sz="1800" b="0">
              <a:sym typeface="Symbol" pitchFamily="18" charset="2"/>
            </a:endParaRPr>
          </a:p>
        </p:txBody>
      </p:sp>
      <p:pic>
        <p:nvPicPr>
          <p:cNvPr id="960519" name="Picture 7"/>
          <p:cNvPicPr>
            <a:picLocks noGrp="1" noChangeAspect="1" noChangeArrowheads="1"/>
          </p:cNvPicPr>
          <p:nvPr>
            <p:ph sz="half" idx="4294967295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304800" y="4448175"/>
            <a:ext cx="8458200" cy="733425"/>
          </a:xfrm>
          <a:noFill/>
          <a:ln/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966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dirty="0">
                <a:solidFill>
                  <a:srgbClr val="FF0000"/>
                </a:solidFill>
              </a:rPr>
              <a:t>Example</a:t>
            </a:r>
            <a:r>
              <a:rPr lang="tr-TR" dirty="0"/>
              <a:t>: </a:t>
            </a:r>
            <a:r>
              <a:rPr lang="en-US" dirty="0"/>
              <a:t>How does Rule-based Classifier Work?</a:t>
            </a:r>
          </a:p>
        </p:txBody>
      </p:sp>
      <p:sp>
        <p:nvSpPr>
          <p:cNvPr id="1009668" name="Rectangle 4"/>
          <p:cNvSpPr>
            <a:spLocks noChangeArrowheads="1"/>
          </p:cNvSpPr>
          <p:nvPr/>
        </p:nvSpPr>
        <p:spPr bwMode="auto">
          <a:xfrm>
            <a:off x="838200" y="1143000"/>
            <a:ext cx="7543800" cy="18288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/>
          <a:lstStyle/>
          <a:p>
            <a:pPr marL="292100" indent="-2921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None/>
            </a:pPr>
            <a:r>
              <a:rPr lang="en-US" sz="1800" b="0"/>
              <a:t>R1: (Give Birth = no) </a:t>
            </a:r>
            <a:r>
              <a:rPr lang="en-US" sz="1800" b="0">
                <a:sym typeface="Symbol" pitchFamily="18" charset="2"/>
              </a:rPr>
              <a:t> (Can Fly = yes)  Birds</a:t>
            </a:r>
          </a:p>
          <a:p>
            <a:pPr marL="292100" indent="-2921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None/>
            </a:pPr>
            <a:r>
              <a:rPr lang="en-US" sz="1800" b="0"/>
              <a:t>R2: (Give Birth = no) </a:t>
            </a:r>
            <a:r>
              <a:rPr lang="en-US" sz="1800" b="0">
                <a:sym typeface="Symbol" pitchFamily="18" charset="2"/>
              </a:rPr>
              <a:t> (Live in Water = yes)  Fishes</a:t>
            </a:r>
          </a:p>
          <a:p>
            <a:pPr marL="292100" indent="-2921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None/>
            </a:pPr>
            <a:r>
              <a:rPr lang="en-US" sz="1800" b="0"/>
              <a:t>R3: (Give Birth = yes) </a:t>
            </a:r>
            <a:r>
              <a:rPr lang="en-US" sz="1800" b="0">
                <a:sym typeface="Symbol" pitchFamily="18" charset="2"/>
              </a:rPr>
              <a:t> (Blood Type = warm)  Mammals</a:t>
            </a:r>
          </a:p>
          <a:p>
            <a:pPr marL="292100" indent="-2921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None/>
            </a:pPr>
            <a:r>
              <a:rPr lang="en-US" sz="1800" b="0"/>
              <a:t>R4: (Give Birth = no) </a:t>
            </a:r>
            <a:r>
              <a:rPr lang="en-US" sz="1800" b="0">
                <a:sym typeface="Symbol" pitchFamily="18" charset="2"/>
              </a:rPr>
              <a:t> (Can Fly = no)  Reptiles</a:t>
            </a:r>
          </a:p>
          <a:p>
            <a:pPr marL="292100" indent="-2921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None/>
            </a:pPr>
            <a:r>
              <a:rPr lang="en-US" sz="1800" b="0"/>
              <a:t>R5: (Live in Water</a:t>
            </a:r>
            <a:r>
              <a:rPr lang="en-US" sz="1800" b="0">
                <a:sym typeface="Symbol" pitchFamily="18" charset="2"/>
              </a:rPr>
              <a:t> = sometimes)  Amphibians </a:t>
            </a:r>
          </a:p>
        </p:txBody>
      </p:sp>
      <p:sp>
        <p:nvSpPr>
          <p:cNvPr id="1009671" name="Rectangle 7"/>
          <p:cNvSpPr>
            <a:spLocks noChangeArrowheads="1"/>
          </p:cNvSpPr>
          <p:nvPr/>
        </p:nvSpPr>
        <p:spPr bwMode="auto">
          <a:xfrm>
            <a:off x="685800" y="4724400"/>
            <a:ext cx="7467600" cy="12954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/>
          <a:lstStyle/>
          <a:p>
            <a:pPr marL="292100" indent="-2921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None/>
            </a:pPr>
            <a:r>
              <a:rPr lang="en-US" sz="1800" b="0" dirty="0"/>
              <a:t>A lemur triggers rule R3, so it is classified as a mammal</a:t>
            </a:r>
          </a:p>
          <a:p>
            <a:pPr marL="292100" indent="-2921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None/>
            </a:pPr>
            <a:r>
              <a:rPr lang="en-US" sz="1800" b="0" dirty="0"/>
              <a:t>A turtle triggers both R4 and R5</a:t>
            </a:r>
            <a:r>
              <a:rPr lang="tr-TR" sz="1800" b="0" dirty="0"/>
              <a:t> </a:t>
            </a:r>
            <a:r>
              <a:rPr lang="tr-TR" sz="1800" b="0" dirty="0">
                <a:solidFill>
                  <a:srgbClr val="FF0000"/>
                </a:solidFill>
              </a:rPr>
              <a:t>(PROBLEM!!)</a:t>
            </a:r>
            <a:endParaRPr lang="en-US" sz="1800" b="0" dirty="0">
              <a:solidFill>
                <a:srgbClr val="FF0000"/>
              </a:solidFill>
            </a:endParaRPr>
          </a:p>
          <a:p>
            <a:pPr marL="292100" indent="-2921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None/>
            </a:pPr>
            <a:r>
              <a:rPr lang="en-US" sz="1800" b="0" dirty="0"/>
              <a:t>A dogfish shark triggers none of the rules</a:t>
            </a:r>
            <a:r>
              <a:rPr lang="tr-TR" sz="1800" b="0" dirty="0"/>
              <a:t> </a:t>
            </a:r>
            <a:r>
              <a:rPr lang="tr-TR" dirty="0">
                <a:solidFill>
                  <a:srgbClr val="FF0000"/>
                </a:solidFill>
              </a:rPr>
              <a:t>(PROBLEM!!)</a:t>
            </a:r>
            <a:endParaRPr lang="en-US" sz="1800" b="0" dirty="0">
              <a:solidFill>
                <a:srgbClr val="FF0000"/>
              </a:solidFill>
              <a:sym typeface="Symbol" pitchFamily="18" charset="2"/>
            </a:endParaRPr>
          </a:p>
        </p:txBody>
      </p:sp>
      <p:pic>
        <p:nvPicPr>
          <p:cNvPr id="1009676" name="Picture 1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381000" y="3352800"/>
            <a:ext cx="8296275" cy="965200"/>
          </a:xfrm>
          <a:noFill/>
          <a:ln/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99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Ordered Rule Set</a:t>
            </a:r>
          </a:p>
        </p:txBody>
      </p:sp>
      <p:sp>
        <p:nvSpPr>
          <p:cNvPr id="10199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Rules are rank ordered according to their priority</a:t>
            </a:r>
          </a:p>
          <a:p>
            <a:pPr lvl="1"/>
            <a:r>
              <a:rPr lang="en-US" sz="2000" dirty="0"/>
              <a:t>An ordered rule set is known as a decision list</a:t>
            </a:r>
          </a:p>
          <a:p>
            <a:r>
              <a:rPr lang="en-US" dirty="0"/>
              <a:t>When a test record is presented to the classifier </a:t>
            </a:r>
          </a:p>
          <a:p>
            <a:pPr lvl="1"/>
            <a:r>
              <a:rPr lang="en-US" sz="2000" dirty="0"/>
              <a:t>It is assigned to the class label of the </a:t>
            </a:r>
            <a:r>
              <a:rPr lang="en-US" sz="2000" dirty="0">
                <a:solidFill>
                  <a:srgbClr val="FF0000"/>
                </a:solidFill>
              </a:rPr>
              <a:t>highest ranked rule it has triggered</a:t>
            </a:r>
          </a:p>
          <a:p>
            <a:pPr lvl="1"/>
            <a:r>
              <a:rPr lang="en-US" sz="2000" dirty="0"/>
              <a:t>If none of the rules fired, it is assigned to the default class</a:t>
            </a:r>
          </a:p>
        </p:txBody>
      </p:sp>
      <p:sp>
        <p:nvSpPr>
          <p:cNvPr id="1019908" name="Rectangle 4"/>
          <p:cNvSpPr>
            <a:spLocks noChangeArrowheads="1"/>
          </p:cNvSpPr>
          <p:nvPr/>
        </p:nvSpPr>
        <p:spPr bwMode="auto">
          <a:xfrm>
            <a:off x="1447800" y="3886200"/>
            <a:ext cx="6172200" cy="1828800"/>
          </a:xfrm>
          <a:prstGeom prst="rect">
            <a:avLst/>
          </a:prstGeom>
          <a:noFill/>
          <a:ln w="12700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lIns="90488" tIns="44450" rIns="90488" bIns="44450"/>
          <a:lstStyle/>
          <a:p>
            <a:pPr marL="292100" indent="-2921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None/>
            </a:pPr>
            <a:r>
              <a:rPr lang="en-US" sz="1800" b="0"/>
              <a:t>R1: (Give Birth = no) </a:t>
            </a:r>
            <a:r>
              <a:rPr lang="en-US" sz="1800" b="0">
                <a:sym typeface="Symbol" pitchFamily="18" charset="2"/>
              </a:rPr>
              <a:t> (Can Fly = yes)  Birds</a:t>
            </a:r>
          </a:p>
          <a:p>
            <a:pPr marL="292100" indent="-2921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None/>
            </a:pPr>
            <a:r>
              <a:rPr lang="en-US" sz="1800" b="0"/>
              <a:t>R2: (Give Birth = no) </a:t>
            </a:r>
            <a:r>
              <a:rPr lang="en-US" sz="1800" b="0">
                <a:sym typeface="Symbol" pitchFamily="18" charset="2"/>
              </a:rPr>
              <a:t> (Live in Water = yes)  Fishes</a:t>
            </a:r>
          </a:p>
          <a:p>
            <a:pPr marL="292100" indent="-2921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None/>
            </a:pPr>
            <a:r>
              <a:rPr lang="en-US" sz="1800" b="0"/>
              <a:t>R3: (Give Birth = yes) </a:t>
            </a:r>
            <a:r>
              <a:rPr lang="en-US" sz="1800" b="0">
                <a:sym typeface="Symbol" pitchFamily="18" charset="2"/>
              </a:rPr>
              <a:t> (Blood Type = warm)  Mammals</a:t>
            </a:r>
          </a:p>
          <a:p>
            <a:pPr marL="292100" indent="-2921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None/>
            </a:pPr>
            <a:r>
              <a:rPr lang="en-US" sz="1800" b="0"/>
              <a:t>R4: (Give Birth = no) </a:t>
            </a:r>
            <a:r>
              <a:rPr lang="en-US" sz="1800" b="0">
                <a:sym typeface="Symbol" pitchFamily="18" charset="2"/>
              </a:rPr>
              <a:t> (Can Fly = no)  Reptiles</a:t>
            </a:r>
          </a:p>
          <a:p>
            <a:pPr marL="292100" indent="-2921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None/>
            </a:pPr>
            <a:r>
              <a:rPr lang="en-US" sz="1800" b="0"/>
              <a:t>R5: (Live in Water</a:t>
            </a:r>
            <a:r>
              <a:rPr lang="en-US" sz="1800" b="0">
                <a:sym typeface="Symbol" pitchFamily="18" charset="2"/>
              </a:rPr>
              <a:t> = sometimes)  Amphibians </a:t>
            </a:r>
          </a:p>
        </p:txBody>
      </p:sp>
      <p:pic>
        <p:nvPicPr>
          <p:cNvPr id="1019976" name="Picture 72"/>
          <p:cNvPicPr>
            <a:picLocks noGrp="1" noChangeAspect="1" noChangeArrowheads="1"/>
          </p:cNvPicPr>
          <p:nvPr>
            <p:ph sz="half" idx="4294967295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609600" y="5864225"/>
            <a:ext cx="8001000" cy="460375"/>
          </a:xfrm>
          <a:noFill/>
          <a:ln/>
        </p:spPr>
      </p:pic>
      <p:sp>
        <p:nvSpPr>
          <p:cNvPr id="1019978" name="Line 74"/>
          <p:cNvSpPr>
            <a:spLocks noChangeShapeType="1"/>
          </p:cNvSpPr>
          <p:nvPr/>
        </p:nvSpPr>
        <p:spPr bwMode="auto">
          <a:xfrm flipH="1">
            <a:off x="838200" y="5105400"/>
            <a:ext cx="533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tr-TR"/>
          </a:p>
        </p:txBody>
      </p:sp>
      <p:sp>
        <p:nvSpPr>
          <p:cNvPr id="1019979" name="Line 75"/>
          <p:cNvSpPr>
            <a:spLocks noChangeShapeType="1"/>
          </p:cNvSpPr>
          <p:nvPr/>
        </p:nvSpPr>
        <p:spPr bwMode="auto">
          <a:xfrm>
            <a:off x="838200" y="5105400"/>
            <a:ext cx="0" cy="762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tr-TR"/>
          </a:p>
        </p:txBody>
      </p:sp>
      <p:sp>
        <p:nvSpPr>
          <p:cNvPr id="1019980" name="Line 76"/>
          <p:cNvSpPr>
            <a:spLocks noChangeShapeType="1"/>
          </p:cNvSpPr>
          <p:nvPr/>
        </p:nvSpPr>
        <p:spPr bwMode="auto">
          <a:xfrm flipH="1">
            <a:off x="1066800" y="5486400"/>
            <a:ext cx="304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tr-TR"/>
          </a:p>
        </p:txBody>
      </p:sp>
      <p:sp>
        <p:nvSpPr>
          <p:cNvPr id="1019981" name="Line 77"/>
          <p:cNvSpPr>
            <a:spLocks noChangeShapeType="1"/>
          </p:cNvSpPr>
          <p:nvPr/>
        </p:nvSpPr>
        <p:spPr bwMode="auto">
          <a:xfrm>
            <a:off x="1066800" y="5486400"/>
            <a:ext cx="0" cy="381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tr-TR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29386-3FBE-481E-B6F5-4554EC3282A2}" type="datetime4">
              <a:rPr lang="en-US"/>
              <a:pPr/>
              <a:t>October 1, 2026</a:t>
            </a:fld>
            <a:endParaRPr lang="en-US"/>
          </a:p>
        </p:txBody>
      </p:sp>
      <p:sp>
        <p:nvSpPr>
          <p:cNvPr id="3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Mining: Concepts and Techniques</a:t>
            </a:r>
          </a:p>
        </p:txBody>
      </p:sp>
      <p:sp>
        <p:nvSpPr>
          <p:cNvPr id="3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B11D4B-B582-4273-936B-15F071658B4C}" type="slidenum">
              <a:rPr lang="en-US"/>
              <a:pPr/>
              <a:t>29</a:t>
            </a:fld>
            <a:endParaRPr lang="en-US"/>
          </a:p>
        </p:txBody>
      </p:sp>
      <p:grpSp>
        <p:nvGrpSpPr>
          <p:cNvPr id="2" name="Group 59"/>
          <p:cNvGrpSpPr>
            <a:grpSpLocks/>
          </p:cNvGrpSpPr>
          <p:nvPr/>
        </p:nvGrpSpPr>
        <p:grpSpPr bwMode="auto">
          <a:xfrm>
            <a:off x="5900738" y="838200"/>
            <a:ext cx="3319462" cy="1981200"/>
            <a:chOff x="3504" y="144"/>
            <a:chExt cx="2091" cy="1248"/>
          </a:xfrm>
        </p:grpSpPr>
        <p:sp>
          <p:nvSpPr>
            <p:cNvPr id="1856546" name="Rectangle 34"/>
            <p:cNvSpPr>
              <a:spLocks noChangeArrowheads="1"/>
            </p:cNvSpPr>
            <p:nvPr/>
          </p:nvSpPr>
          <p:spPr bwMode="auto">
            <a:xfrm>
              <a:off x="4272" y="144"/>
              <a:ext cx="336" cy="200"/>
            </a:xfrm>
            <a:prstGeom prst="rect">
              <a:avLst/>
            </a:prstGeom>
            <a:solidFill>
              <a:srgbClr val="00CC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lIns="92075" tIns="46038" rIns="92075" bIns="46038">
              <a:spAutoFit/>
            </a:bodyPr>
            <a:lstStyle/>
            <a:p>
              <a:pPr algn="ctr" eaLnBrk="0" hangingPunct="0"/>
              <a:r>
                <a:rPr lang="en-US" sz="1400">
                  <a:latin typeface="Times New Roman" pitchFamily="18" charset="0"/>
                </a:rPr>
                <a:t>age?</a:t>
              </a:r>
            </a:p>
          </p:txBody>
        </p:sp>
        <p:grpSp>
          <p:nvGrpSpPr>
            <p:cNvPr id="3" name="Group 58"/>
            <p:cNvGrpSpPr>
              <a:grpSpLocks/>
            </p:cNvGrpSpPr>
            <p:nvPr/>
          </p:nvGrpSpPr>
          <p:grpSpPr bwMode="auto">
            <a:xfrm>
              <a:off x="3504" y="290"/>
              <a:ext cx="2091" cy="1102"/>
              <a:chOff x="3504" y="144"/>
              <a:chExt cx="2091" cy="1102"/>
            </a:xfrm>
          </p:grpSpPr>
          <p:sp>
            <p:nvSpPr>
              <p:cNvPr id="1856548" name="Rectangle 36"/>
              <p:cNvSpPr>
                <a:spLocks noChangeArrowheads="1"/>
              </p:cNvSpPr>
              <p:nvPr/>
            </p:nvSpPr>
            <p:spPr bwMode="auto">
              <a:xfrm>
                <a:off x="3717" y="528"/>
                <a:ext cx="498" cy="200"/>
              </a:xfrm>
              <a:prstGeom prst="rect">
                <a:avLst/>
              </a:prstGeom>
              <a:solidFill>
                <a:srgbClr val="00FFCC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>
                <a:spAutoFit/>
              </a:bodyPr>
              <a:lstStyle/>
              <a:p>
                <a:pPr algn="ctr" eaLnBrk="0" hangingPunct="0"/>
                <a:r>
                  <a:rPr lang="en-US" sz="1400">
                    <a:latin typeface="Times New Roman" pitchFamily="18" charset="0"/>
                  </a:rPr>
                  <a:t>student?</a:t>
                </a:r>
              </a:p>
            </p:txBody>
          </p:sp>
          <p:sp>
            <p:nvSpPr>
              <p:cNvPr id="1856549" name="Rectangle 37"/>
              <p:cNvSpPr>
                <a:spLocks noChangeArrowheads="1"/>
              </p:cNvSpPr>
              <p:nvPr/>
            </p:nvSpPr>
            <p:spPr bwMode="auto">
              <a:xfrm>
                <a:off x="4824" y="528"/>
                <a:ext cx="718" cy="200"/>
              </a:xfrm>
              <a:prstGeom prst="rect">
                <a:avLst/>
              </a:prstGeom>
              <a:solidFill>
                <a:srgbClr val="99CC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>
                <a:spAutoFit/>
              </a:bodyPr>
              <a:lstStyle/>
              <a:p>
                <a:pPr algn="ctr" eaLnBrk="0" hangingPunct="0"/>
                <a:r>
                  <a:rPr lang="en-US" sz="1400">
                    <a:latin typeface="Times New Roman" pitchFamily="18" charset="0"/>
                  </a:rPr>
                  <a:t>credit rating?</a:t>
                </a:r>
              </a:p>
            </p:txBody>
          </p:sp>
          <p:sp>
            <p:nvSpPr>
              <p:cNvPr id="1856550" name="Line 38"/>
              <p:cNvSpPr>
                <a:spLocks noChangeShapeType="1"/>
              </p:cNvSpPr>
              <p:nvPr/>
            </p:nvSpPr>
            <p:spPr bwMode="auto">
              <a:xfrm flipH="1">
                <a:off x="3971" y="155"/>
                <a:ext cx="317" cy="416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tr-TR"/>
              </a:p>
            </p:txBody>
          </p:sp>
          <p:sp>
            <p:nvSpPr>
              <p:cNvPr id="1856551" name="Line 39"/>
              <p:cNvSpPr>
                <a:spLocks noChangeShapeType="1"/>
              </p:cNvSpPr>
              <p:nvPr/>
            </p:nvSpPr>
            <p:spPr bwMode="auto">
              <a:xfrm flipH="1">
                <a:off x="4481" y="169"/>
                <a:ext cx="0" cy="172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tr-TR"/>
              </a:p>
            </p:txBody>
          </p:sp>
          <p:sp>
            <p:nvSpPr>
              <p:cNvPr id="1856552" name="Line 40"/>
              <p:cNvSpPr>
                <a:spLocks noChangeShapeType="1"/>
              </p:cNvSpPr>
              <p:nvPr/>
            </p:nvSpPr>
            <p:spPr bwMode="auto">
              <a:xfrm>
                <a:off x="4636" y="144"/>
                <a:ext cx="534" cy="447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tr-TR"/>
              </a:p>
            </p:txBody>
          </p:sp>
          <p:sp>
            <p:nvSpPr>
              <p:cNvPr id="1856553" name="Rectangle 41"/>
              <p:cNvSpPr>
                <a:spLocks noChangeArrowheads="1"/>
              </p:cNvSpPr>
              <p:nvPr/>
            </p:nvSpPr>
            <p:spPr bwMode="auto">
              <a:xfrm>
                <a:off x="3889" y="288"/>
                <a:ext cx="330" cy="181"/>
              </a:xfrm>
              <a:prstGeom prst="rect">
                <a:avLst/>
              </a:prstGeom>
              <a:solidFill>
                <a:srgbClr val="FFFF00"/>
              </a:solidFill>
              <a:ln w="12700">
                <a:solidFill>
                  <a:schemeClr val="bg1"/>
                </a:solidFill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>
                <a:spAutoFit/>
              </a:bodyPr>
              <a:lstStyle/>
              <a:p>
                <a:pPr algn="ctr" eaLnBrk="0" hangingPunct="0"/>
                <a:r>
                  <a:rPr lang="en-US" sz="1200" b="1">
                    <a:latin typeface="Times New Roman" pitchFamily="18" charset="0"/>
                  </a:rPr>
                  <a:t>&lt;=30</a:t>
                </a:r>
                <a:endParaRPr lang="en-US" sz="1200">
                  <a:latin typeface="Times New Roman" pitchFamily="18" charset="0"/>
                </a:endParaRPr>
              </a:p>
            </p:txBody>
          </p:sp>
          <p:sp>
            <p:nvSpPr>
              <p:cNvPr id="1856554" name="Rectangle 42"/>
              <p:cNvSpPr>
                <a:spLocks noChangeArrowheads="1"/>
              </p:cNvSpPr>
              <p:nvPr/>
            </p:nvSpPr>
            <p:spPr bwMode="auto">
              <a:xfrm>
                <a:off x="4828" y="325"/>
                <a:ext cx="267" cy="173"/>
              </a:xfrm>
              <a:prstGeom prst="rect">
                <a:avLst/>
              </a:prstGeom>
              <a:solidFill>
                <a:srgbClr val="FFFF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>
                <a:spAutoFit/>
              </a:bodyPr>
              <a:lstStyle/>
              <a:p>
                <a:pPr algn="ctr" eaLnBrk="0" hangingPunct="0"/>
                <a:r>
                  <a:rPr lang="en-US" sz="1200" b="1">
                    <a:latin typeface="Times New Roman" pitchFamily="18" charset="0"/>
                  </a:rPr>
                  <a:t>&gt;40</a:t>
                </a:r>
                <a:endParaRPr lang="en-US" sz="1200">
                  <a:latin typeface="Times New Roman" pitchFamily="18" charset="0"/>
                </a:endParaRPr>
              </a:p>
            </p:txBody>
          </p:sp>
          <p:sp>
            <p:nvSpPr>
              <p:cNvPr id="1856555" name="Line 43"/>
              <p:cNvSpPr>
                <a:spLocks noChangeShapeType="1"/>
              </p:cNvSpPr>
              <p:nvPr/>
            </p:nvSpPr>
            <p:spPr bwMode="auto">
              <a:xfrm flipH="1">
                <a:off x="3636" y="743"/>
                <a:ext cx="268" cy="311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tr-TR"/>
              </a:p>
            </p:txBody>
          </p:sp>
          <p:sp>
            <p:nvSpPr>
              <p:cNvPr id="1856556" name="Line 44"/>
              <p:cNvSpPr>
                <a:spLocks noChangeShapeType="1"/>
              </p:cNvSpPr>
              <p:nvPr/>
            </p:nvSpPr>
            <p:spPr bwMode="auto">
              <a:xfrm>
                <a:off x="4026" y="743"/>
                <a:ext cx="244" cy="311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tr-TR"/>
              </a:p>
            </p:txBody>
          </p:sp>
          <p:sp>
            <p:nvSpPr>
              <p:cNvPr id="1856557" name="Line 45"/>
              <p:cNvSpPr>
                <a:spLocks noChangeShapeType="1"/>
              </p:cNvSpPr>
              <p:nvPr/>
            </p:nvSpPr>
            <p:spPr bwMode="auto">
              <a:xfrm flipH="1">
                <a:off x="4856" y="743"/>
                <a:ext cx="244" cy="287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tr-TR"/>
              </a:p>
            </p:txBody>
          </p:sp>
          <p:sp>
            <p:nvSpPr>
              <p:cNvPr id="1856558" name="Line 46"/>
              <p:cNvSpPr>
                <a:spLocks noChangeShapeType="1"/>
              </p:cNvSpPr>
              <p:nvPr/>
            </p:nvSpPr>
            <p:spPr bwMode="auto">
              <a:xfrm>
                <a:off x="5246" y="743"/>
                <a:ext cx="220" cy="287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tr-TR"/>
              </a:p>
            </p:txBody>
          </p:sp>
          <p:sp>
            <p:nvSpPr>
              <p:cNvPr id="1856559" name="Line 47"/>
              <p:cNvSpPr>
                <a:spLocks noChangeShapeType="1"/>
              </p:cNvSpPr>
              <p:nvPr/>
            </p:nvSpPr>
            <p:spPr bwMode="auto">
              <a:xfrm>
                <a:off x="4481" y="438"/>
                <a:ext cx="0" cy="138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tr-TR"/>
              </a:p>
            </p:txBody>
          </p:sp>
          <p:sp>
            <p:nvSpPr>
              <p:cNvPr id="1856560" name="Rectangle 48"/>
              <p:cNvSpPr>
                <a:spLocks noChangeArrowheads="1"/>
              </p:cNvSpPr>
              <p:nvPr/>
            </p:nvSpPr>
            <p:spPr bwMode="auto">
              <a:xfrm>
                <a:off x="3504" y="1054"/>
                <a:ext cx="228" cy="192"/>
              </a:xfrm>
              <a:prstGeom prst="rect">
                <a:avLst/>
              </a:prstGeom>
              <a:solidFill>
                <a:srgbClr val="FFCC99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>
                <a:spAutoFit/>
              </a:bodyPr>
              <a:lstStyle/>
              <a:p>
                <a:pPr algn="ctr" eaLnBrk="0" hangingPunct="0"/>
                <a:r>
                  <a:rPr lang="en-US" sz="1400">
                    <a:latin typeface="Times New Roman" pitchFamily="18" charset="0"/>
                  </a:rPr>
                  <a:t>no</a:t>
                </a:r>
              </a:p>
            </p:txBody>
          </p:sp>
          <p:sp>
            <p:nvSpPr>
              <p:cNvPr id="1856561" name="Rectangle 49"/>
              <p:cNvSpPr>
                <a:spLocks noChangeArrowheads="1"/>
              </p:cNvSpPr>
              <p:nvPr/>
            </p:nvSpPr>
            <p:spPr bwMode="auto">
              <a:xfrm>
                <a:off x="4139" y="1054"/>
                <a:ext cx="266" cy="192"/>
              </a:xfrm>
              <a:prstGeom prst="rect">
                <a:avLst/>
              </a:prstGeom>
              <a:solidFill>
                <a:srgbClr val="00FF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>
                <a:spAutoFit/>
              </a:bodyPr>
              <a:lstStyle/>
              <a:p>
                <a:pPr algn="ctr" eaLnBrk="0" hangingPunct="0"/>
                <a:r>
                  <a:rPr lang="en-US" sz="1400">
                    <a:latin typeface="Times New Roman" pitchFamily="18" charset="0"/>
                  </a:rPr>
                  <a:t>yes</a:t>
                </a:r>
              </a:p>
            </p:txBody>
          </p:sp>
          <p:sp>
            <p:nvSpPr>
              <p:cNvPr id="1856562" name="Rectangle 50"/>
              <p:cNvSpPr>
                <a:spLocks noChangeArrowheads="1"/>
              </p:cNvSpPr>
              <p:nvPr/>
            </p:nvSpPr>
            <p:spPr bwMode="auto">
              <a:xfrm>
                <a:off x="5329" y="1030"/>
                <a:ext cx="266" cy="192"/>
              </a:xfrm>
              <a:prstGeom prst="rect">
                <a:avLst/>
              </a:prstGeom>
              <a:solidFill>
                <a:srgbClr val="00FF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>
                <a:spAutoFit/>
              </a:bodyPr>
              <a:lstStyle/>
              <a:p>
                <a:pPr algn="ctr" eaLnBrk="0" hangingPunct="0"/>
                <a:r>
                  <a:rPr lang="en-US" sz="1400">
                    <a:latin typeface="Times New Roman" pitchFamily="18" charset="0"/>
                  </a:rPr>
                  <a:t>yes</a:t>
                </a:r>
              </a:p>
            </p:txBody>
          </p:sp>
          <p:sp>
            <p:nvSpPr>
              <p:cNvPr id="1856563" name="Rectangle 51"/>
              <p:cNvSpPr>
                <a:spLocks noChangeArrowheads="1"/>
              </p:cNvSpPr>
              <p:nvPr/>
            </p:nvSpPr>
            <p:spPr bwMode="auto">
              <a:xfrm>
                <a:off x="4348" y="595"/>
                <a:ext cx="266" cy="192"/>
              </a:xfrm>
              <a:prstGeom prst="rect">
                <a:avLst/>
              </a:prstGeom>
              <a:solidFill>
                <a:srgbClr val="00FF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>
                <a:spAutoFit/>
              </a:bodyPr>
              <a:lstStyle/>
              <a:p>
                <a:pPr algn="ctr" eaLnBrk="0" hangingPunct="0"/>
                <a:r>
                  <a:rPr lang="en-US" sz="1400">
                    <a:latin typeface="Times New Roman" pitchFamily="18" charset="0"/>
                  </a:rPr>
                  <a:t>yes</a:t>
                </a:r>
              </a:p>
            </p:txBody>
          </p:sp>
          <p:sp>
            <p:nvSpPr>
              <p:cNvPr id="1856564" name="Rectangle 52"/>
              <p:cNvSpPr>
                <a:spLocks noChangeArrowheads="1"/>
              </p:cNvSpPr>
              <p:nvPr/>
            </p:nvSpPr>
            <p:spPr bwMode="auto">
              <a:xfrm>
                <a:off x="4295" y="335"/>
                <a:ext cx="341" cy="96"/>
              </a:xfrm>
              <a:prstGeom prst="rect">
                <a:avLst/>
              </a:prstGeom>
              <a:solidFill>
                <a:srgbClr val="FFFF00"/>
              </a:solidFill>
              <a:ln w="12700">
                <a:noFill/>
                <a:miter lim="800000"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pPr algn="ctr" eaLnBrk="0" hangingPunct="0"/>
                <a:r>
                  <a:rPr lang="en-US" sz="1200" b="1">
                    <a:latin typeface="Times New Roman" pitchFamily="18" charset="0"/>
                  </a:rPr>
                  <a:t>31..40</a:t>
                </a:r>
                <a:endParaRPr lang="en-US" sz="1200">
                  <a:latin typeface="Times New Roman" pitchFamily="18" charset="0"/>
                </a:endParaRPr>
              </a:p>
            </p:txBody>
          </p:sp>
          <p:sp>
            <p:nvSpPr>
              <p:cNvPr id="1856565" name="Rectangle 53"/>
              <p:cNvSpPr>
                <a:spLocks noChangeArrowheads="1"/>
              </p:cNvSpPr>
              <p:nvPr/>
            </p:nvSpPr>
            <p:spPr bwMode="auto">
              <a:xfrm rot="-143156">
                <a:off x="4723" y="1030"/>
                <a:ext cx="228" cy="192"/>
              </a:xfrm>
              <a:prstGeom prst="rect">
                <a:avLst/>
              </a:prstGeom>
              <a:solidFill>
                <a:srgbClr val="FFCC99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>
                <a:spAutoFit/>
              </a:bodyPr>
              <a:lstStyle/>
              <a:p>
                <a:pPr algn="ctr" eaLnBrk="0" hangingPunct="0"/>
                <a:r>
                  <a:rPr lang="en-US" sz="1400">
                    <a:latin typeface="Times New Roman" pitchFamily="18" charset="0"/>
                  </a:rPr>
                  <a:t>no</a:t>
                </a:r>
              </a:p>
            </p:txBody>
          </p:sp>
          <p:sp>
            <p:nvSpPr>
              <p:cNvPr id="1856566" name="Rectangle 54"/>
              <p:cNvSpPr>
                <a:spLocks noChangeArrowheads="1"/>
              </p:cNvSpPr>
              <p:nvPr/>
            </p:nvSpPr>
            <p:spPr bwMode="auto">
              <a:xfrm>
                <a:off x="5242" y="815"/>
                <a:ext cx="250" cy="173"/>
              </a:xfrm>
              <a:prstGeom prst="rect">
                <a:avLst/>
              </a:prstGeom>
              <a:solidFill>
                <a:srgbClr val="FFFF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>
                <a:spAutoFit/>
              </a:bodyPr>
              <a:lstStyle/>
              <a:p>
                <a:pPr algn="ctr" eaLnBrk="0" hangingPunct="0"/>
                <a:r>
                  <a:rPr lang="en-US" sz="1200">
                    <a:latin typeface="Times New Roman" pitchFamily="18" charset="0"/>
                  </a:rPr>
                  <a:t>fair</a:t>
                </a:r>
              </a:p>
            </p:txBody>
          </p:sp>
          <p:sp>
            <p:nvSpPr>
              <p:cNvPr id="1856567" name="Rectangle 55"/>
              <p:cNvSpPr>
                <a:spLocks noChangeArrowheads="1"/>
              </p:cNvSpPr>
              <p:nvPr/>
            </p:nvSpPr>
            <p:spPr bwMode="auto">
              <a:xfrm>
                <a:off x="4682" y="815"/>
                <a:ext cx="465" cy="173"/>
              </a:xfrm>
              <a:prstGeom prst="rect">
                <a:avLst/>
              </a:prstGeom>
              <a:solidFill>
                <a:srgbClr val="FFFF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>
                <a:spAutoFit/>
              </a:bodyPr>
              <a:lstStyle/>
              <a:p>
                <a:pPr algn="ctr" eaLnBrk="0" hangingPunct="0"/>
                <a:r>
                  <a:rPr lang="en-US" sz="1200">
                    <a:latin typeface="Times New Roman" pitchFamily="18" charset="0"/>
                  </a:rPr>
                  <a:t>excellent</a:t>
                </a:r>
              </a:p>
            </p:txBody>
          </p:sp>
          <p:sp>
            <p:nvSpPr>
              <p:cNvPr id="1856568" name="Rectangle 56"/>
              <p:cNvSpPr>
                <a:spLocks noChangeArrowheads="1"/>
              </p:cNvSpPr>
              <p:nvPr/>
            </p:nvSpPr>
            <p:spPr bwMode="auto">
              <a:xfrm>
                <a:off x="4070" y="839"/>
                <a:ext cx="244" cy="173"/>
              </a:xfrm>
              <a:prstGeom prst="rect">
                <a:avLst/>
              </a:prstGeom>
              <a:solidFill>
                <a:srgbClr val="FFFF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>
                <a:spAutoFit/>
              </a:bodyPr>
              <a:lstStyle/>
              <a:p>
                <a:pPr algn="ctr" eaLnBrk="0" hangingPunct="0"/>
                <a:r>
                  <a:rPr lang="en-US" sz="1200">
                    <a:latin typeface="Times New Roman" pitchFamily="18" charset="0"/>
                  </a:rPr>
                  <a:t>yes</a:t>
                </a:r>
              </a:p>
            </p:txBody>
          </p:sp>
          <p:sp>
            <p:nvSpPr>
              <p:cNvPr id="1856569" name="Rectangle 57"/>
              <p:cNvSpPr>
                <a:spLocks noChangeArrowheads="1"/>
              </p:cNvSpPr>
              <p:nvPr/>
            </p:nvSpPr>
            <p:spPr bwMode="auto">
              <a:xfrm>
                <a:off x="3637" y="839"/>
                <a:ext cx="218" cy="173"/>
              </a:xfrm>
              <a:prstGeom prst="rect">
                <a:avLst/>
              </a:prstGeom>
              <a:solidFill>
                <a:srgbClr val="FFFF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lIns="92075" tIns="46038" rIns="92075" bIns="46038">
                <a:spAutoFit/>
              </a:bodyPr>
              <a:lstStyle/>
              <a:p>
                <a:pPr algn="ctr" eaLnBrk="0" hangingPunct="0"/>
                <a:r>
                  <a:rPr lang="en-US" sz="1200">
                    <a:latin typeface="Times New Roman" pitchFamily="18" charset="0"/>
                  </a:rPr>
                  <a:t>no</a:t>
                </a:r>
              </a:p>
            </p:txBody>
          </p:sp>
        </p:grpSp>
      </p:grpSp>
      <p:sp>
        <p:nvSpPr>
          <p:cNvPr id="18565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3962400"/>
            <a:ext cx="8763000" cy="2362200"/>
          </a:xfrm>
        </p:spPr>
        <p:txBody>
          <a:bodyPr>
            <a:normAutofit lnSpcReduction="10000"/>
          </a:bodyPr>
          <a:lstStyle/>
          <a:p>
            <a:pPr>
              <a:lnSpc>
                <a:spcPct val="120000"/>
              </a:lnSpc>
            </a:pPr>
            <a:r>
              <a:rPr lang="en-US" sz="1800"/>
              <a:t>Example: Rule extraction from our </a:t>
            </a:r>
            <a:r>
              <a:rPr lang="en-US" sz="1800" i="1"/>
              <a:t>buys_computer</a:t>
            </a:r>
            <a:r>
              <a:rPr lang="en-US" sz="1800"/>
              <a:t> decision-tree</a:t>
            </a:r>
          </a:p>
          <a:p>
            <a:pPr lvl="1">
              <a:lnSpc>
                <a:spcPct val="120000"/>
              </a:lnSpc>
              <a:spcBef>
                <a:spcPct val="40000"/>
              </a:spcBef>
              <a:buFont typeface="Wingdings" pitchFamily="2" charset="2"/>
              <a:buNone/>
            </a:pPr>
            <a:r>
              <a:rPr lang="en-US" sz="1800"/>
              <a:t>IF </a:t>
            </a:r>
            <a:r>
              <a:rPr lang="en-US" sz="1800" i="1"/>
              <a:t>age</a:t>
            </a:r>
            <a:r>
              <a:rPr lang="en-US" sz="1800"/>
              <a:t> = young AND </a:t>
            </a:r>
            <a:r>
              <a:rPr lang="en-US" sz="1800" i="1"/>
              <a:t>student</a:t>
            </a:r>
            <a:r>
              <a:rPr lang="en-US" sz="1800"/>
              <a:t> = </a:t>
            </a:r>
            <a:r>
              <a:rPr lang="en-US" sz="1800" i="1"/>
              <a:t>no</a:t>
            </a:r>
            <a:r>
              <a:rPr lang="en-US" sz="1800"/>
              <a:t>             THEN </a:t>
            </a:r>
            <a:r>
              <a:rPr lang="en-US" sz="1800" i="1"/>
              <a:t>buys_computer</a:t>
            </a:r>
            <a:r>
              <a:rPr lang="en-US" sz="1800"/>
              <a:t> = </a:t>
            </a:r>
            <a:r>
              <a:rPr lang="en-US" sz="1800" i="1"/>
              <a:t>no</a:t>
            </a:r>
            <a:endParaRPr lang="en-US" sz="1800"/>
          </a:p>
          <a:p>
            <a:pPr lvl="1">
              <a:lnSpc>
                <a:spcPct val="120000"/>
              </a:lnSpc>
              <a:buFont typeface="Wingdings" pitchFamily="2" charset="2"/>
              <a:buNone/>
            </a:pPr>
            <a:r>
              <a:rPr lang="en-US" sz="1800"/>
              <a:t>IF </a:t>
            </a:r>
            <a:r>
              <a:rPr lang="en-US" sz="1800" i="1"/>
              <a:t>age</a:t>
            </a:r>
            <a:r>
              <a:rPr lang="en-US" sz="1800"/>
              <a:t> = young AND </a:t>
            </a:r>
            <a:r>
              <a:rPr lang="en-US" sz="1800" i="1"/>
              <a:t>student</a:t>
            </a:r>
            <a:r>
              <a:rPr lang="en-US" sz="1800"/>
              <a:t> = </a:t>
            </a:r>
            <a:r>
              <a:rPr lang="en-US" sz="1800" i="1"/>
              <a:t>yes</a:t>
            </a:r>
            <a:r>
              <a:rPr lang="en-US" sz="1800"/>
              <a:t>            THEN </a:t>
            </a:r>
            <a:r>
              <a:rPr lang="en-US" sz="1800" i="1"/>
              <a:t>buys_computer</a:t>
            </a:r>
            <a:r>
              <a:rPr lang="en-US" sz="1800"/>
              <a:t> = </a:t>
            </a:r>
            <a:r>
              <a:rPr lang="en-US" sz="1800" i="1"/>
              <a:t>yes</a:t>
            </a:r>
            <a:endParaRPr lang="en-US" sz="1800"/>
          </a:p>
          <a:p>
            <a:pPr lvl="1">
              <a:lnSpc>
                <a:spcPct val="120000"/>
              </a:lnSpc>
              <a:buFont typeface="Wingdings" pitchFamily="2" charset="2"/>
              <a:buNone/>
            </a:pPr>
            <a:r>
              <a:rPr lang="en-US" sz="1800"/>
              <a:t>IF </a:t>
            </a:r>
            <a:r>
              <a:rPr lang="en-US" sz="1800" i="1"/>
              <a:t>age</a:t>
            </a:r>
            <a:r>
              <a:rPr lang="en-US" sz="1800"/>
              <a:t> = mid-age 			    THEN </a:t>
            </a:r>
            <a:r>
              <a:rPr lang="en-US" sz="1800" i="1"/>
              <a:t>buys_computer</a:t>
            </a:r>
            <a:r>
              <a:rPr lang="en-US" sz="1800"/>
              <a:t> = </a:t>
            </a:r>
            <a:r>
              <a:rPr lang="en-US" sz="1800" i="1"/>
              <a:t>yes</a:t>
            </a:r>
            <a:endParaRPr lang="en-US" sz="1800"/>
          </a:p>
          <a:p>
            <a:pPr lvl="1">
              <a:lnSpc>
                <a:spcPct val="120000"/>
              </a:lnSpc>
              <a:buFont typeface="Wingdings" pitchFamily="2" charset="2"/>
              <a:buNone/>
            </a:pPr>
            <a:r>
              <a:rPr lang="en-US" sz="1800"/>
              <a:t>IF </a:t>
            </a:r>
            <a:r>
              <a:rPr lang="en-US" sz="1800" i="1"/>
              <a:t>age</a:t>
            </a:r>
            <a:r>
              <a:rPr lang="en-US" sz="1800"/>
              <a:t> = old AND </a:t>
            </a:r>
            <a:r>
              <a:rPr lang="en-US" sz="1800" i="1"/>
              <a:t>credit_rating</a:t>
            </a:r>
            <a:r>
              <a:rPr lang="en-US" sz="1800"/>
              <a:t> = </a:t>
            </a:r>
            <a:r>
              <a:rPr lang="en-US" sz="1800" i="1"/>
              <a:t>excellent</a:t>
            </a:r>
            <a:r>
              <a:rPr lang="en-US" sz="1800"/>
              <a:t>  THEN </a:t>
            </a:r>
            <a:r>
              <a:rPr lang="en-US" sz="1800" i="1"/>
              <a:t>buys_computer </a:t>
            </a:r>
            <a:r>
              <a:rPr lang="en-US" sz="1800"/>
              <a:t>= </a:t>
            </a:r>
            <a:r>
              <a:rPr lang="en-US" sz="1800" i="1"/>
              <a:t>yes</a:t>
            </a:r>
            <a:endParaRPr lang="en-US" sz="1800"/>
          </a:p>
          <a:p>
            <a:pPr lvl="1">
              <a:lnSpc>
                <a:spcPct val="120000"/>
              </a:lnSpc>
              <a:buFont typeface="Wingdings" pitchFamily="2" charset="2"/>
              <a:buNone/>
            </a:pPr>
            <a:r>
              <a:rPr lang="en-US" sz="1800"/>
              <a:t>IF </a:t>
            </a:r>
            <a:r>
              <a:rPr lang="en-US" sz="1800" i="1"/>
              <a:t>age</a:t>
            </a:r>
            <a:r>
              <a:rPr lang="en-US" sz="1800"/>
              <a:t> = young AND </a:t>
            </a:r>
            <a:r>
              <a:rPr lang="en-US" sz="1800" i="1"/>
              <a:t>credit_rating</a:t>
            </a:r>
            <a:r>
              <a:rPr lang="en-US" sz="1800"/>
              <a:t> = </a:t>
            </a:r>
            <a:r>
              <a:rPr lang="en-US" sz="1800" i="1"/>
              <a:t>fair</a:t>
            </a:r>
            <a:r>
              <a:rPr lang="en-US" sz="1800"/>
              <a:t>     THEN </a:t>
            </a:r>
            <a:r>
              <a:rPr lang="en-US" sz="1800" i="1"/>
              <a:t>buys_computer</a:t>
            </a:r>
            <a:r>
              <a:rPr lang="en-US" sz="1800"/>
              <a:t> = </a:t>
            </a:r>
            <a:r>
              <a:rPr lang="en-US" sz="1800" i="1"/>
              <a:t>no</a:t>
            </a:r>
          </a:p>
        </p:txBody>
      </p:sp>
      <p:sp>
        <p:nvSpPr>
          <p:cNvPr id="1856514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304800"/>
            <a:ext cx="8783638" cy="609600"/>
          </a:xfrm>
        </p:spPr>
        <p:txBody>
          <a:bodyPr/>
          <a:lstStyle/>
          <a:p>
            <a:r>
              <a:rPr lang="en-US" sz="3200"/>
              <a:t>Rule Extraction from a Decision Tree</a:t>
            </a:r>
          </a:p>
        </p:txBody>
      </p:sp>
      <p:sp>
        <p:nvSpPr>
          <p:cNvPr id="1856572" name="Rectangle 60"/>
          <p:cNvSpPr>
            <a:spLocks noChangeArrowheads="1"/>
          </p:cNvSpPr>
          <p:nvPr/>
        </p:nvSpPr>
        <p:spPr bwMode="auto">
          <a:xfrm>
            <a:off x="228600" y="1447800"/>
            <a:ext cx="6096000" cy="2667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</a:pPr>
            <a:r>
              <a:rPr lang="en-US" sz="2000"/>
              <a:t>Rules are easier to understand than large trees</a:t>
            </a:r>
          </a:p>
          <a:p>
            <a:pPr marL="342900" indent="-342900"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</a:pPr>
            <a:r>
              <a:rPr lang="en-US" sz="2000"/>
              <a:t>One rule is created for each path from the root to a leaf</a:t>
            </a:r>
          </a:p>
          <a:p>
            <a:pPr marL="342900" indent="-342900"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</a:pPr>
            <a:r>
              <a:rPr lang="en-US" sz="2000"/>
              <a:t>Each attribute-value pair along a path forms a conjunction: the leaf holds the class prediction </a:t>
            </a:r>
          </a:p>
          <a:p>
            <a:pPr marL="342900" indent="-342900"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</a:pPr>
            <a:r>
              <a:rPr lang="en-US" sz="2000"/>
              <a:t>Rules are mutually exclusive and exhaustive</a:t>
            </a:r>
          </a:p>
        </p:txBody>
      </p:sp>
    </p:spTree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15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From Decision Trees To Rules</a:t>
            </a:r>
          </a:p>
        </p:txBody>
      </p:sp>
      <p:graphicFrame>
        <p:nvGraphicFramePr>
          <p:cNvPr id="961539" name="Object 3"/>
          <p:cNvGraphicFramePr>
            <a:graphicFrameLocks noChangeAspect="1"/>
          </p:cNvGraphicFramePr>
          <p:nvPr/>
        </p:nvGraphicFramePr>
        <p:xfrm>
          <a:off x="76200" y="1905000"/>
          <a:ext cx="4060825" cy="325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4060440" imgH="3251880" progId="">
                  <p:embed/>
                </p:oleObj>
              </mc:Choice>
              <mc:Fallback>
                <p:oleObj name="VISIO" r:id="rId2" imgW="4060440" imgH="3251880" progId="">
                  <p:embed/>
                  <p:pic>
                    <p:nvPicPr>
                      <p:cNvPr id="961539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" y="1905000"/>
                        <a:ext cx="4060825" cy="3251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1540" name="Object 4"/>
          <p:cNvGraphicFramePr>
            <a:graphicFrameLocks noChangeAspect="1"/>
          </p:cNvGraphicFramePr>
          <p:nvPr/>
        </p:nvGraphicFramePr>
        <p:xfrm>
          <a:off x="5029200" y="1295400"/>
          <a:ext cx="3944938" cy="2879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5088240" imgH="3716640" progId="">
                  <p:embed/>
                </p:oleObj>
              </mc:Choice>
              <mc:Fallback>
                <p:oleObj name="VISIO" r:id="rId4" imgW="5088240" imgH="3716640" progId="">
                  <p:embed/>
                  <p:pic>
                    <p:nvPicPr>
                      <p:cNvPr id="96154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9200" y="1295400"/>
                        <a:ext cx="3944938" cy="2879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61541" name="Line 5"/>
          <p:cNvSpPr>
            <a:spLocks noChangeShapeType="1"/>
          </p:cNvSpPr>
          <p:nvPr/>
        </p:nvSpPr>
        <p:spPr bwMode="auto">
          <a:xfrm>
            <a:off x="4191000" y="2667000"/>
            <a:ext cx="609600" cy="0"/>
          </a:xfrm>
          <a:prstGeom prst="line">
            <a:avLst/>
          </a:prstGeom>
          <a:noFill/>
          <a:ln w="31750">
            <a:solidFill>
              <a:srgbClr val="CC33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tr-TR"/>
          </a:p>
        </p:txBody>
      </p:sp>
      <p:sp>
        <p:nvSpPr>
          <p:cNvPr id="961542" name="Text Box 6"/>
          <p:cNvSpPr txBox="1">
            <a:spLocks noChangeArrowheads="1"/>
          </p:cNvSpPr>
          <p:nvPr/>
        </p:nvSpPr>
        <p:spPr bwMode="auto">
          <a:xfrm>
            <a:off x="3810000" y="4876800"/>
            <a:ext cx="5181600" cy="10541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800"/>
              <a:t>Rules are mutually exclusive and exhaustive</a:t>
            </a:r>
          </a:p>
          <a:p>
            <a:pPr>
              <a:spcBef>
                <a:spcPct val="50000"/>
              </a:spcBef>
            </a:pPr>
            <a:r>
              <a:rPr lang="en-US" sz="1800"/>
              <a:t>Rule set contains as much information as the tree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56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Building Classification Rules</a:t>
            </a:r>
          </a:p>
        </p:txBody>
      </p:sp>
      <p:sp>
        <p:nvSpPr>
          <p:cNvPr id="9656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Direct Method: </a:t>
            </a:r>
          </a:p>
          <a:p>
            <a:pPr lvl="2"/>
            <a:r>
              <a:rPr lang="en-US" dirty="0"/>
              <a:t> Extract rules directly from data</a:t>
            </a:r>
            <a:endParaRPr lang="tr-TR" dirty="0"/>
          </a:p>
          <a:p>
            <a:pPr lvl="2"/>
            <a:r>
              <a:rPr lang="tr-TR" dirty="0"/>
              <a:t>Sequential Covering</a:t>
            </a:r>
            <a:endParaRPr lang="en-US" dirty="0"/>
          </a:p>
          <a:p>
            <a:pPr lvl="2"/>
            <a:r>
              <a:rPr lang="en-US" dirty="0"/>
              <a:t> e.g.: RIPPER, CN2, </a:t>
            </a:r>
            <a:r>
              <a:rPr lang="en-US" dirty="0" err="1"/>
              <a:t>Holte’s</a:t>
            </a:r>
            <a:r>
              <a:rPr lang="en-US" dirty="0"/>
              <a:t> 1R</a:t>
            </a:r>
          </a:p>
          <a:p>
            <a:pPr lvl="1"/>
            <a:endParaRPr lang="en-US" dirty="0"/>
          </a:p>
          <a:p>
            <a:r>
              <a:rPr lang="en-US" dirty="0"/>
              <a:t>Indirect Method:</a:t>
            </a:r>
          </a:p>
          <a:p>
            <a:pPr lvl="2"/>
            <a:r>
              <a:rPr lang="en-US" dirty="0"/>
              <a:t> Extract rules from other classification models (e.g. </a:t>
            </a:r>
            <a:br>
              <a:rPr lang="en-US" dirty="0"/>
            </a:br>
            <a:r>
              <a:rPr lang="en-US" dirty="0"/>
              <a:t>   decision trees, neural networks, etc).</a:t>
            </a:r>
          </a:p>
          <a:p>
            <a:pPr lvl="2"/>
            <a:r>
              <a:rPr lang="en-US" dirty="0"/>
              <a:t> </a:t>
            </a:r>
            <a:r>
              <a:rPr lang="en-US" dirty="0" err="1"/>
              <a:t>e.g</a:t>
            </a:r>
            <a:r>
              <a:rPr lang="en-US" dirty="0"/>
              <a:t>: C4.5rules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2018" name="Rectangle 307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Advantages of Rule-Based Classifiers</a:t>
            </a:r>
          </a:p>
        </p:txBody>
      </p:sp>
      <p:sp>
        <p:nvSpPr>
          <p:cNvPr id="982019" name="Rectangle 3075"/>
          <p:cNvSpPr>
            <a:spLocks noGrp="1" noChangeArrowheads="1"/>
          </p:cNvSpPr>
          <p:nvPr>
            <p:ph type="body" idx="1"/>
          </p:nvPr>
        </p:nvSpPr>
        <p:spPr>
          <a:xfrm>
            <a:off x="457200" y="2057400"/>
            <a:ext cx="8229600" cy="3429000"/>
          </a:xfrm>
        </p:spPr>
        <p:txBody>
          <a:bodyPr/>
          <a:lstStyle/>
          <a:p>
            <a:r>
              <a:rPr lang="en-US" dirty="0"/>
              <a:t>As highly expressive as decision trees</a:t>
            </a:r>
          </a:p>
          <a:p>
            <a:r>
              <a:rPr lang="en-US" dirty="0"/>
              <a:t>Easy to interpret</a:t>
            </a:r>
          </a:p>
          <a:p>
            <a:r>
              <a:rPr lang="en-US" dirty="0"/>
              <a:t>Easy to generate</a:t>
            </a:r>
          </a:p>
          <a:p>
            <a:r>
              <a:rPr lang="en-US" dirty="0"/>
              <a:t>Can classify new instances rapidly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dirty="0"/>
              <a:t>QUESTIONS</a:t>
            </a:r>
            <a:br>
              <a:rPr lang="tr-TR" dirty="0"/>
            </a:br>
            <a:endParaRPr lang="tr-TR" dirty="0"/>
          </a:p>
        </p:txBody>
      </p:sp>
      <p:pic>
        <p:nvPicPr>
          <p:cNvPr id="6861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70462" y="1219200"/>
            <a:ext cx="8059163" cy="4933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450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2819400"/>
            <a:ext cx="8534400" cy="1143000"/>
          </a:xfrm>
        </p:spPr>
        <p:txBody>
          <a:bodyPr>
            <a:normAutofit fontScale="90000"/>
          </a:bodyPr>
          <a:lstStyle/>
          <a:p>
            <a:pPr algn="ctr">
              <a:lnSpc>
                <a:spcPct val="110000"/>
              </a:lnSpc>
            </a:pPr>
            <a:br>
              <a:rPr lang="tr-TR" sz="2800" dirty="0"/>
            </a:br>
            <a:r>
              <a:rPr lang="tr-TR" sz="2800" dirty="0"/>
              <a:t>ISE 350 DATA WAREHOUSING AND DATA MINING </a:t>
            </a:r>
            <a:br>
              <a:rPr lang="tr-TR" sz="2800" dirty="0"/>
            </a:br>
            <a:br>
              <a:rPr lang="tr-TR" sz="2800" dirty="0"/>
            </a:br>
            <a:r>
              <a:rPr lang="tr-TR" sz="2800" dirty="0"/>
              <a:t>Classification Techniques:</a:t>
            </a:r>
            <a:br>
              <a:rPr lang="tr-TR" sz="2800" dirty="0"/>
            </a:br>
            <a:r>
              <a:rPr lang="tr-TR" sz="2800" dirty="0"/>
              <a:t> </a:t>
            </a:r>
            <a:r>
              <a:rPr lang="tr-TR" sz="2800" b="1" dirty="0"/>
              <a:t>k Nearest Neighbor Algorithm</a:t>
            </a:r>
            <a:br>
              <a:rPr lang="tr-TR" sz="3200" dirty="0"/>
            </a:br>
            <a:endParaRPr lang="en-US" sz="1800" dirty="0">
              <a:latin typeface="Berlin Sans FB Demi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43800" y="6356350"/>
            <a:ext cx="1600200" cy="365760"/>
          </a:xfrm>
        </p:spPr>
        <p:txBody>
          <a:bodyPr/>
          <a:lstStyle/>
          <a:p>
            <a:fld id="{3F186295-6529-444A-BE4B-892EE4A4A542}" type="datetime4">
              <a:rPr lang="en-US"/>
              <a:pPr/>
              <a:t>October 1, 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62000" y="6324600"/>
            <a:ext cx="6705600" cy="365760"/>
          </a:xfrm>
        </p:spPr>
        <p:txBody>
          <a:bodyPr/>
          <a:lstStyle/>
          <a:p>
            <a:r>
              <a:rPr lang="de-DE" dirty="0"/>
              <a:t>©2006 Jiawei Han and Micheline Kamber. </a:t>
            </a:r>
            <a:r>
              <a:rPr lang="en-US" dirty="0"/>
              <a:t>Data Mining: Concepts and Techniques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46992-076A-40B2-9CF1-4C365E6F1FD7}" type="slidenum">
              <a:rPr lang="en-US"/>
              <a:pPr/>
              <a:t>34</a:t>
            </a:fld>
            <a:endParaRPr lang="en-US"/>
          </a:p>
        </p:txBody>
      </p:sp>
    </p:spTree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dirty="0"/>
              <a:t>CLASSIFICATION TECHNIQUES</a:t>
            </a:r>
            <a:br>
              <a:rPr lang="tr-TR" dirty="0"/>
            </a:b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81600"/>
          </a:xfrm>
        </p:spPr>
        <p:txBody>
          <a:bodyPr/>
          <a:lstStyle/>
          <a:p>
            <a:r>
              <a:rPr lang="tr-TR" dirty="0"/>
              <a:t>Classification is about </a:t>
            </a:r>
            <a:r>
              <a:rPr lang="tr-TR" dirty="0">
                <a:solidFill>
                  <a:srgbClr val="FF0000"/>
                </a:solidFill>
              </a:rPr>
              <a:t>determining the class of a given record </a:t>
            </a:r>
            <a:r>
              <a:rPr lang="tr-TR" dirty="0"/>
              <a:t>by applying a classification model.</a:t>
            </a:r>
          </a:p>
          <a:p>
            <a:r>
              <a:rPr lang="tr-TR" dirty="0"/>
              <a:t>Classification Techniques:</a:t>
            </a:r>
          </a:p>
          <a:p>
            <a:pPr lvl="1">
              <a:lnSpc>
                <a:spcPct val="115000"/>
              </a:lnSpc>
              <a:spcAft>
                <a:spcPts val="1000"/>
              </a:spcAft>
            </a:pPr>
            <a:r>
              <a:rPr lang="en-GB" sz="2500" dirty="0">
                <a:latin typeface="Calibri"/>
                <a:ea typeface="Calibri"/>
                <a:cs typeface="Times New Roman"/>
              </a:rPr>
              <a:t>1. Decision Trees (e.g. ID3, C4.5, C5.5(j48))</a:t>
            </a:r>
            <a:endParaRPr lang="tr-TR" sz="2500" dirty="0">
              <a:latin typeface="Calibri"/>
              <a:ea typeface="Calibri"/>
              <a:cs typeface="Times New Roman"/>
            </a:endParaRPr>
          </a:p>
          <a:p>
            <a:pPr lvl="1">
              <a:lnSpc>
                <a:spcPct val="115000"/>
              </a:lnSpc>
              <a:spcAft>
                <a:spcPts val="1000"/>
              </a:spcAft>
            </a:pPr>
            <a:r>
              <a:rPr lang="en-GB" sz="2500" dirty="0">
                <a:latin typeface="Calibri"/>
                <a:ea typeface="Calibri"/>
                <a:cs typeface="Times New Roman"/>
              </a:rPr>
              <a:t>2. Rule Based Algorithms</a:t>
            </a:r>
            <a:endParaRPr lang="tr-TR" sz="2500" dirty="0">
              <a:latin typeface="Calibri"/>
              <a:ea typeface="Calibri"/>
              <a:cs typeface="Times New Roman"/>
            </a:endParaRPr>
          </a:p>
          <a:p>
            <a:pPr lvl="1">
              <a:lnSpc>
                <a:spcPct val="115000"/>
              </a:lnSpc>
              <a:spcAft>
                <a:spcPts val="1000"/>
              </a:spcAft>
            </a:pPr>
            <a:r>
              <a:rPr lang="en-GB" sz="2500" dirty="0">
                <a:solidFill>
                  <a:srgbClr val="FF0000"/>
                </a:solidFill>
                <a:latin typeface="Calibri"/>
                <a:ea typeface="Calibri"/>
                <a:cs typeface="Times New Roman"/>
              </a:rPr>
              <a:t>3. K- Nearest </a:t>
            </a:r>
            <a:r>
              <a:rPr lang="en-GB" sz="2500" dirty="0" err="1">
                <a:solidFill>
                  <a:srgbClr val="FF0000"/>
                </a:solidFill>
                <a:latin typeface="Calibri"/>
                <a:ea typeface="Calibri"/>
                <a:cs typeface="Times New Roman"/>
              </a:rPr>
              <a:t>Neighbor</a:t>
            </a:r>
            <a:r>
              <a:rPr lang="en-GB" sz="2500" dirty="0">
                <a:solidFill>
                  <a:srgbClr val="FF0000"/>
                </a:solidFill>
                <a:latin typeface="Calibri"/>
                <a:ea typeface="Calibri"/>
                <a:cs typeface="Times New Roman"/>
              </a:rPr>
              <a:t> Algorithm</a:t>
            </a:r>
            <a:endParaRPr lang="tr-TR" sz="2500" dirty="0">
              <a:solidFill>
                <a:srgbClr val="FF0000"/>
              </a:solidFill>
              <a:latin typeface="Calibri"/>
              <a:ea typeface="Calibri"/>
              <a:cs typeface="Times New Roman"/>
            </a:endParaRPr>
          </a:p>
          <a:p>
            <a:pPr lvl="1">
              <a:lnSpc>
                <a:spcPct val="115000"/>
              </a:lnSpc>
              <a:spcAft>
                <a:spcPts val="1000"/>
              </a:spcAft>
            </a:pPr>
            <a:r>
              <a:rPr lang="en-GB" sz="2200" dirty="0">
                <a:latin typeface="Calibri"/>
                <a:ea typeface="Calibri"/>
                <a:cs typeface="Times New Roman"/>
              </a:rPr>
              <a:t>4. Bayesian Classifier</a:t>
            </a:r>
            <a:endParaRPr lang="tr-TR" sz="2200" dirty="0">
              <a:latin typeface="Calibri"/>
              <a:ea typeface="Calibri"/>
              <a:cs typeface="Times New Roman"/>
            </a:endParaRPr>
          </a:p>
          <a:p>
            <a:pPr lvl="1">
              <a:lnSpc>
                <a:spcPct val="115000"/>
              </a:lnSpc>
              <a:spcAft>
                <a:spcPts val="1000"/>
              </a:spcAft>
            </a:pPr>
            <a:r>
              <a:rPr lang="en-GB" sz="2500" dirty="0">
                <a:latin typeface="Calibri"/>
                <a:ea typeface="Calibri"/>
                <a:cs typeface="Times New Roman"/>
              </a:rPr>
              <a:t>5. ANN (Artificial Neural Nets)</a:t>
            </a:r>
            <a:endParaRPr lang="tr-TR" sz="2500" dirty="0">
              <a:latin typeface="Calibri"/>
              <a:ea typeface="Calibri"/>
              <a:cs typeface="Times New Roman"/>
            </a:endParaRPr>
          </a:p>
          <a:p>
            <a:endParaRPr lang="tr-TR" dirty="0"/>
          </a:p>
          <a:p>
            <a:endParaRPr lang="tr-TR" dirty="0"/>
          </a:p>
          <a:p>
            <a:pPr>
              <a:buNone/>
            </a:pPr>
            <a:endParaRPr lang="tr-TR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Lazy vs. Eager Learning</a:t>
            </a:r>
            <a:br>
              <a:rPr lang="tr-TR" dirty="0"/>
            </a:b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lvl="1">
              <a:lnSpc>
                <a:spcPct val="90000"/>
              </a:lnSpc>
            </a:pPr>
            <a:r>
              <a:rPr lang="en-US" sz="2600" dirty="0">
                <a:solidFill>
                  <a:srgbClr val="FF0000"/>
                </a:solidFill>
              </a:rPr>
              <a:t>Eager learning </a:t>
            </a:r>
            <a:r>
              <a:rPr lang="en-US" sz="2600" dirty="0">
                <a:solidFill>
                  <a:schemeClr val="tx1"/>
                </a:solidFill>
              </a:rPr>
              <a:t>(</a:t>
            </a:r>
            <a:r>
              <a:rPr lang="tr-TR" sz="2600" dirty="0">
                <a:solidFill>
                  <a:schemeClr val="tx1"/>
                </a:solidFill>
              </a:rPr>
              <a:t>decision trees &amp; rule based classifiers</a:t>
            </a:r>
            <a:r>
              <a:rPr lang="en-US" sz="2600" dirty="0">
                <a:solidFill>
                  <a:schemeClr val="tx1"/>
                </a:solidFill>
              </a:rPr>
              <a:t>): Given a set of training set, constructs a classification model before receiving new (e.g., test) data to classify</a:t>
            </a:r>
            <a:endParaRPr lang="tr-TR" sz="2600" dirty="0">
              <a:solidFill>
                <a:schemeClr val="tx1"/>
              </a:solidFill>
            </a:endParaRPr>
          </a:p>
          <a:p>
            <a:pPr lvl="1">
              <a:lnSpc>
                <a:spcPct val="90000"/>
              </a:lnSpc>
            </a:pPr>
            <a:r>
              <a:rPr lang="tr-TR" sz="2600" dirty="0">
                <a:solidFill>
                  <a:schemeClr val="tx1"/>
                </a:solidFill>
              </a:rPr>
              <a:t>Eager leaners spend bulk of their resources in model development. Classifying a test sample is fast.</a:t>
            </a:r>
          </a:p>
          <a:p>
            <a:pPr lvl="1">
              <a:lnSpc>
                <a:spcPct val="90000"/>
              </a:lnSpc>
              <a:buNone/>
            </a:pPr>
            <a:endParaRPr lang="tr-TR" sz="2600" dirty="0">
              <a:solidFill>
                <a:schemeClr val="tx1"/>
              </a:solidFill>
            </a:endParaRPr>
          </a:p>
          <a:p>
            <a:pPr lvl="1">
              <a:lnSpc>
                <a:spcPct val="90000"/>
              </a:lnSpc>
            </a:pPr>
            <a:r>
              <a:rPr lang="en-US" sz="2600" dirty="0">
                <a:solidFill>
                  <a:srgbClr val="FF0000"/>
                </a:solidFill>
              </a:rPr>
              <a:t>Lazy learning</a:t>
            </a:r>
            <a:r>
              <a:rPr lang="tr-TR" sz="2600" dirty="0">
                <a:solidFill>
                  <a:srgbClr val="FF0000"/>
                </a:solidFill>
              </a:rPr>
              <a:t>:</a:t>
            </a:r>
            <a:r>
              <a:rPr lang="en-US" sz="2600" dirty="0">
                <a:solidFill>
                  <a:srgbClr val="FF0000"/>
                </a:solidFill>
              </a:rPr>
              <a:t> </a:t>
            </a:r>
            <a:r>
              <a:rPr lang="en-US" sz="2600" dirty="0">
                <a:solidFill>
                  <a:schemeClr val="tx1"/>
                </a:solidFill>
              </a:rPr>
              <a:t>(</a:t>
            </a:r>
            <a:r>
              <a:rPr lang="tr-TR" sz="2600" dirty="0">
                <a:solidFill>
                  <a:schemeClr val="tx1"/>
                </a:solidFill>
              </a:rPr>
              <a:t>learning from neighbors- </a:t>
            </a:r>
            <a:r>
              <a:rPr lang="en-US" sz="2600" dirty="0">
                <a:solidFill>
                  <a:schemeClr val="tx1"/>
                </a:solidFill>
              </a:rPr>
              <a:t>e.g., instance-based learning): Simply stores training data</a:t>
            </a:r>
            <a:r>
              <a:rPr lang="tr-TR" sz="2600" dirty="0">
                <a:solidFill>
                  <a:schemeClr val="tx1"/>
                </a:solidFill>
              </a:rPr>
              <a:t> a</a:t>
            </a:r>
            <a:r>
              <a:rPr lang="en-US" sz="2600" dirty="0" err="1">
                <a:solidFill>
                  <a:schemeClr val="tx1"/>
                </a:solidFill>
              </a:rPr>
              <a:t>nd</a:t>
            </a:r>
            <a:r>
              <a:rPr lang="en-US" sz="2600" dirty="0">
                <a:solidFill>
                  <a:schemeClr val="tx1"/>
                </a:solidFill>
              </a:rPr>
              <a:t> waits until it is given a test </a:t>
            </a:r>
            <a:r>
              <a:rPr lang="en-US" sz="2600" dirty="0" err="1">
                <a:solidFill>
                  <a:schemeClr val="tx1"/>
                </a:solidFill>
              </a:rPr>
              <a:t>tuple</a:t>
            </a:r>
            <a:r>
              <a:rPr lang="tr-TR" sz="2600" dirty="0">
                <a:solidFill>
                  <a:schemeClr val="tx1"/>
                </a:solidFill>
              </a:rPr>
              <a:t>.</a:t>
            </a:r>
          </a:p>
          <a:p>
            <a:pPr lvl="1">
              <a:lnSpc>
                <a:spcPct val="90000"/>
              </a:lnSpc>
              <a:buNone/>
            </a:pPr>
            <a:endParaRPr lang="en-US" sz="2600" dirty="0">
              <a:solidFill>
                <a:schemeClr val="tx1"/>
              </a:solidFill>
            </a:endParaRPr>
          </a:p>
          <a:p>
            <a:pPr>
              <a:lnSpc>
                <a:spcPct val="90000"/>
              </a:lnSpc>
            </a:pPr>
            <a:r>
              <a:rPr lang="en-US" sz="2400" dirty="0"/>
              <a:t>Lazy: </a:t>
            </a:r>
            <a:r>
              <a:rPr lang="tr-TR" sz="2400" dirty="0"/>
              <a:t> </a:t>
            </a:r>
            <a:r>
              <a:rPr lang="en-US" sz="2400" dirty="0"/>
              <a:t>less time in training but more time in predicting</a:t>
            </a:r>
          </a:p>
          <a:p>
            <a:pPr>
              <a:buNone/>
            </a:pPr>
            <a:endParaRPr lang="tr-TR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369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Lazy Learner: Instance Based Classifiers</a:t>
            </a:r>
            <a:br>
              <a:rPr lang="tr-TR" dirty="0"/>
            </a:br>
            <a:endParaRPr lang="en-US" dirty="0"/>
          </a:p>
        </p:txBody>
      </p:sp>
      <p:sp>
        <p:nvSpPr>
          <p:cNvPr id="10536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Examples: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Nearest neighbor</a:t>
            </a:r>
          </a:p>
          <a:p>
            <a:pPr lvl="2"/>
            <a:r>
              <a:rPr lang="tr-TR" dirty="0"/>
              <a:t>Find training samples that are relatively similar to the attributes of test example.</a:t>
            </a:r>
            <a:r>
              <a:rPr lang="en-US" dirty="0"/>
              <a:t> </a:t>
            </a:r>
            <a:endParaRPr lang="tr-TR" dirty="0"/>
          </a:p>
          <a:p>
            <a:pPr lvl="2"/>
            <a:r>
              <a:rPr lang="en-US" dirty="0"/>
              <a:t>Uses k “closest” points (nearest neighbors) for performing classification</a:t>
            </a:r>
          </a:p>
          <a:p>
            <a:pPr lvl="2">
              <a:buFont typeface="Wingdings" pitchFamily="2" charset="2"/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2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Instance-Based Classifiers</a:t>
            </a:r>
          </a:p>
        </p:txBody>
      </p:sp>
      <p:graphicFrame>
        <p:nvGraphicFramePr>
          <p:cNvPr id="1052675" name="Object 3"/>
          <p:cNvGraphicFramePr>
            <a:graphicFrameLocks noChangeAspect="1"/>
          </p:cNvGraphicFramePr>
          <p:nvPr/>
        </p:nvGraphicFramePr>
        <p:xfrm>
          <a:off x="228600" y="1066800"/>
          <a:ext cx="4572000" cy="5303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4571640" imgH="5304600" progId="">
                  <p:embed/>
                </p:oleObj>
              </mc:Choice>
              <mc:Fallback>
                <p:oleObj name="VISIO" r:id="rId2" imgW="4571640" imgH="5304600" progId="">
                  <p:embed/>
                  <p:pic>
                    <p:nvPicPr>
                      <p:cNvPr id="1052675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1066800"/>
                        <a:ext cx="4572000" cy="5303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2676" name="Object 4"/>
          <p:cNvGraphicFramePr>
            <a:graphicFrameLocks noChangeAspect="1"/>
          </p:cNvGraphicFramePr>
          <p:nvPr/>
        </p:nvGraphicFramePr>
        <p:xfrm>
          <a:off x="4114800" y="2989263"/>
          <a:ext cx="2209800" cy="2420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2782440" imgH="2637360" progId="">
                  <p:embed/>
                </p:oleObj>
              </mc:Choice>
              <mc:Fallback>
                <p:oleObj name="VISIO" r:id="rId4" imgW="2782440" imgH="2637360" progId="">
                  <p:embed/>
                  <p:pic>
                    <p:nvPicPr>
                      <p:cNvPr id="105267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0" y="2989263"/>
                        <a:ext cx="2209800" cy="2420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2677" name="Object 5"/>
          <p:cNvGraphicFramePr>
            <a:graphicFrameLocks noChangeAspect="1"/>
          </p:cNvGraphicFramePr>
          <p:nvPr/>
        </p:nvGraphicFramePr>
        <p:xfrm>
          <a:off x="6096000" y="3352800"/>
          <a:ext cx="3227388" cy="2033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6" imgW="3227400" imgH="2032920" progId="">
                  <p:embed/>
                </p:oleObj>
              </mc:Choice>
              <mc:Fallback>
                <p:oleObj name="VISIO" r:id="rId6" imgW="3227400" imgH="2032920" progId="">
                  <p:embed/>
                  <p:pic>
                    <p:nvPicPr>
                      <p:cNvPr id="1052677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0" y="3352800"/>
                        <a:ext cx="3227388" cy="2033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52678" name="Text Box 6"/>
          <p:cNvSpPr txBox="1">
            <a:spLocks noChangeArrowheads="1"/>
          </p:cNvSpPr>
          <p:nvPr/>
        </p:nvSpPr>
        <p:spPr bwMode="auto">
          <a:xfrm>
            <a:off x="5334000" y="1371600"/>
            <a:ext cx="3581400" cy="13287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Tx/>
              <a:buChar char="•"/>
            </a:pPr>
            <a:r>
              <a:rPr lang="en-US" sz="1800"/>
              <a:t> Store the training records 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sz="1800"/>
              <a:t> Use training records to </a:t>
            </a:r>
            <a:br>
              <a:rPr lang="en-US" sz="1800"/>
            </a:br>
            <a:r>
              <a:rPr lang="en-US" sz="1800"/>
              <a:t>   predict the class label of </a:t>
            </a:r>
            <a:br>
              <a:rPr lang="en-US" sz="1800"/>
            </a:br>
            <a:r>
              <a:rPr lang="en-US" sz="1800"/>
              <a:t>   unseen cases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Nearest Neighbor Classifiers</a:t>
            </a:r>
          </a:p>
        </p:txBody>
      </p:sp>
      <p:sp>
        <p:nvSpPr>
          <p:cNvPr id="10547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Basic idea:</a:t>
            </a:r>
          </a:p>
          <a:p>
            <a:pPr lvl="1"/>
            <a:r>
              <a:rPr lang="en-US"/>
              <a:t>If it walks like a duck, quacks like a duck, then it’s probably a duck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304800" y="2819400"/>
            <a:ext cx="8229600" cy="3429000"/>
            <a:chOff x="192" y="1776"/>
            <a:chExt cx="5184" cy="2160"/>
          </a:xfrm>
        </p:grpSpPr>
        <p:pic>
          <p:nvPicPr>
            <p:cNvPr id="1054725" name="Picture 5" descr="j0345807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296" y="2160"/>
              <a:ext cx="528" cy="409"/>
            </a:xfrm>
            <a:prstGeom prst="rect">
              <a:avLst/>
            </a:prstGeom>
            <a:noFill/>
            <a:ln/>
            <a:effectLst/>
          </p:spPr>
        </p:pic>
        <p:pic>
          <p:nvPicPr>
            <p:cNvPr id="1054726" name="Picture 6" descr="j0239589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4656" y="2640"/>
              <a:ext cx="720" cy="474"/>
            </a:xfrm>
            <a:prstGeom prst="rect">
              <a:avLst/>
            </a:prstGeom>
            <a:noFill/>
            <a:ln/>
            <a:effectLst/>
          </p:spPr>
        </p:pic>
        <p:pic>
          <p:nvPicPr>
            <p:cNvPr id="1054727" name="Picture 7" descr="j0350383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2256" y="1968"/>
              <a:ext cx="444" cy="480"/>
            </a:xfrm>
            <a:prstGeom prst="rect">
              <a:avLst/>
            </a:prstGeom>
            <a:noFill/>
            <a:ln/>
            <a:effectLst/>
          </p:spPr>
        </p:pic>
        <p:pic>
          <p:nvPicPr>
            <p:cNvPr id="1054728" name="Picture 8" descr="j0330631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1152" y="2976"/>
              <a:ext cx="373" cy="424"/>
            </a:xfrm>
            <a:prstGeom prst="rect">
              <a:avLst/>
            </a:prstGeom>
            <a:noFill/>
            <a:ln/>
            <a:effectLst/>
          </p:spPr>
        </p:pic>
        <p:pic>
          <p:nvPicPr>
            <p:cNvPr id="1054729" name="Picture 9" descr="j0350389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2208" y="3168"/>
              <a:ext cx="624" cy="440"/>
            </a:xfrm>
            <a:prstGeom prst="rect">
              <a:avLst/>
            </a:prstGeom>
            <a:noFill/>
          </p:spPr>
        </p:pic>
        <p:pic>
          <p:nvPicPr>
            <p:cNvPr id="1054730" name="Picture 10" descr="j0350356"/>
            <p:cNvPicPr>
              <a:picLocks noChangeAspect="1" noChangeArrowheads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auto">
            <a:xfrm>
              <a:off x="1776" y="2448"/>
              <a:ext cx="720" cy="658"/>
            </a:xfrm>
            <a:prstGeom prst="rect">
              <a:avLst/>
            </a:prstGeom>
            <a:noFill/>
            <a:ln/>
            <a:effectLst/>
          </p:spPr>
        </p:pic>
        <p:sp>
          <p:nvSpPr>
            <p:cNvPr id="1054731" name="Oval 11"/>
            <p:cNvSpPr>
              <a:spLocks noChangeArrowheads="1"/>
            </p:cNvSpPr>
            <p:nvPr/>
          </p:nvSpPr>
          <p:spPr bwMode="auto">
            <a:xfrm>
              <a:off x="816" y="1776"/>
              <a:ext cx="2544" cy="2160"/>
            </a:xfrm>
            <a:prstGeom prst="ellipse">
              <a:avLst/>
            </a:prstGeom>
            <a:noFill/>
            <a:ln w="12700">
              <a:solidFill>
                <a:srgbClr val="FF0000"/>
              </a:solidFill>
              <a:prstDash val="dash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1054732" name="Text Box 12"/>
            <p:cNvSpPr txBox="1">
              <a:spLocks noChangeArrowheads="1"/>
            </p:cNvSpPr>
            <p:nvPr/>
          </p:nvSpPr>
          <p:spPr bwMode="auto">
            <a:xfrm>
              <a:off x="192" y="3312"/>
              <a:ext cx="864" cy="40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800"/>
                <a:t>Training Records</a:t>
              </a:r>
            </a:p>
          </p:txBody>
        </p:sp>
        <p:sp>
          <p:nvSpPr>
            <p:cNvPr id="1054733" name="Text Box 13"/>
            <p:cNvSpPr txBox="1">
              <a:spLocks noChangeArrowheads="1"/>
            </p:cNvSpPr>
            <p:nvPr/>
          </p:nvSpPr>
          <p:spPr bwMode="auto">
            <a:xfrm>
              <a:off x="4512" y="2064"/>
              <a:ext cx="864" cy="40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800"/>
                <a:t>Test Record</a:t>
              </a:r>
            </a:p>
          </p:txBody>
        </p:sp>
      </p:grpSp>
      <p:grpSp>
        <p:nvGrpSpPr>
          <p:cNvPr id="3" name="Group 14"/>
          <p:cNvGrpSpPr>
            <a:grpSpLocks/>
          </p:cNvGrpSpPr>
          <p:nvPr/>
        </p:nvGrpSpPr>
        <p:grpSpPr bwMode="auto">
          <a:xfrm>
            <a:off x="2667000" y="3048000"/>
            <a:ext cx="4572000" cy="2286000"/>
            <a:chOff x="1680" y="1920"/>
            <a:chExt cx="2880" cy="1440"/>
          </a:xfrm>
        </p:grpSpPr>
        <p:sp>
          <p:nvSpPr>
            <p:cNvPr id="1054735" name="Text Box 15"/>
            <p:cNvSpPr txBox="1">
              <a:spLocks noChangeArrowheads="1"/>
            </p:cNvSpPr>
            <p:nvPr/>
          </p:nvSpPr>
          <p:spPr bwMode="auto">
            <a:xfrm>
              <a:off x="3312" y="1920"/>
              <a:ext cx="864" cy="40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800"/>
                <a:t>Compute Distance</a:t>
              </a:r>
            </a:p>
          </p:txBody>
        </p:sp>
        <p:grpSp>
          <p:nvGrpSpPr>
            <p:cNvPr id="4" name="Group 16"/>
            <p:cNvGrpSpPr>
              <a:grpSpLocks/>
            </p:cNvGrpSpPr>
            <p:nvPr/>
          </p:nvGrpSpPr>
          <p:grpSpPr bwMode="auto">
            <a:xfrm>
              <a:off x="1680" y="2256"/>
              <a:ext cx="2880" cy="1104"/>
              <a:chOff x="1680" y="2256"/>
              <a:chExt cx="2880" cy="1104"/>
            </a:xfrm>
          </p:grpSpPr>
          <p:sp>
            <p:nvSpPr>
              <p:cNvPr id="1054737" name="Line 17"/>
              <p:cNvSpPr>
                <a:spLocks noChangeShapeType="1"/>
              </p:cNvSpPr>
              <p:nvPr/>
            </p:nvSpPr>
            <p:spPr bwMode="auto">
              <a:xfrm>
                <a:off x="2832" y="2256"/>
                <a:ext cx="1680" cy="576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tr-TR"/>
              </a:p>
            </p:txBody>
          </p:sp>
          <p:sp>
            <p:nvSpPr>
              <p:cNvPr id="1054738" name="Line 18"/>
              <p:cNvSpPr>
                <a:spLocks noChangeShapeType="1"/>
              </p:cNvSpPr>
              <p:nvPr/>
            </p:nvSpPr>
            <p:spPr bwMode="auto">
              <a:xfrm>
                <a:off x="2544" y="2880"/>
                <a:ext cx="2016" cy="48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tr-TR"/>
              </a:p>
            </p:txBody>
          </p:sp>
          <p:sp>
            <p:nvSpPr>
              <p:cNvPr id="1054739" name="Line 19"/>
              <p:cNvSpPr>
                <a:spLocks noChangeShapeType="1"/>
              </p:cNvSpPr>
              <p:nvPr/>
            </p:nvSpPr>
            <p:spPr bwMode="auto">
              <a:xfrm flipV="1">
                <a:off x="2928" y="3072"/>
                <a:ext cx="1584" cy="288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tr-TR"/>
              </a:p>
            </p:txBody>
          </p:sp>
          <p:sp>
            <p:nvSpPr>
              <p:cNvPr id="1054740" name="Line 20"/>
              <p:cNvSpPr>
                <a:spLocks noChangeShapeType="1"/>
              </p:cNvSpPr>
              <p:nvPr/>
            </p:nvSpPr>
            <p:spPr bwMode="auto">
              <a:xfrm flipV="1">
                <a:off x="1680" y="3024"/>
                <a:ext cx="2832" cy="192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tr-TR"/>
              </a:p>
            </p:txBody>
          </p:sp>
          <p:sp>
            <p:nvSpPr>
              <p:cNvPr id="1054741" name="Line 21"/>
              <p:cNvSpPr>
                <a:spLocks noChangeShapeType="1"/>
              </p:cNvSpPr>
              <p:nvPr/>
            </p:nvSpPr>
            <p:spPr bwMode="auto">
              <a:xfrm>
                <a:off x="1920" y="2352"/>
                <a:ext cx="2544" cy="528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tr-TR"/>
              </a:p>
            </p:txBody>
          </p:sp>
        </p:grpSp>
      </p:grpSp>
      <p:grpSp>
        <p:nvGrpSpPr>
          <p:cNvPr id="5" name="Group 22"/>
          <p:cNvGrpSpPr>
            <a:grpSpLocks/>
          </p:cNvGrpSpPr>
          <p:nvPr/>
        </p:nvGrpSpPr>
        <p:grpSpPr bwMode="auto">
          <a:xfrm>
            <a:off x="4038600" y="4572000"/>
            <a:ext cx="3352800" cy="1327150"/>
            <a:chOff x="2544" y="2880"/>
            <a:chExt cx="2112" cy="836"/>
          </a:xfrm>
        </p:grpSpPr>
        <p:sp>
          <p:nvSpPr>
            <p:cNvPr id="1054743" name="Text Box 23"/>
            <p:cNvSpPr txBox="1">
              <a:spLocks noChangeArrowheads="1"/>
            </p:cNvSpPr>
            <p:nvPr/>
          </p:nvSpPr>
          <p:spPr bwMode="auto">
            <a:xfrm>
              <a:off x="3264" y="3312"/>
              <a:ext cx="1392" cy="40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800"/>
                <a:t>Choose k of the “nearest” records</a:t>
              </a:r>
            </a:p>
          </p:txBody>
        </p:sp>
        <p:grpSp>
          <p:nvGrpSpPr>
            <p:cNvPr id="6" name="Group 24"/>
            <p:cNvGrpSpPr>
              <a:grpSpLocks/>
            </p:cNvGrpSpPr>
            <p:nvPr/>
          </p:nvGrpSpPr>
          <p:grpSpPr bwMode="auto">
            <a:xfrm>
              <a:off x="2544" y="2880"/>
              <a:ext cx="2016" cy="480"/>
              <a:chOff x="2544" y="2880"/>
              <a:chExt cx="2016" cy="480"/>
            </a:xfrm>
          </p:grpSpPr>
          <p:sp>
            <p:nvSpPr>
              <p:cNvPr id="1054745" name="Line 25"/>
              <p:cNvSpPr>
                <a:spLocks noChangeShapeType="1"/>
              </p:cNvSpPr>
              <p:nvPr/>
            </p:nvSpPr>
            <p:spPr bwMode="auto">
              <a:xfrm>
                <a:off x="2544" y="2880"/>
                <a:ext cx="2016" cy="48"/>
              </a:xfrm>
              <a:prstGeom prst="line">
                <a:avLst/>
              </a:prstGeom>
              <a:noFill/>
              <a:ln w="44450">
                <a:solidFill>
                  <a:srgbClr val="0000FF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tr-TR"/>
              </a:p>
            </p:txBody>
          </p:sp>
          <p:sp>
            <p:nvSpPr>
              <p:cNvPr id="1054746" name="Line 26"/>
              <p:cNvSpPr>
                <a:spLocks noChangeShapeType="1"/>
              </p:cNvSpPr>
              <p:nvPr/>
            </p:nvSpPr>
            <p:spPr bwMode="auto">
              <a:xfrm flipV="1">
                <a:off x="2928" y="3072"/>
                <a:ext cx="1584" cy="288"/>
              </a:xfrm>
              <a:prstGeom prst="line">
                <a:avLst/>
              </a:prstGeom>
              <a:noFill/>
              <a:ln w="44450">
                <a:solidFill>
                  <a:srgbClr val="0000FF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tr-TR"/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5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Nearest-Neighbor Classifiers</a:t>
            </a:r>
          </a:p>
        </p:txBody>
      </p:sp>
      <p:sp>
        <p:nvSpPr>
          <p:cNvPr id="1055747" name="Rectangle 3"/>
          <p:cNvSpPr>
            <a:spLocks noChangeArrowheads="1"/>
          </p:cNvSpPr>
          <p:nvPr/>
        </p:nvSpPr>
        <p:spPr bwMode="auto">
          <a:xfrm>
            <a:off x="4572000" y="1143000"/>
            <a:ext cx="4419600" cy="220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</a:pPr>
            <a:r>
              <a:rPr lang="en-US" sz="2800" b="0" dirty="0"/>
              <a:t>Requires three things</a:t>
            </a:r>
          </a:p>
          <a:p>
            <a:pPr marL="742950" lvl="1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</a:pPr>
            <a:r>
              <a:rPr lang="en-US" sz="2800" b="0" dirty="0"/>
              <a:t>The set of stored records</a:t>
            </a:r>
          </a:p>
          <a:p>
            <a:pPr marL="742950" lvl="1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</a:pPr>
            <a:r>
              <a:rPr lang="en-US" sz="2800" b="0" dirty="0"/>
              <a:t>Distance Metric to compute distance between records</a:t>
            </a:r>
          </a:p>
          <a:p>
            <a:pPr marL="742950" lvl="1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</a:pPr>
            <a:r>
              <a:rPr lang="en-US" sz="2800" b="0" dirty="0"/>
              <a:t>The value of </a:t>
            </a:r>
            <a:r>
              <a:rPr lang="en-US" sz="2800" b="0" i="1" dirty="0"/>
              <a:t>k</a:t>
            </a:r>
            <a:r>
              <a:rPr lang="en-US" sz="2800" b="0" dirty="0"/>
              <a:t>, the number of nearest neighbors to retrieve</a:t>
            </a:r>
          </a:p>
        </p:txBody>
      </p:sp>
      <p:graphicFrame>
        <p:nvGraphicFramePr>
          <p:cNvPr id="1055748" name="Object 4"/>
          <p:cNvGraphicFramePr>
            <a:graphicFrameLocks noChangeAspect="1"/>
          </p:cNvGraphicFramePr>
          <p:nvPr/>
        </p:nvGraphicFramePr>
        <p:xfrm>
          <a:off x="381000" y="1219200"/>
          <a:ext cx="3810000" cy="5105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7007454" imgH="8108144" progId="">
                  <p:embed/>
                </p:oleObj>
              </mc:Choice>
              <mc:Fallback>
                <p:oleObj name="Visio" r:id="rId2" imgW="7007454" imgH="8108144" progId="">
                  <p:embed/>
                  <p:pic>
                    <p:nvPicPr>
                      <p:cNvPr id="105574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1219200"/>
                        <a:ext cx="3810000" cy="5105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5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Nearest-Neighbor Classifiers</a:t>
            </a:r>
          </a:p>
        </p:txBody>
      </p:sp>
      <p:sp>
        <p:nvSpPr>
          <p:cNvPr id="1055747" name="Rectangle 3"/>
          <p:cNvSpPr>
            <a:spLocks noChangeArrowheads="1"/>
          </p:cNvSpPr>
          <p:nvPr/>
        </p:nvSpPr>
        <p:spPr bwMode="auto">
          <a:xfrm>
            <a:off x="5029200" y="1143000"/>
            <a:ext cx="3962400" cy="502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</a:pPr>
            <a:r>
              <a:rPr lang="en-US" sz="2400" b="0" dirty="0"/>
              <a:t>To classify an unknown record:</a:t>
            </a:r>
          </a:p>
          <a:p>
            <a:pPr marL="742950" lvl="1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</a:pPr>
            <a:r>
              <a:rPr lang="en-US" sz="2400" b="0" dirty="0"/>
              <a:t>Compute distance to other training records</a:t>
            </a:r>
          </a:p>
          <a:p>
            <a:pPr marL="742950" lvl="1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</a:pPr>
            <a:r>
              <a:rPr lang="en-US" sz="2400" b="0" dirty="0"/>
              <a:t>Identify </a:t>
            </a:r>
            <a:r>
              <a:rPr lang="en-US" sz="2400" b="0" i="1" dirty="0"/>
              <a:t>k</a:t>
            </a:r>
            <a:r>
              <a:rPr lang="en-US" sz="2400" b="0" dirty="0"/>
              <a:t> nearest neighbors </a:t>
            </a:r>
          </a:p>
          <a:p>
            <a:pPr marL="742950" lvl="1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</a:pPr>
            <a:r>
              <a:rPr lang="en-US" sz="2400" b="0" dirty="0"/>
              <a:t>Use class labels of nearest neighbors to determine the class label of unknown record</a:t>
            </a:r>
          </a:p>
        </p:txBody>
      </p:sp>
      <p:graphicFrame>
        <p:nvGraphicFramePr>
          <p:cNvPr id="1055748" name="Object 4"/>
          <p:cNvGraphicFramePr>
            <a:graphicFrameLocks noChangeAspect="1"/>
          </p:cNvGraphicFramePr>
          <p:nvPr/>
        </p:nvGraphicFramePr>
        <p:xfrm>
          <a:off x="457200" y="1143000"/>
          <a:ext cx="4316413" cy="5105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7007454" imgH="8108144" progId="">
                  <p:embed/>
                </p:oleObj>
              </mc:Choice>
              <mc:Fallback>
                <p:oleObj name="Visio" r:id="rId2" imgW="7007454" imgH="8108144" progId="">
                  <p:embed/>
                  <p:pic>
                    <p:nvPicPr>
                      <p:cNvPr id="105574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1143000"/>
                        <a:ext cx="4316413" cy="5105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6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Definition of Nearest Neighbor</a:t>
            </a:r>
          </a:p>
        </p:txBody>
      </p:sp>
      <p:graphicFrame>
        <p:nvGraphicFramePr>
          <p:cNvPr id="1056771" name="Object 3"/>
          <p:cNvGraphicFramePr>
            <a:graphicFrameLocks noChangeAspect="1"/>
          </p:cNvGraphicFramePr>
          <p:nvPr/>
        </p:nvGraphicFramePr>
        <p:xfrm>
          <a:off x="533400" y="1600200"/>
          <a:ext cx="7848600" cy="3640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9756360" imgH="4523760" progId="">
                  <p:embed/>
                </p:oleObj>
              </mc:Choice>
              <mc:Fallback>
                <p:oleObj name="VISIO" r:id="rId2" imgW="9756360" imgH="4523760" progId="">
                  <p:embed/>
                  <p:pic>
                    <p:nvPicPr>
                      <p:cNvPr id="1056771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1600200"/>
                        <a:ext cx="7848600" cy="3640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56772" name="Rectangle 4"/>
          <p:cNvSpPr>
            <a:spLocks noChangeArrowheads="1"/>
          </p:cNvSpPr>
          <p:nvPr/>
        </p:nvSpPr>
        <p:spPr bwMode="auto">
          <a:xfrm>
            <a:off x="762000" y="5029200"/>
            <a:ext cx="76962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None/>
            </a:pPr>
            <a:r>
              <a:rPr lang="en-US" sz="2400" b="0" dirty="0"/>
              <a:t>    K-nearest neighbors of a record x are data points that have the k smallest distance to x</a:t>
            </a:r>
            <a:endParaRPr lang="tr-TR" sz="2400" b="0" dirty="0"/>
          </a:p>
          <a:p>
            <a: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None/>
            </a:pPr>
            <a:r>
              <a:rPr lang="tr-TR" sz="1600" dirty="0"/>
              <a:t>Note: b) We may randomly choose positive or negative to classify data point</a:t>
            </a:r>
            <a:endParaRPr lang="en-US" sz="1600" b="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8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Nearest Neighbor Classification</a:t>
            </a:r>
          </a:p>
        </p:txBody>
      </p:sp>
      <p:sp>
        <p:nvSpPr>
          <p:cNvPr id="10588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981200"/>
            <a:ext cx="8229600" cy="4175760"/>
          </a:xfrm>
        </p:spPr>
        <p:txBody>
          <a:bodyPr/>
          <a:lstStyle/>
          <a:p>
            <a:r>
              <a:rPr lang="en-US" dirty="0"/>
              <a:t>Compute distance between two points:</a:t>
            </a:r>
          </a:p>
          <a:p>
            <a:pPr lvl="1"/>
            <a:r>
              <a:rPr lang="en-US" dirty="0"/>
              <a:t>Euclidean distance 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>
              <a:buFont typeface="Monotype Sorts" pitchFamily="2" charset="2"/>
              <a:buNone/>
            </a:pPr>
            <a:endParaRPr lang="en-US" dirty="0"/>
          </a:p>
          <a:p>
            <a:r>
              <a:rPr lang="en-US" dirty="0"/>
              <a:t>Determine the class from nearest neighbor list</a:t>
            </a:r>
          </a:p>
        </p:txBody>
      </p:sp>
      <p:graphicFrame>
        <p:nvGraphicFramePr>
          <p:cNvPr id="1058820" name="Object 4"/>
          <p:cNvGraphicFramePr>
            <a:graphicFrameLocks noChangeAspect="1"/>
          </p:cNvGraphicFramePr>
          <p:nvPr/>
        </p:nvGraphicFramePr>
        <p:xfrm>
          <a:off x="2133600" y="3124200"/>
          <a:ext cx="4876800" cy="823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705040" imgH="457200" progId="Equation.3">
                  <p:embed/>
                </p:oleObj>
              </mc:Choice>
              <mc:Fallback>
                <p:oleObj name="Equation" r:id="rId2" imgW="2705040" imgH="457200" progId="Equation.3">
                  <p:embed/>
                  <p:pic>
                    <p:nvPicPr>
                      <p:cNvPr id="105882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3124200"/>
                        <a:ext cx="4876800" cy="8239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>
                <a:solidFill>
                  <a:srgbClr val="FF0000"/>
                </a:solidFill>
              </a:rPr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1066800"/>
          </a:xfrm>
        </p:spPr>
        <p:txBody>
          <a:bodyPr/>
          <a:lstStyle/>
          <a:p>
            <a:r>
              <a:rPr lang="tr-TR" dirty="0"/>
              <a:t>Decide “</a:t>
            </a:r>
            <a:r>
              <a:rPr lang="en-US" dirty="0"/>
              <a:t>What is Customer No. 5 most likely to buy?" based on the Nearest Neighbor algorithm</a:t>
            </a:r>
            <a:r>
              <a:rPr lang="tr-TR" dirty="0"/>
              <a:t>.</a:t>
            </a:r>
          </a:p>
          <a:p>
            <a:endParaRPr lang="tr-TR" dirty="0"/>
          </a:p>
        </p:txBody>
      </p:sp>
      <p:pic>
        <p:nvPicPr>
          <p:cNvPr id="778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1000" y="2590800"/>
            <a:ext cx="8453438" cy="247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>
                <a:solidFill>
                  <a:srgbClr val="FF0000"/>
                </a:solidFill>
              </a:rPr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tr-TR" dirty="0"/>
              <a:t>Step 1: Determine Distance Formula Distance </a:t>
            </a:r>
          </a:p>
          <a:p>
            <a:endParaRPr lang="tr-TR" dirty="0"/>
          </a:p>
          <a:p>
            <a:endParaRPr lang="tr-TR" dirty="0"/>
          </a:p>
          <a:p>
            <a:r>
              <a:rPr lang="tr-TR" dirty="0"/>
              <a:t>T</a:t>
            </a:r>
            <a:r>
              <a:rPr lang="en-US" dirty="0"/>
              <a:t>he distance between the unknown data point and every known data point needs to be computed. </a:t>
            </a:r>
            <a:endParaRPr lang="tr-TR" dirty="0"/>
          </a:p>
          <a:p>
            <a:pPr>
              <a:buNone/>
            </a:pPr>
            <a:endParaRPr lang="tr-TR" dirty="0"/>
          </a:p>
          <a:p>
            <a:r>
              <a:rPr lang="tr-TR" dirty="0"/>
              <a:t>= SQRT( (58 - Age)^2) + (51000 - Income)^2 )</a:t>
            </a:r>
          </a:p>
          <a:p>
            <a:endParaRPr lang="tr-TR" dirty="0"/>
          </a:p>
          <a:p>
            <a:r>
              <a:rPr lang="tr-TR" dirty="0"/>
              <a:t>We need to calcute the distance between all attributes and </a:t>
            </a:r>
            <a:r>
              <a:rPr lang="en-US" dirty="0"/>
              <a:t> </a:t>
            </a:r>
            <a:r>
              <a:rPr lang="tr-TR" dirty="0"/>
              <a:t>attributes of </a:t>
            </a:r>
            <a:r>
              <a:rPr lang="en-US" dirty="0"/>
              <a:t>Customer No. 5</a:t>
            </a:r>
            <a:r>
              <a:rPr lang="tr-TR" dirty="0"/>
              <a:t>.</a:t>
            </a:r>
          </a:p>
        </p:txBody>
      </p:sp>
      <p:graphicFrame>
        <p:nvGraphicFramePr>
          <p:cNvPr id="78851" name="Object 3"/>
          <p:cNvGraphicFramePr>
            <a:graphicFrameLocks noChangeAspect="1"/>
          </p:cNvGraphicFramePr>
          <p:nvPr/>
        </p:nvGraphicFramePr>
        <p:xfrm>
          <a:off x="1600200" y="1905000"/>
          <a:ext cx="4876800" cy="823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705040" imgH="457200" progId="Equation.3">
                  <p:embed/>
                </p:oleObj>
              </mc:Choice>
              <mc:Fallback>
                <p:oleObj name="Equation" r:id="rId2" imgW="2705040" imgH="457200" progId="Equation.3">
                  <p:embed/>
                  <p:pic>
                    <p:nvPicPr>
                      <p:cNvPr id="78851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1905000"/>
                        <a:ext cx="4876800" cy="8239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dirty="0">
                <a:solidFill>
                  <a:srgbClr val="FF0000"/>
                </a:solidFill>
              </a:rPr>
              <a:t>Example- Result:</a:t>
            </a:r>
            <a:br>
              <a:rPr lang="tr-TR" dirty="0">
                <a:solidFill>
                  <a:srgbClr val="FF0000"/>
                </a:solidFill>
              </a:rPr>
            </a:br>
            <a:endParaRPr lang="tr-TR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3276600"/>
            <a:ext cx="7086600" cy="2133600"/>
          </a:xfrm>
        </p:spPr>
        <p:txBody>
          <a:bodyPr>
            <a:normAutofit/>
          </a:bodyPr>
          <a:lstStyle/>
          <a:p>
            <a:r>
              <a:rPr lang="en-US" dirty="0"/>
              <a:t>What is Customer No. 5 most likely to buy?" </a:t>
            </a:r>
            <a:r>
              <a:rPr lang="tr-TR" dirty="0"/>
              <a:t> the answer </a:t>
            </a:r>
            <a:r>
              <a:rPr lang="en-US" dirty="0"/>
              <a:t>would be </a:t>
            </a:r>
            <a:r>
              <a:rPr lang="en-US" dirty="0">
                <a:solidFill>
                  <a:srgbClr val="FF0000"/>
                </a:solidFill>
              </a:rPr>
              <a:t>a book. </a:t>
            </a:r>
            <a:r>
              <a:rPr lang="en-US" dirty="0"/>
              <a:t>This is because the distance between Customer No. 5 and Customer No. 1 is less than the distance between Customer No. 5 and any other customer. </a:t>
            </a:r>
            <a:endParaRPr lang="tr-TR" dirty="0"/>
          </a:p>
        </p:txBody>
      </p:sp>
      <p:pic>
        <p:nvPicPr>
          <p:cNvPr id="798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47800" y="1447800"/>
            <a:ext cx="6015318" cy="167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dirty="0">
                <a:solidFill>
                  <a:srgbClr val="FF0000"/>
                </a:solidFill>
              </a:rPr>
              <a:t>Example- Result:</a:t>
            </a:r>
            <a:br>
              <a:rPr lang="tr-TR" dirty="0">
                <a:solidFill>
                  <a:srgbClr val="FF0000"/>
                </a:solidFill>
              </a:rPr>
            </a:br>
            <a:endParaRPr lang="tr-TR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90600" y="3810000"/>
            <a:ext cx="7086600" cy="2133600"/>
          </a:xfrm>
        </p:spPr>
        <p:txBody>
          <a:bodyPr>
            <a:normAutofit fontScale="92500"/>
          </a:bodyPr>
          <a:lstStyle/>
          <a:p>
            <a:r>
              <a:rPr lang="en-US" dirty="0"/>
              <a:t>Based on this model, we say that the customer most like Customer No. 5 can predict the behavior of Customer No. 5. </a:t>
            </a:r>
            <a:r>
              <a:rPr lang="tr-TR" dirty="0"/>
              <a:t>I</a:t>
            </a:r>
            <a:r>
              <a:rPr lang="en-US" dirty="0"/>
              <a:t>f we want to know the </a:t>
            </a:r>
            <a:r>
              <a:rPr lang="en-US" dirty="0">
                <a:solidFill>
                  <a:srgbClr val="FF0000"/>
                </a:solidFill>
              </a:rPr>
              <a:t>two most likely products</a:t>
            </a:r>
            <a:r>
              <a:rPr lang="en-US" dirty="0"/>
              <a:t> to be purchased by Customer No. 5, we would conclude that they are </a:t>
            </a:r>
            <a:r>
              <a:rPr lang="en-US" dirty="0">
                <a:solidFill>
                  <a:srgbClr val="FF0000"/>
                </a:solidFill>
              </a:rPr>
              <a:t>books </a:t>
            </a:r>
            <a:r>
              <a:rPr lang="en-US" i="1" dirty="0">
                <a:solidFill>
                  <a:srgbClr val="FF0000"/>
                </a:solidFill>
              </a:rPr>
              <a:t>and</a:t>
            </a:r>
            <a:r>
              <a:rPr lang="en-US" dirty="0">
                <a:solidFill>
                  <a:srgbClr val="FF0000"/>
                </a:solidFill>
              </a:rPr>
              <a:t> a DVD</a:t>
            </a:r>
            <a:r>
              <a:rPr lang="en-US" dirty="0"/>
              <a:t>. </a:t>
            </a:r>
            <a:endParaRPr lang="tr-TR" dirty="0"/>
          </a:p>
        </p:txBody>
      </p:sp>
      <p:pic>
        <p:nvPicPr>
          <p:cNvPr id="798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47800" y="1447800"/>
            <a:ext cx="6015318" cy="167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9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Nearest Neighbor Classification…</a:t>
            </a:r>
          </a:p>
        </p:txBody>
      </p:sp>
      <p:sp>
        <p:nvSpPr>
          <p:cNvPr id="10598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Choosing the value of k:</a:t>
            </a:r>
          </a:p>
          <a:p>
            <a:pPr lvl="1"/>
            <a:r>
              <a:rPr lang="en-US" sz="2400"/>
              <a:t>If k is too small, sensitive to noise points</a:t>
            </a:r>
          </a:p>
          <a:p>
            <a:pPr lvl="1"/>
            <a:r>
              <a:rPr lang="en-US" sz="2400"/>
              <a:t>If k is too large, neighborhood may include points from other classes</a:t>
            </a:r>
          </a:p>
        </p:txBody>
      </p:sp>
      <p:graphicFrame>
        <p:nvGraphicFramePr>
          <p:cNvPr id="1059844" name="Object 4"/>
          <p:cNvGraphicFramePr>
            <a:graphicFrameLocks noChangeAspect="1"/>
          </p:cNvGraphicFramePr>
          <p:nvPr/>
        </p:nvGraphicFramePr>
        <p:xfrm>
          <a:off x="3657600" y="3078163"/>
          <a:ext cx="3738563" cy="3170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6582512" imgH="5298053" progId="">
                  <p:embed/>
                </p:oleObj>
              </mc:Choice>
              <mc:Fallback>
                <p:oleObj name="Visio" r:id="rId2" imgW="6582512" imgH="5298053" progId="">
                  <p:embed/>
                  <p:pic>
                    <p:nvPicPr>
                      <p:cNvPr id="105984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3078163"/>
                        <a:ext cx="3738563" cy="3170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291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dirty="0"/>
              <a:t>Summary: </a:t>
            </a:r>
            <a:r>
              <a:rPr lang="en-US" dirty="0"/>
              <a:t>Nearest neighbor Classification…</a:t>
            </a:r>
            <a:br>
              <a:rPr lang="tr-TR" dirty="0"/>
            </a:br>
            <a:endParaRPr lang="en-US" dirty="0"/>
          </a:p>
        </p:txBody>
      </p:sp>
      <p:sp>
        <p:nvSpPr>
          <p:cNvPr id="10629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k-NN classifiers are lazy learners </a:t>
            </a:r>
            <a:r>
              <a:rPr lang="tr-TR" dirty="0"/>
              <a:t>and a part of instant based learning technique.</a:t>
            </a:r>
          </a:p>
          <a:p>
            <a:endParaRPr lang="tr-TR" sz="2600" dirty="0">
              <a:solidFill>
                <a:schemeClr val="tx1"/>
              </a:solidFill>
            </a:endParaRPr>
          </a:p>
          <a:p>
            <a:r>
              <a:rPr lang="tr-TR" sz="2600" dirty="0">
                <a:solidFill>
                  <a:schemeClr val="tx1"/>
                </a:solidFill>
              </a:rPr>
              <a:t>They don’t require model building. (</a:t>
            </a:r>
            <a:r>
              <a:rPr lang="en-US" sz="2600" dirty="0">
                <a:solidFill>
                  <a:schemeClr val="tx1"/>
                </a:solidFill>
              </a:rPr>
              <a:t>Unlike eager learners such as decision tree and rule-based systems</a:t>
            </a:r>
            <a:r>
              <a:rPr lang="tr-TR" sz="2600" dirty="0">
                <a:solidFill>
                  <a:schemeClr val="tx1"/>
                </a:solidFill>
              </a:rPr>
              <a:t>)</a:t>
            </a:r>
            <a:endParaRPr lang="en-US" sz="2600" dirty="0">
              <a:solidFill>
                <a:schemeClr val="tx1"/>
              </a:solidFill>
            </a:endParaRPr>
          </a:p>
          <a:p>
            <a:pPr marL="274320" lvl="1">
              <a:spcBef>
                <a:spcPts val="600"/>
              </a:spcBef>
              <a:buClr>
                <a:schemeClr val="accent1"/>
              </a:buClr>
            </a:pPr>
            <a:endParaRPr lang="tr-TR" dirty="0"/>
          </a:p>
          <a:p>
            <a:r>
              <a:rPr lang="en-US" dirty="0"/>
              <a:t>Classifying unknown records are expensive</a:t>
            </a:r>
            <a:r>
              <a:rPr lang="tr-TR" dirty="0"/>
              <a:t> because the proximity values between test and training samples should be calculated individually.</a:t>
            </a:r>
            <a:endParaRPr lang="en-US" dirty="0"/>
          </a:p>
          <a:p>
            <a:endParaRPr lang="tr-TR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dirty="0"/>
              <a:t>QUESTIONS</a:t>
            </a:r>
            <a:br>
              <a:rPr lang="tr-TR" dirty="0"/>
            </a:b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28600" y="1219200"/>
            <a:ext cx="8915400" cy="3124200"/>
          </a:xfrm>
        </p:spPr>
        <p:txBody>
          <a:bodyPr>
            <a:noAutofit/>
          </a:bodyPr>
          <a:lstStyle/>
          <a:p>
            <a:pPr marL="514350" indent="-514350">
              <a:buAutoNum type="arabicPeriod"/>
            </a:pPr>
            <a:r>
              <a:rPr lang="en-US" dirty="0"/>
              <a:t>For nearest neighbor classifiers, we should use a distance metric to compute the</a:t>
            </a:r>
            <a:r>
              <a:rPr lang="tr-TR" dirty="0"/>
              <a:t> </a:t>
            </a:r>
            <a:r>
              <a:rPr lang="en-US" dirty="0"/>
              <a:t>distance between objects and identify k nearest neighbors to decide an unknown</a:t>
            </a:r>
            <a:r>
              <a:rPr lang="tr-TR" dirty="0"/>
              <a:t> </a:t>
            </a:r>
            <a:r>
              <a:rPr lang="en-US" dirty="0"/>
              <a:t>object is belong to which class. Do you think k value is important? Explain briefly.</a:t>
            </a:r>
            <a:endParaRPr lang="tr-TR" dirty="0"/>
          </a:p>
          <a:p>
            <a:pPr marL="514350" indent="-514350">
              <a:buAutoNum type="arabicPeriod"/>
            </a:pPr>
            <a:endParaRPr lang="tr-TR" dirty="0"/>
          </a:p>
          <a:p>
            <a:pPr marL="514350" indent="-514350">
              <a:buAutoNum type="arabicPeriod"/>
            </a:pPr>
            <a:r>
              <a:rPr lang="en-US" dirty="0"/>
              <a:t>According to nearest neighbor classification method for k=6, unknown record belongs</a:t>
            </a:r>
            <a:r>
              <a:rPr lang="tr-TR" dirty="0"/>
              <a:t> to which class.</a:t>
            </a:r>
          </a:p>
        </p:txBody>
      </p:sp>
      <p:pic>
        <p:nvPicPr>
          <p:cNvPr id="6861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77000" y="4191000"/>
            <a:ext cx="2295525" cy="2162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Origin">
      <a:dk1>
        <a:sysClr val="windowText" lastClr="000000"/>
      </a:dk1>
      <a:lt1>
        <a:sysClr val="window" lastClr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212</TotalTime>
  <Words>2368</Words>
  <Application>Microsoft Office PowerPoint</Application>
  <PresentationFormat>Ekran Gösterisi (4:3)</PresentationFormat>
  <Paragraphs>392</Paragraphs>
  <Slides>50</Slides>
  <Notes>5</Notes>
  <HiddenSlides>0</HiddenSlides>
  <MMClips>0</MMClips>
  <ScaleCrop>false</ScaleCrop>
  <HeadingPairs>
    <vt:vector size="8" baseType="variant">
      <vt:variant>
        <vt:lpstr>Kullanılan Yazı Tipleri</vt:lpstr>
      </vt:variant>
      <vt:variant>
        <vt:i4>12</vt:i4>
      </vt:variant>
      <vt:variant>
        <vt:lpstr>Tema</vt:lpstr>
      </vt:variant>
      <vt:variant>
        <vt:i4>1</vt:i4>
      </vt:variant>
      <vt:variant>
        <vt:lpstr>Eklenmiş OLE Hizmet Programları</vt:lpstr>
      </vt:variant>
      <vt:variant>
        <vt:i4>3</vt:i4>
      </vt:variant>
      <vt:variant>
        <vt:lpstr>Slayt Başlıkları</vt:lpstr>
      </vt:variant>
      <vt:variant>
        <vt:i4>50</vt:i4>
      </vt:variant>
    </vt:vector>
  </HeadingPairs>
  <TitlesOfParts>
    <vt:vector size="66" baseType="lpstr">
      <vt:lpstr>PMingLiU</vt:lpstr>
      <vt:lpstr>Arial</vt:lpstr>
      <vt:lpstr>Berlin Sans FB Demi</vt:lpstr>
      <vt:lpstr>Bookman Old Style</vt:lpstr>
      <vt:lpstr>Calibri</vt:lpstr>
      <vt:lpstr>Gill Sans MT</vt:lpstr>
      <vt:lpstr>Monotype Sorts</vt:lpstr>
      <vt:lpstr>Symbol</vt:lpstr>
      <vt:lpstr>Tahoma</vt:lpstr>
      <vt:lpstr>Times New Roman</vt:lpstr>
      <vt:lpstr>Wingdings</vt:lpstr>
      <vt:lpstr>Wingdings 3</vt:lpstr>
      <vt:lpstr>Origin</vt:lpstr>
      <vt:lpstr>VISIO</vt:lpstr>
      <vt:lpstr>Visio</vt:lpstr>
      <vt:lpstr>Equation</vt:lpstr>
      <vt:lpstr>CLASSIFICATION TECHNIQUES </vt:lpstr>
      <vt:lpstr>Forms of Some Classification Models </vt:lpstr>
      <vt:lpstr>Classification Rules </vt:lpstr>
      <vt:lpstr>Steps of Classification </vt:lpstr>
      <vt:lpstr>PowerPoint Sunusu</vt:lpstr>
      <vt:lpstr>Constructing Model </vt:lpstr>
      <vt:lpstr>Evaluating Model </vt:lpstr>
      <vt:lpstr>Using Model </vt:lpstr>
      <vt:lpstr>DECISION TREE</vt:lpstr>
      <vt:lpstr>DECISION TREE</vt:lpstr>
      <vt:lpstr>Decision Tree Advantages &amp; Disadvantages</vt:lpstr>
      <vt:lpstr>Weather Data: Play or not Play?</vt:lpstr>
      <vt:lpstr>Example Tree for “Play?”</vt:lpstr>
      <vt:lpstr>Which attribute to select?</vt:lpstr>
      <vt:lpstr>Choosing the Splitting Attribute </vt:lpstr>
      <vt:lpstr>Decision Tree Example</vt:lpstr>
      <vt:lpstr>Decision Tree Example- 2</vt:lpstr>
      <vt:lpstr>Example: Customer Database</vt:lpstr>
      <vt:lpstr>Root: age attribute.. </vt:lpstr>
      <vt:lpstr>The final decision tree</vt:lpstr>
      <vt:lpstr>QUESTIONS </vt:lpstr>
      <vt:lpstr> ISE 350 DATA WAREHOUSING AND DATA MINING   Classification Techniques: Rule Based Algorithms </vt:lpstr>
      <vt:lpstr>  Recall:  CLASSIFICATION TECHNIQUES </vt:lpstr>
      <vt:lpstr>Rule-Based Classifier</vt:lpstr>
      <vt:lpstr>Rule-based Classifier (Example)</vt:lpstr>
      <vt:lpstr>Application of Rule-Based Classifier</vt:lpstr>
      <vt:lpstr>Example: How does Rule-based Classifier Work?</vt:lpstr>
      <vt:lpstr>Ordered Rule Set</vt:lpstr>
      <vt:lpstr>Rule Extraction from a Decision Tree</vt:lpstr>
      <vt:lpstr>From Decision Trees To Rules</vt:lpstr>
      <vt:lpstr>Building Classification Rules</vt:lpstr>
      <vt:lpstr>Advantages of Rule-Based Classifiers</vt:lpstr>
      <vt:lpstr>QUESTIONS </vt:lpstr>
      <vt:lpstr> ISE 350 DATA WAREHOUSING AND DATA MINING   Classification Techniques:  k Nearest Neighbor Algorithm </vt:lpstr>
      <vt:lpstr>CLASSIFICATION TECHNIQUES </vt:lpstr>
      <vt:lpstr>Lazy vs. Eager Learning </vt:lpstr>
      <vt:lpstr>Lazy Learner: Instance Based Classifiers </vt:lpstr>
      <vt:lpstr>Instance-Based Classifiers</vt:lpstr>
      <vt:lpstr>Nearest Neighbor Classifiers</vt:lpstr>
      <vt:lpstr>Nearest-Neighbor Classifiers</vt:lpstr>
      <vt:lpstr>Nearest-Neighbor Classifiers</vt:lpstr>
      <vt:lpstr>Definition of Nearest Neighbor</vt:lpstr>
      <vt:lpstr>Nearest Neighbor Classification</vt:lpstr>
      <vt:lpstr>Example</vt:lpstr>
      <vt:lpstr>Example</vt:lpstr>
      <vt:lpstr>Example- Result: </vt:lpstr>
      <vt:lpstr>Example- Result: </vt:lpstr>
      <vt:lpstr>Nearest Neighbor Classification…</vt:lpstr>
      <vt:lpstr>Summary: Nearest neighbor Classification… </vt:lpstr>
      <vt:lpstr>QUESTIONS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</dc:title>
  <dc:creator>Damla</dc:creator>
  <cp:lastModifiedBy>Damla TOPALLI</cp:lastModifiedBy>
  <cp:revision>23</cp:revision>
  <dcterms:created xsi:type="dcterms:W3CDTF">2006-08-16T00:00:00Z</dcterms:created>
  <dcterms:modified xsi:type="dcterms:W3CDTF">2026-10-01T12:07:51Z</dcterms:modified>
</cp:coreProperties>
</file>