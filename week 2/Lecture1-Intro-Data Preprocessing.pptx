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6"/>
  </p:notesMasterIdLst>
  <p:sldIdLst>
    <p:sldId id="475" r:id="rId2"/>
    <p:sldId id="443" r:id="rId3"/>
    <p:sldId id="444" r:id="rId4"/>
    <p:sldId id="445" r:id="rId5"/>
    <p:sldId id="446" r:id="rId6"/>
    <p:sldId id="447" r:id="rId7"/>
    <p:sldId id="259" r:id="rId8"/>
    <p:sldId id="260" r:id="rId9"/>
    <p:sldId id="476" r:id="rId10"/>
    <p:sldId id="261" r:id="rId11"/>
    <p:sldId id="262" r:id="rId12"/>
    <p:sldId id="263" r:id="rId13"/>
    <p:sldId id="264" r:id="rId14"/>
    <p:sldId id="267" r:id="rId15"/>
    <p:sldId id="265" r:id="rId16"/>
    <p:sldId id="268" r:id="rId17"/>
    <p:sldId id="269" r:id="rId18"/>
    <p:sldId id="270" r:id="rId19"/>
    <p:sldId id="271" r:id="rId20"/>
    <p:sldId id="272" r:id="rId21"/>
    <p:sldId id="274" r:id="rId22"/>
    <p:sldId id="293" r:id="rId23"/>
    <p:sldId id="294" r:id="rId24"/>
    <p:sldId id="296" r:id="rId25"/>
    <p:sldId id="297" r:id="rId26"/>
    <p:sldId id="299" r:id="rId27"/>
    <p:sldId id="300" r:id="rId28"/>
    <p:sldId id="301" r:id="rId29"/>
    <p:sldId id="302" r:id="rId30"/>
    <p:sldId id="309" r:id="rId31"/>
    <p:sldId id="332" r:id="rId32"/>
    <p:sldId id="448" r:id="rId33"/>
    <p:sldId id="450" r:id="rId34"/>
    <p:sldId id="449" r:id="rId35"/>
    <p:sldId id="373" r:id="rId36"/>
    <p:sldId id="452" r:id="rId37"/>
    <p:sldId id="372" r:id="rId38"/>
    <p:sldId id="453" r:id="rId39"/>
    <p:sldId id="376" r:id="rId40"/>
    <p:sldId id="455" r:id="rId41"/>
    <p:sldId id="374" r:id="rId42"/>
    <p:sldId id="456" r:id="rId43"/>
    <p:sldId id="458" r:id="rId44"/>
    <p:sldId id="459" r:id="rId45"/>
    <p:sldId id="460" r:id="rId46"/>
    <p:sldId id="461" r:id="rId47"/>
    <p:sldId id="462" r:id="rId48"/>
    <p:sldId id="463" r:id="rId49"/>
    <p:sldId id="469" r:id="rId50"/>
    <p:sldId id="470" r:id="rId51"/>
    <p:sldId id="471" r:id="rId52"/>
    <p:sldId id="472" r:id="rId53"/>
    <p:sldId id="473" r:id="rId54"/>
    <p:sldId id="474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62B5B-BA07-498B-B845-A96423A8C5B2}" type="datetimeFigureOut">
              <a:rPr lang="tr-TR" smtClean="0"/>
              <a:pPr/>
              <a:t>24.09.2026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81D1C-76ED-4DBB-852E-C6DE90F8ABC4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D6705-EE6A-457F-8752-8BB063324909}" type="slidenum">
              <a:rPr lang="en-US"/>
              <a:pPr/>
              <a:t>4</a:t>
            </a:fld>
            <a:endParaRPr lang="en-US"/>
          </a:p>
        </p:txBody>
      </p:sp>
      <p:sp>
        <p:nvSpPr>
          <p:cNvPr id="69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FC8E61-0167-4F15-9EEB-DEE4A00AAC28}" type="slidenum">
              <a:rPr lang="en-US"/>
              <a:pPr/>
              <a:t>6</a:t>
            </a:fld>
            <a:endParaRPr lang="en-US"/>
          </a:p>
        </p:txBody>
      </p:sp>
      <p:sp>
        <p:nvSpPr>
          <p:cNvPr id="69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81D1C-76ED-4DBB-852E-C6DE90F8ABC4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0794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0B6CA3-2153-4940-8853-92DA23044553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69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298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82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6175" y="687388"/>
            <a:ext cx="4568825" cy="34274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805" y="4342192"/>
            <a:ext cx="5030391" cy="411389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886" tIns="44942" rIns="89886" bIns="44942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3948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9E590C-5812-473E-BEE7-20489E1516EF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4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4383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5C072E-FFD8-49BA-9D9A-A89867DAB943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87388"/>
            <a:ext cx="4578350" cy="3435350"/>
          </a:xfrm>
          <a:ln cap="flat"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9192"/>
            <a:ext cx="5029200" cy="4115997"/>
          </a:xfrm>
          <a:ln/>
        </p:spPr>
        <p:txBody>
          <a:bodyPr lIns="126989" tIns="63494" rIns="126989" bIns="63494"/>
          <a:lstStyle/>
          <a:p>
            <a:pPr defTabSz="1914354"/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995725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283BE3-A23C-4F0F-90B4-B20D439A55B3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0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7425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0C765D-9512-4D4A-8E44-A4F47B92392E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5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714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8825" cy="3427412"/>
          </a:xfrm>
          <a:ln/>
        </p:spPr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2192"/>
            <a:ext cx="5030391" cy="4113893"/>
          </a:xfrm>
        </p:spPr>
        <p:txBody>
          <a:bodyPr lIns="89886" tIns="44942" rIns="89886" bIns="44942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913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0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07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65DE32EC-FCFA-40CF-967F-2E30EC046C71}" type="slidenum">
              <a:rPr lang="en-US" altLang="en-US">
                <a:latin typeface="Times New Roman" panose="02020603050405020304" pitchFamily="18" charset="0"/>
                <a:ea typeface="MS PGothic" panose="020B0600070205080204" pitchFamily="34" charset="-128"/>
              </a:rPr>
              <a:pPr eaLnBrk="0" hangingPunct="0">
                <a:spcBef>
                  <a:spcPct val="0"/>
                </a:spcBef>
              </a:pPr>
              <a:t>26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672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79852D-3D4F-468A-BA70-1DF73ABB93BF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93764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920750" eaLnBrk="0" hangingPunct="0"/>
            <a:fld id="{E3657AA6-4199-4FB5-ACC7-F29F1164555A}" type="slidenum">
              <a:rPr lang="en-US" altLang="en-US">
                <a:latin typeface="Times New Roman" pitchFamily="18" charset="0"/>
              </a:rPr>
              <a:pPr defTabSz="920750" eaLnBrk="0" hangingPunct="0"/>
              <a:t>35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3588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lIns="92469" tIns="46234" rIns="92469" bIns="46234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920750" eaLnBrk="0" hangingPunct="0"/>
            <a:fld id="{5825B6F6-6E04-4D03-9797-649B944B165E}" type="slidenum">
              <a:rPr lang="en-US" altLang="en-US">
                <a:latin typeface="Times New Roman" pitchFamily="18" charset="0"/>
              </a:rPr>
              <a:pPr defTabSz="920750" eaLnBrk="0" hangingPunct="0"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3588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920750" eaLnBrk="0" hangingPunct="0"/>
            <a:fld id="{5A5B30EE-C0CA-48DB-9CD7-89E041A83DBC}" type="slidenum">
              <a:rPr lang="en-US" altLang="en-US">
                <a:latin typeface="Times New Roman" pitchFamily="18" charset="0"/>
              </a:rPr>
              <a:pPr defTabSz="920750" eaLnBrk="0" hangingPunct="0"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3588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305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767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21004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10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00325" y="4899792"/>
            <a:ext cx="3943349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spcBef>
                <a:spcPts val="75"/>
              </a:spcBef>
            </a:pPr>
            <a:r>
              <a:rPr dirty="0">
                <a:latin typeface="Carlito"/>
                <a:cs typeface="Carlito"/>
              </a:rPr>
              <a:t>Asst.</a:t>
            </a:r>
            <a:r>
              <a:rPr spc="-49" dirty="0">
                <a:latin typeface="Carlito"/>
                <a:cs typeface="Carlito"/>
              </a:rPr>
              <a:t> </a:t>
            </a:r>
            <a:r>
              <a:rPr spc="-19" dirty="0">
                <a:latin typeface="Carlito"/>
                <a:cs typeface="Carlito"/>
              </a:rPr>
              <a:t>Prof.</a:t>
            </a:r>
            <a:r>
              <a:rPr spc="-34" dirty="0">
                <a:latin typeface="Carlito"/>
                <a:cs typeface="Carlito"/>
              </a:rPr>
              <a:t> </a:t>
            </a:r>
            <a:r>
              <a:rPr spc="-60" dirty="0">
                <a:latin typeface="Carlito"/>
                <a:cs typeface="Carlito"/>
              </a:rPr>
              <a:t>Dr.</a:t>
            </a:r>
            <a:r>
              <a:rPr spc="-41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Damla</a:t>
            </a:r>
            <a:r>
              <a:rPr spc="-34" dirty="0">
                <a:latin typeface="Carlito"/>
                <a:cs typeface="Carlito"/>
              </a:rPr>
              <a:t> </a:t>
            </a:r>
            <a:r>
              <a:rPr spc="-8" dirty="0">
                <a:latin typeface="Carlito"/>
                <a:cs typeface="Carlito"/>
              </a:rPr>
              <a:t>Topallı</a:t>
            </a:r>
            <a:endParaRPr dirty="0">
              <a:latin typeface="Carlito"/>
              <a:cs typeface="Carlito"/>
            </a:endParaRPr>
          </a:p>
          <a:p>
            <a:pPr marL="476" algn="ctr"/>
            <a:r>
              <a:rPr lang="en-US" dirty="0">
                <a:latin typeface="Carlito"/>
                <a:cs typeface="Carlito"/>
              </a:rPr>
              <a:t>Ankara</a:t>
            </a:r>
            <a:r>
              <a:rPr spc="-64" dirty="0">
                <a:latin typeface="Carlito"/>
                <a:cs typeface="Carlito"/>
              </a:rPr>
              <a:t> </a:t>
            </a:r>
            <a:r>
              <a:rPr spc="-8" dirty="0">
                <a:latin typeface="Carlito"/>
                <a:cs typeface="Carlito"/>
              </a:rPr>
              <a:t>University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8749" y="1958208"/>
            <a:ext cx="6286500" cy="213840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3" algn="ctr">
              <a:spcBef>
                <a:spcPts val="75"/>
              </a:spcBef>
            </a:pPr>
            <a:r>
              <a:rPr lang="en-US" sz="2700" b="1" spc="-8" dirty="0">
                <a:solidFill>
                  <a:srgbClr val="202429"/>
                </a:solidFill>
                <a:latin typeface="Arial"/>
                <a:cs typeface="Arial"/>
              </a:rPr>
              <a:t>COM4569</a:t>
            </a:r>
            <a:r>
              <a:rPr lang="en-US" sz="2700" dirty="0">
                <a:latin typeface="Arial"/>
                <a:cs typeface="Arial"/>
              </a:rPr>
              <a:t>/</a:t>
            </a:r>
            <a:r>
              <a:rPr sz="2700" b="1" spc="-8" dirty="0">
                <a:solidFill>
                  <a:srgbClr val="202429"/>
                </a:solidFill>
                <a:latin typeface="Arial"/>
                <a:cs typeface="Arial"/>
              </a:rPr>
              <a:t>CMP</a:t>
            </a:r>
            <a:r>
              <a:rPr lang="en-US" sz="2700" b="1" spc="-8" dirty="0">
                <a:solidFill>
                  <a:srgbClr val="202429"/>
                </a:solidFill>
                <a:latin typeface="Arial"/>
                <a:cs typeface="Arial"/>
              </a:rPr>
              <a:t>4569</a:t>
            </a:r>
            <a:endParaRPr sz="2700" dirty="0">
              <a:latin typeface="Arial"/>
              <a:cs typeface="Arial"/>
            </a:endParaRPr>
          </a:p>
          <a:p>
            <a:pPr algn="ctr">
              <a:spcBef>
                <a:spcPts val="143"/>
              </a:spcBef>
            </a:pPr>
            <a:r>
              <a:rPr lang="en-US" sz="2700" b="1" spc="-38" dirty="0">
                <a:solidFill>
                  <a:srgbClr val="202429"/>
                </a:solidFill>
                <a:latin typeface="Arial"/>
                <a:cs typeface="Arial"/>
              </a:rPr>
              <a:t>Data Mining</a:t>
            </a:r>
          </a:p>
          <a:p>
            <a:pPr algn="ctr">
              <a:spcBef>
                <a:spcPts val="143"/>
              </a:spcBef>
            </a:pPr>
            <a:endParaRPr lang="en-US" sz="2700" b="1" spc="-38" dirty="0">
              <a:solidFill>
                <a:srgbClr val="202429"/>
              </a:solidFill>
              <a:latin typeface="Arial"/>
              <a:cs typeface="Arial"/>
            </a:endParaRPr>
          </a:p>
          <a:p>
            <a:pPr algn="ctr">
              <a:spcBef>
                <a:spcPts val="143"/>
              </a:spcBef>
            </a:pPr>
            <a:endParaRPr lang="en-US" sz="2700" b="1" spc="-38" dirty="0">
              <a:solidFill>
                <a:srgbClr val="202429"/>
              </a:solidFill>
              <a:latin typeface="Arial"/>
              <a:cs typeface="Arial"/>
            </a:endParaRPr>
          </a:p>
          <a:p>
            <a:pPr algn="ctr">
              <a:spcBef>
                <a:spcPts val="143"/>
              </a:spcBef>
            </a:pPr>
            <a:r>
              <a:rPr lang="en-US" sz="2700" b="1" spc="-38" dirty="0">
                <a:solidFill>
                  <a:srgbClr val="202429"/>
                </a:solidFill>
                <a:latin typeface="Arial"/>
                <a:cs typeface="Arial"/>
              </a:rPr>
              <a:t>Week-1: Introduction</a:t>
            </a:r>
            <a:endParaRPr sz="2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525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tr-TR" sz="3600" b="1" dirty="0"/>
              <a:t>Terminology: Data, Information, Knowledge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4952" y="6324600"/>
            <a:ext cx="2289048" cy="365760"/>
          </a:xfrm>
        </p:spPr>
        <p:txBody>
          <a:bodyPr/>
          <a:lstStyle/>
          <a:p>
            <a:fld id="{1B1D3E5F-8069-46FC-BBC8-A857F4B2A024}" type="datetime4">
              <a:rPr lang="en-US" smtClean="0"/>
              <a:pPr/>
              <a:t>September 24,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14600" y="6324600"/>
            <a:ext cx="3352800" cy="365125"/>
          </a:xfrm>
        </p:spPr>
        <p:txBody>
          <a:bodyPr/>
          <a:lstStyle/>
          <a:p>
            <a:r>
              <a:rPr lang="en-US" dirty="0"/>
              <a:t>Data Mining: Concepts and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F429-73E0-4B18-B086-83558DC20FE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152400" y="1524000"/>
            <a:ext cx="8534400" cy="4800600"/>
          </a:xfrm>
        </p:spPr>
        <p:txBody>
          <a:bodyPr>
            <a:normAutofit fontScale="92500" lnSpcReduction="10000"/>
          </a:bodyPr>
          <a:lstStyle/>
          <a:p>
            <a:r>
              <a:rPr lang="tr-TR" sz="3300" b="1" dirty="0">
                <a:solidFill>
                  <a:schemeClr val="tx2"/>
                </a:solidFill>
              </a:rPr>
              <a:t>Data Mining: </a:t>
            </a:r>
            <a:r>
              <a:rPr lang="tr-TR" sz="3300" dirty="0">
                <a:solidFill>
                  <a:srgbClr val="FF0000"/>
                </a:solidFill>
              </a:rPr>
              <a:t>Knowledge</a:t>
            </a:r>
            <a:r>
              <a:rPr lang="tr-TR" sz="3300" dirty="0"/>
              <a:t> discovery from </a:t>
            </a:r>
            <a:r>
              <a:rPr lang="tr-TR" sz="3300" dirty="0">
                <a:solidFill>
                  <a:srgbClr val="FF0000"/>
                </a:solidFill>
              </a:rPr>
              <a:t>data</a:t>
            </a:r>
            <a:r>
              <a:rPr lang="tr-TR" sz="3300" dirty="0"/>
              <a:t>.</a:t>
            </a:r>
          </a:p>
          <a:p>
            <a:endParaRPr lang="tr-TR" dirty="0"/>
          </a:p>
          <a:p>
            <a:r>
              <a:rPr lang="tr-TR" b="1" dirty="0"/>
              <a:t>Data: </a:t>
            </a:r>
            <a:r>
              <a:rPr lang="tr-TR" dirty="0"/>
              <a:t>Unstructured, raw facts. It can be useful or not. </a:t>
            </a:r>
            <a:endParaRPr lang="tr-TR" i="1" dirty="0"/>
          </a:p>
          <a:p>
            <a:pPr>
              <a:buNone/>
            </a:pPr>
            <a:endParaRPr lang="tr-TR" dirty="0"/>
          </a:p>
          <a:p>
            <a:r>
              <a:rPr lang="tr-TR" b="1" dirty="0"/>
              <a:t>Information: </a:t>
            </a:r>
            <a:r>
              <a:rPr lang="tr-TR" dirty="0"/>
              <a:t>Information is the data that is organized. </a:t>
            </a:r>
            <a:endParaRPr lang="tr-TR" dirty="0">
              <a:solidFill>
                <a:srgbClr val="FF0000"/>
              </a:solidFill>
            </a:endParaRPr>
          </a:p>
          <a:p>
            <a:pPr lvl="1"/>
            <a:r>
              <a:rPr lang="tr-TR" dirty="0">
                <a:solidFill>
                  <a:srgbClr val="002060"/>
                </a:solidFill>
              </a:rPr>
              <a:t>It’s meaning value is higher than the data. </a:t>
            </a:r>
          </a:p>
          <a:p>
            <a:pPr>
              <a:buNone/>
            </a:pPr>
            <a:r>
              <a:rPr lang="tr-TR" i="1" dirty="0">
                <a:solidFill>
                  <a:srgbClr val="002060"/>
                </a:solidFill>
              </a:rPr>
              <a:t>	</a:t>
            </a:r>
            <a:endParaRPr lang="tr-TR" dirty="0">
              <a:solidFill>
                <a:srgbClr val="002060"/>
              </a:solidFill>
            </a:endParaRPr>
          </a:p>
          <a:p>
            <a:r>
              <a:rPr lang="tr-TR" b="1" dirty="0"/>
              <a:t>Knowledge: </a:t>
            </a:r>
          </a:p>
          <a:p>
            <a:pPr lvl="1"/>
            <a:r>
              <a:rPr lang="tr-TR" dirty="0"/>
              <a:t>Knowledge is </a:t>
            </a:r>
            <a:r>
              <a:rPr lang="tr-TR" dirty="0">
                <a:solidFill>
                  <a:srgbClr val="002060"/>
                </a:solidFill>
              </a:rPr>
              <a:t>the collection of the information.</a:t>
            </a:r>
          </a:p>
          <a:p>
            <a:pPr lvl="1"/>
            <a:r>
              <a:rPr lang="tr-TR" dirty="0"/>
              <a:t>It refers to the </a:t>
            </a:r>
            <a:r>
              <a:rPr lang="tr-TR" dirty="0">
                <a:solidFill>
                  <a:srgbClr val="002060"/>
                </a:solidFill>
              </a:rPr>
              <a:t>practical use of information. </a:t>
            </a:r>
          </a:p>
          <a:p>
            <a:pPr lvl="1"/>
            <a:r>
              <a:rPr lang="tr-TR" dirty="0"/>
              <a:t>It must be </a:t>
            </a:r>
            <a:r>
              <a:rPr lang="tr-TR" dirty="0">
                <a:solidFill>
                  <a:srgbClr val="002060"/>
                </a:solidFill>
              </a:rPr>
              <a:t>meaningful and useful. </a:t>
            </a:r>
          </a:p>
          <a:p>
            <a:pPr lvl="1"/>
            <a:r>
              <a:rPr lang="tr-TR" dirty="0"/>
              <a:t>Knowledge is a decision mechanism.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tr-TR" sz="3600" b="1" dirty="0"/>
              <a:t>Terminology: Data, Information, Knowledge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3E5F-8069-46FC-BBC8-A857F4B2A024}" type="datetime4">
              <a:rPr lang="en-US" smtClean="0"/>
              <a:pPr/>
              <a:t>September 24,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F429-73E0-4B18-B086-83558DC20FE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90600" y="1600200"/>
            <a:ext cx="3276600" cy="3276600"/>
          </a:xfrm>
        </p:spPr>
        <p:txBody>
          <a:bodyPr>
            <a:normAutofit/>
          </a:bodyPr>
          <a:lstStyle/>
          <a:p>
            <a:r>
              <a:rPr lang="tr-TR" dirty="0"/>
              <a:t>Making Decisions</a:t>
            </a:r>
          </a:p>
          <a:p>
            <a:r>
              <a:rPr lang="tr-TR" dirty="0"/>
              <a:t>Combined</a:t>
            </a:r>
          </a:p>
          <a:p>
            <a:r>
              <a:rPr lang="tr-TR" dirty="0"/>
              <a:t>Analysed</a:t>
            </a:r>
          </a:p>
          <a:p>
            <a:r>
              <a:rPr lang="tr-TR" dirty="0"/>
              <a:t>Summarized</a:t>
            </a:r>
          </a:p>
          <a:p>
            <a:r>
              <a:rPr lang="tr-TR" dirty="0"/>
              <a:t>Organized</a:t>
            </a:r>
          </a:p>
          <a:p>
            <a:r>
              <a:rPr lang="tr-TR" dirty="0"/>
              <a:t>Collected</a:t>
            </a:r>
          </a:p>
        </p:txBody>
      </p:sp>
      <p:pic>
        <p:nvPicPr>
          <p:cNvPr id="909314" name="Picture 2" descr="C:\Users\Damla\Desktop\6a00e54f8d091388330133f1fd373e970b-800w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828800"/>
            <a:ext cx="3657600" cy="28956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90600" y="347663"/>
            <a:ext cx="7239000" cy="566737"/>
          </a:xfrm>
          <a:noFill/>
          <a:ln/>
        </p:spPr>
        <p:txBody>
          <a:bodyPr lIns="92075" tIns="46038" rIns="92075" bIns="46038" anchor="ctr">
            <a:normAutofit fontScale="90000"/>
          </a:bodyPr>
          <a:lstStyle/>
          <a:p>
            <a:r>
              <a:rPr lang="en-US" sz="3200"/>
              <a:t>Evolution of Database Technology</a:t>
            </a:r>
            <a:endParaRPr lang="en-US" sz="1800" b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F8EBC-EC6F-4868-A72A-5FED1E0D8318}" type="datetime4">
              <a:rPr lang="en-US"/>
              <a:pPr/>
              <a:t>September 24,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4A87-311E-474D-BA56-9E2F403AAB5B}" type="slidenum">
              <a:rPr lang="en-US"/>
              <a:pPr/>
              <a:t>4</a:t>
            </a:fld>
            <a:endParaRPr lang="en-US"/>
          </a:p>
        </p:txBody>
      </p:sp>
      <p:sp>
        <p:nvSpPr>
          <p:cNvPr id="619523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381000" y="1219200"/>
            <a:ext cx="8382000" cy="51054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1960s: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Data collection, database creation, IMS and network DBMS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1970s: 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Relational data model, relational DBMS implementation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1980s: 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RDBMS, advanced data models (extended-relational, OO, deductive, etc.) 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Application-oriented DBMS (spatial, scientific, engineering, etc.)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1990s: </a:t>
            </a:r>
          </a:p>
          <a:p>
            <a:pPr lvl="1">
              <a:lnSpc>
                <a:spcPct val="110000"/>
              </a:lnSpc>
            </a:pPr>
            <a:r>
              <a:rPr lang="en-US" sz="1800" dirty="0">
                <a:solidFill>
                  <a:srgbClr val="FF0000"/>
                </a:solidFill>
              </a:rPr>
              <a:t>Data mining, </a:t>
            </a:r>
            <a:r>
              <a:rPr lang="en-US" sz="1800" dirty="0"/>
              <a:t>data warehousing, multimedia databases, and Web databases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2000s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Stream data management and mining</a:t>
            </a:r>
          </a:p>
          <a:p>
            <a:pPr lvl="1">
              <a:lnSpc>
                <a:spcPct val="110000"/>
              </a:lnSpc>
            </a:pPr>
            <a:r>
              <a:rPr lang="en-US" sz="1800" dirty="0">
                <a:solidFill>
                  <a:srgbClr val="FF0000"/>
                </a:solidFill>
              </a:rPr>
              <a:t>Data mining and its applications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Web technology (XML, data integration) and global information systems</a:t>
            </a:r>
            <a:r>
              <a:rPr lang="en-US" sz="900" dirty="0"/>
              <a:t> 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Current State of Data Mining</a:t>
            </a:r>
            <a:br>
              <a:rPr lang="tr-TR" dirty="0"/>
            </a:br>
            <a:endParaRPr lang="tr-T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3E5F-8069-46FC-BBC8-A857F4B2A024}" type="datetime4">
              <a:rPr lang="en-US" smtClean="0"/>
              <a:pPr/>
              <a:t>September 24,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Mining: Concepts and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F429-73E0-4B18-B086-83558DC20F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Data Mining is a new and active area of technological development.</a:t>
            </a:r>
          </a:p>
          <a:p>
            <a:r>
              <a:rPr lang="tr-TR" dirty="0"/>
              <a:t>Many new data mining algorithms for mining techniques like classification,  and clustering were developed.</a:t>
            </a:r>
          </a:p>
          <a:p>
            <a:r>
              <a:rPr lang="tr-TR" dirty="0"/>
              <a:t>Data mining software tools such as IBM Intelligent Miner, Clementine, SPSS, Microsoft SQL Server (extend to include Data Mining facilities) and Weka are widely used.</a:t>
            </a:r>
          </a:p>
          <a:p>
            <a:endParaRPr lang="tr-TR" i="1" dirty="0"/>
          </a:p>
          <a:p>
            <a:r>
              <a:rPr lang="tr-TR" i="1" dirty="0"/>
              <a:t>Main Application Areas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Finance,  Marketing, Medicine, Biology, so on..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153400" cy="685800"/>
          </a:xfrm>
          <a:noFill/>
          <a:ln/>
        </p:spPr>
        <p:txBody>
          <a:bodyPr lIns="92075" tIns="46038" rIns="92075" bIns="46038" anchor="ctr">
            <a:normAutofit fontScale="90000"/>
          </a:bodyPr>
          <a:lstStyle/>
          <a:p>
            <a:r>
              <a:rPr lang="en-US" sz="3200" dirty="0"/>
              <a:t>Why Data Mining?</a:t>
            </a:r>
            <a:br>
              <a:rPr lang="tr-TR" sz="3200" dirty="0"/>
            </a:br>
            <a:r>
              <a:rPr lang="en-US" sz="32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D825-7BDE-4255-935F-913C8703F52C}" type="datetime4">
              <a:rPr lang="en-US"/>
              <a:pPr/>
              <a:t>September 24,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EE4C-F4C6-4447-8ACE-9F9EFC6CC50C}" type="slidenum">
              <a:rPr lang="en-US"/>
              <a:pPr/>
              <a:t>6</a:t>
            </a:fld>
            <a:endParaRPr lang="en-US"/>
          </a:p>
        </p:txBody>
      </p:sp>
      <p:sp>
        <p:nvSpPr>
          <p:cNvPr id="428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610600" cy="51054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0000"/>
                </a:solidFill>
              </a:rPr>
              <a:t>The Explosive Growth of Data: from terabytes to </a:t>
            </a:r>
            <a:r>
              <a:rPr lang="en-US" sz="2000" dirty="0" err="1">
                <a:solidFill>
                  <a:srgbClr val="FF0000"/>
                </a:solidFill>
              </a:rPr>
              <a:t>petabytes</a:t>
            </a:r>
            <a:r>
              <a:rPr lang="tr-TR" sz="2000" dirty="0">
                <a:solidFill>
                  <a:srgbClr val="FF0000"/>
                </a:solidFill>
              </a:rPr>
              <a:t> (Big Data!)</a:t>
            </a:r>
            <a:endParaRPr lang="en-US" sz="2000" dirty="0">
              <a:solidFill>
                <a:srgbClr val="FF0000"/>
              </a:solidFill>
            </a:endParaRPr>
          </a:p>
          <a:p>
            <a:pPr lvl="1">
              <a:lnSpc>
                <a:spcPct val="130000"/>
              </a:lnSpc>
            </a:pPr>
            <a:r>
              <a:rPr lang="en-US" sz="2000" dirty="0"/>
              <a:t>Data collection and data availability</a:t>
            </a:r>
          </a:p>
          <a:p>
            <a:pPr lvl="2">
              <a:lnSpc>
                <a:spcPct val="130000"/>
              </a:lnSpc>
            </a:pPr>
            <a:r>
              <a:rPr lang="en-US" sz="2000" dirty="0"/>
              <a:t>Automated data collection tools, database systems, Web, computerized society</a:t>
            </a:r>
          </a:p>
          <a:p>
            <a:pPr lvl="1">
              <a:lnSpc>
                <a:spcPct val="130000"/>
              </a:lnSpc>
            </a:pPr>
            <a:r>
              <a:rPr lang="en-US" sz="2000" dirty="0"/>
              <a:t>Major sources of </a:t>
            </a:r>
            <a:r>
              <a:rPr lang="tr-TR" sz="2000" dirty="0"/>
              <a:t>huge </a:t>
            </a:r>
            <a:r>
              <a:rPr lang="en-US" sz="2000" dirty="0"/>
              <a:t>data</a:t>
            </a:r>
          </a:p>
          <a:p>
            <a:pPr lvl="2">
              <a:lnSpc>
                <a:spcPct val="130000"/>
              </a:lnSpc>
            </a:pPr>
            <a:r>
              <a:rPr lang="en-US" sz="2000" dirty="0"/>
              <a:t>Business: Web, e-commerce, transactions, stocks, … </a:t>
            </a:r>
          </a:p>
          <a:p>
            <a:pPr lvl="2">
              <a:lnSpc>
                <a:spcPct val="130000"/>
              </a:lnSpc>
            </a:pPr>
            <a:r>
              <a:rPr lang="en-US" sz="2000" dirty="0"/>
              <a:t>Science: Remote sensing, bioinformatics, scientific simulation, … </a:t>
            </a:r>
          </a:p>
          <a:p>
            <a:pPr lvl="2">
              <a:lnSpc>
                <a:spcPct val="130000"/>
              </a:lnSpc>
            </a:pPr>
            <a:r>
              <a:rPr lang="en-US" sz="2000" dirty="0"/>
              <a:t>Society and everyone: news, digital cameras, YouTube   </a:t>
            </a:r>
          </a:p>
          <a:p>
            <a:pPr>
              <a:lnSpc>
                <a:spcPct val="130000"/>
              </a:lnSpc>
            </a:pPr>
            <a:r>
              <a:rPr lang="en-US" sz="2000" u="sng" dirty="0">
                <a:solidFill>
                  <a:srgbClr val="FF0000"/>
                </a:solidFill>
              </a:rPr>
              <a:t>We are drowning in data, but starving for knowledge!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Big Data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D1777-74F1-4F3B-A6FE-854A5CCABCCF}" type="slidenum">
              <a:rPr lang="en-US" altLang="en-US"/>
              <a:pPr/>
              <a:t>7</a:t>
            </a:fld>
            <a:endParaRPr lang="en-US" altLang="en-US" dirty="0"/>
          </a:p>
        </p:txBody>
      </p:sp>
      <p:sp>
        <p:nvSpPr>
          <p:cNvPr id="138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Europe's Very Long Baseline Interferometry (VLBI) has 16 telescopes, each of which produces </a:t>
            </a:r>
            <a:r>
              <a:rPr lang="en-US" altLang="en-US" b="1" dirty="0">
                <a:solidFill>
                  <a:srgbClr val="FF0000"/>
                </a:solidFill>
              </a:rPr>
              <a:t>1 Gigabit/second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of astronomical data over a 25-day observation session </a:t>
            </a:r>
          </a:p>
          <a:p>
            <a:pPr lvl="1"/>
            <a:r>
              <a:rPr lang="en-US" altLang="en-US" dirty="0"/>
              <a:t>storage and analysis a big problem</a:t>
            </a:r>
          </a:p>
          <a:p>
            <a:r>
              <a:rPr lang="en-US" altLang="en-US" dirty="0"/>
              <a:t>AT&amp;T handles billions of calls per day</a:t>
            </a:r>
          </a:p>
          <a:p>
            <a:pPr lvl="1"/>
            <a:r>
              <a:rPr lang="en-US" altLang="en-US" dirty="0"/>
              <a:t>so much data, it </a:t>
            </a:r>
            <a:r>
              <a:rPr lang="en-US" altLang="en-US" dirty="0">
                <a:solidFill>
                  <a:srgbClr val="FF0000"/>
                </a:solidFill>
              </a:rPr>
              <a:t>cannot be all stored </a:t>
            </a:r>
            <a:r>
              <a:rPr lang="en-US" altLang="en-US" dirty="0"/>
              <a:t>-- analysis has to be done “on the fly”, on streaming data</a:t>
            </a:r>
          </a:p>
          <a:p>
            <a:r>
              <a:rPr lang="en-US" altLang="en-US" dirty="0"/>
              <a:t>data is measured in </a:t>
            </a:r>
            <a:r>
              <a:rPr lang="en-US" altLang="en-US" dirty="0" err="1"/>
              <a:t>Exabytes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What is </a:t>
            </a:r>
            <a:r>
              <a:rPr lang="en-US" altLang="en-US" dirty="0" err="1"/>
              <a:t>exabyte</a:t>
            </a:r>
            <a:r>
              <a:rPr lang="en-US" altLang="en-US" dirty="0"/>
              <a:t>?</a:t>
            </a:r>
            <a:endParaRPr lang="tr-TR" altLang="en-US" dirty="0"/>
          </a:p>
          <a:p>
            <a:pPr lvl="2"/>
            <a:r>
              <a:rPr lang="tr-TR" sz="1800" i="1" dirty="0">
                <a:solidFill>
                  <a:schemeClr val="bg1">
                    <a:lumMod val="50000"/>
                  </a:schemeClr>
                </a:solidFill>
              </a:rPr>
              <a:t>1024 Megabytes = 1 Gigabyte</a:t>
            </a:r>
          </a:p>
          <a:p>
            <a:pPr lvl="2"/>
            <a:r>
              <a:rPr lang="tr-TR" sz="1800" i="1" dirty="0">
                <a:solidFill>
                  <a:schemeClr val="bg1">
                    <a:lumMod val="50000"/>
                  </a:schemeClr>
                </a:solidFill>
              </a:rPr>
              <a:t>1024 Gigabytes = 1 Terabyte </a:t>
            </a:r>
          </a:p>
          <a:p>
            <a:pPr lvl="2"/>
            <a:r>
              <a:rPr lang="tr-TR" sz="1800" i="1" dirty="0">
                <a:solidFill>
                  <a:schemeClr val="bg1">
                    <a:lumMod val="50000"/>
                  </a:schemeClr>
                </a:solidFill>
              </a:rPr>
              <a:t>1024 Terabytes = 1 Petabyte</a:t>
            </a:r>
          </a:p>
          <a:p>
            <a:pPr lvl="2"/>
            <a:r>
              <a:rPr lang="tr-TR" sz="1800" i="1" dirty="0">
                <a:solidFill>
                  <a:schemeClr val="bg1">
                    <a:lumMod val="50000"/>
                  </a:schemeClr>
                </a:solidFill>
              </a:rPr>
              <a:t>1024 Petabytes = 1 Exabyte</a:t>
            </a:r>
            <a:endParaRPr lang="en-US" altLang="en-US" sz="1800" i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1825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Data Growth: From Terabytes to the Zettabyte Era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8830-54A3-4601-B5A1-864AA63BAFF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03109" name="Text Box 5"/>
          <p:cNvSpPr txBox="1">
            <a:spLocks noChangeArrowheads="1"/>
          </p:cNvSpPr>
          <p:nvPr/>
        </p:nvSpPr>
        <p:spPr bwMode="auto">
          <a:xfrm>
            <a:off x="451104" y="1511344"/>
            <a:ext cx="7467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dirty="0"/>
              <a:t>Global data creation and consumption has grown dramatically.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2020: ~64 ZB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2025: ~180 ZB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2028: &gt;390 ZB (forecast)</a:t>
            </a:r>
          </a:p>
          <a:p>
            <a:r>
              <a:rPr lang="en-US" altLang="en-US" i="1" dirty="0"/>
              <a:t>1 Zettabyte (ZB) = 1 billion Terabytes (TB)</a:t>
            </a:r>
          </a:p>
          <a:p>
            <a:endParaRPr lang="en-US" altLang="en-US" dirty="0"/>
          </a:p>
          <a:p>
            <a:r>
              <a:rPr lang="en-US" altLang="en-US" b="1" dirty="0"/>
              <a:t>Why does this matter?</a:t>
            </a:r>
          </a:p>
          <a:p>
            <a:r>
              <a:rPr lang="en-US" altLang="en-US" dirty="0"/>
              <a:t>Collecting data is no longer the main challenge.</a:t>
            </a:r>
          </a:p>
          <a:p>
            <a:r>
              <a:rPr lang="en-US" altLang="en-US" dirty="0"/>
              <a:t>The challenge is extracting useful, reliable, and actionable knowledge from massive, complex, and rapidly generated datasets.</a:t>
            </a:r>
          </a:p>
        </p:txBody>
      </p:sp>
    </p:spTree>
    <p:extLst>
      <p:ext uri="{BB962C8B-B14F-4D97-AF65-F5344CB8AC3E}">
        <p14:creationId xmlns:p14="http://schemas.microsoft.com/office/powerpoint/2010/main" val="29578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3015B-68EC-FE78-5C21-E6F9FCFFB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>
            <a:extLst>
              <a:ext uri="{FF2B5EF4-FFF2-40B4-BE49-F238E27FC236}">
                <a16:creationId xmlns:a16="http://schemas.microsoft.com/office/drawing/2014/main" id="{6F0E39D0-BB60-B782-E168-59DE60D36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Data Growth: From Terabytes to the Zettabyte Era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AFA9C76-C4E8-F4AC-40EB-70FC64EE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8830-54A3-4601-B5A1-864AA63BAFF6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03109" name="Text Box 5">
            <a:extLst>
              <a:ext uri="{FF2B5EF4-FFF2-40B4-BE49-F238E27FC236}">
                <a16:creationId xmlns:a16="http://schemas.microsoft.com/office/drawing/2014/main" id="{33240BFE-E4B3-2AFF-0EDF-B214D5841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733800"/>
            <a:ext cx="7467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dirty="0"/>
              <a:t>DATA MINING IS NEEDED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Discover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Build predictive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Detect anomalies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Support data-driven decisions</a:t>
            </a:r>
          </a:p>
        </p:txBody>
      </p:sp>
      <p:pic>
        <p:nvPicPr>
          <p:cNvPr id="2" name="Picture 1" descr="More data ≠&#10;more knowledge">
            <a:extLst>
              <a:ext uri="{FF2B5EF4-FFF2-40B4-BE49-F238E27FC236}">
                <a16:creationId xmlns:a16="http://schemas.microsoft.com/office/drawing/2014/main" id="{228986BD-A75B-67CC-308E-F220FEE4F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18288"/>
            <a:ext cx="3457575" cy="1123950"/>
          </a:xfrm>
          <a:prstGeom prst="rect">
            <a:avLst/>
          </a:prstGeom>
        </p:spPr>
      </p:pic>
      <p:pic>
        <p:nvPicPr>
          <p:cNvPr id="3" name="Picture 2" descr="The challenge is to turn massive, complex and rapidly generated data into reliable patterns, predictions and decisions.">
            <a:extLst>
              <a:ext uri="{FF2B5EF4-FFF2-40B4-BE49-F238E27FC236}">
                <a16:creationId xmlns:a16="http://schemas.microsoft.com/office/drawing/2014/main" id="{DE8F1D89-C4B3-3905-1B2A-B71C76234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288" y="1718288"/>
            <a:ext cx="34575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42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1700" y="300038"/>
            <a:ext cx="6794500" cy="619125"/>
          </a:xfrm>
          <a:noFill/>
          <a:ln/>
        </p:spPr>
        <p:txBody>
          <a:bodyPr lIns="92075" tIns="46038" rIns="92075" bIns="46038" anchor="ctr"/>
          <a:lstStyle/>
          <a:p>
            <a:r>
              <a:rPr lang="en-US" altLang="en-US" sz="3200" dirty="0"/>
              <a:t>What Is Data Mining?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867B-591B-4DB3-98E8-88415E7E6D95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6205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371600"/>
            <a:ext cx="8153400" cy="51054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Data mining (knowledge discovery from data) 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Extraction of interesting </a:t>
            </a:r>
            <a:r>
              <a:rPr lang="en-US" altLang="en-US" sz="1600" dirty="0"/>
              <a:t>(</a:t>
            </a:r>
            <a:r>
              <a:rPr lang="en-GB" altLang="en-US" sz="2000" u="sng" dirty="0"/>
              <a:t>non-trivial,</a:t>
            </a:r>
            <a:r>
              <a:rPr lang="en-GB" altLang="en-US" sz="2000" dirty="0"/>
              <a:t> </a:t>
            </a:r>
            <a:r>
              <a:rPr lang="en-GB" altLang="en-US" sz="2000" u="sng" dirty="0"/>
              <a:t>implicit</a:t>
            </a:r>
            <a:r>
              <a:rPr lang="en-GB" altLang="en-US" sz="2000" dirty="0"/>
              <a:t>, </a:t>
            </a:r>
            <a:r>
              <a:rPr lang="en-GB" altLang="en-US" sz="2000" u="sng" dirty="0"/>
              <a:t>previously unknown</a:t>
            </a:r>
            <a:r>
              <a:rPr lang="en-GB" altLang="en-US" sz="2000" dirty="0"/>
              <a:t> and </a:t>
            </a:r>
            <a:r>
              <a:rPr lang="en-GB" altLang="en-US" sz="2000" u="sng" dirty="0"/>
              <a:t>potentially useful)</a:t>
            </a:r>
            <a:r>
              <a:rPr lang="en-GB" altLang="en-US" sz="2800" dirty="0"/>
              <a:t> </a:t>
            </a:r>
            <a:r>
              <a:rPr lang="en-GB" altLang="en-US" sz="2000" dirty="0"/>
              <a:t>patterns or knowledge from huge amount of data</a:t>
            </a:r>
            <a:endParaRPr lang="tr-TR" altLang="en-US" sz="2000" dirty="0"/>
          </a:p>
          <a:p>
            <a:pPr lvl="1">
              <a:lnSpc>
                <a:spcPct val="110000"/>
              </a:lnSpc>
              <a:buNone/>
            </a:pPr>
            <a:endParaRPr lang="en-GB" altLang="en-US" sz="2000" dirty="0"/>
          </a:p>
          <a:p>
            <a:pPr>
              <a:lnSpc>
                <a:spcPct val="110000"/>
              </a:lnSpc>
            </a:pPr>
            <a:r>
              <a:rPr lang="en-US" altLang="en-US" sz="2400" dirty="0"/>
              <a:t>Alternative names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Knowledge discovery (mining) in databases (KDD), knowledge extraction, data/pattern analysis, data archeology, data dredging, information harvesting, business intelligence, etc.</a:t>
            </a:r>
          </a:p>
        </p:txBody>
      </p:sp>
      <p:graphicFrame>
        <p:nvGraphicFramePr>
          <p:cNvPr id="620548" name="Object 4"/>
          <p:cNvGraphicFramePr>
            <a:graphicFrameLocks noChangeAspect="1"/>
          </p:cNvGraphicFramePr>
          <p:nvPr/>
        </p:nvGraphicFramePr>
        <p:xfrm>
          <a:off x="7848600" y="0"/>
          <a:ext cx="10874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089050" imgH="1175004" progId="">
                  <p:embed/>
                </p:oleObj>
              </mc:Choice>
              <mc:Fallback>
                <p:oleObj name="Clip" r:id="rId3" imgW="1089050" imgH="1175004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0"/>
                        <a:ext cx="1087438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0549" name="Object 5"/>
          <p:cNvGraphicFramePr>
            <a:graphicFrameLocks noChangeAspect="1"/>
          </p:cNvGraphicFramePr>
          <p:nvPr/>
        </p:nvGraphicFramePr>
        <p:xfrm>
          <a:off x="7239000" y="5105400"/>
          <a:ext cx="1905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4582562" imgH="3358836" progId="">
                  <p:embed/>
                </p:oleObj>
              </mc:Choice>
              <mc:Fallback>
                <p:oleObj name="Clip" r:id="rId5" imgW="4582562" imgH="3358836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105400"/>
                        <a:ext cx="1905000" cy="139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91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Data Mining: Useful Information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727075" y="1371600"/>
            <a:ext cx="8382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482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20000"/>
              </a:spcAft>
            </a:pPr>
            <a:r>
              <a:rPr lang="en-GB" altLang="zh-CN" sz="2400" dirty="0">
                <a:ea typeface="SimSun" pitchFamily="2" charset="-122"/>
              </a:rPr>
              <a:t>Example 1 (A well-known example, not a joke):</a:t>
            </a:r>
          </a:p>
          <a:p>
            <a:pPr>
              <a:spcBef>
                <a:spcPct val="25000"/>
              </a:spcBef>
            </a:pPr>
            <a:r>
              <a:rPr lang="en-GB" altLang="zh-CN" sz="2000" dirty="0">
                <a:ea typeface="SimSun" pitchFamily="2" charset="-122"/>
              </a:rPr>
              <a:t>	</a:t>
            </a:r>
            <a:r>
              <a:rPr lang="en-GB" altLang="zh-CN" sz="2400" dirty="0">
                <a:solidFill>
                  <a:srgbClr val="0033CC"/>
                </a:solidFill>
                <a:ea typeface="SimSun" pitchFamily="2" charset="-122"/>
              </a:rPr>
              <a:t>Customers who purchase </a:t>
            </a:r>
            <a:r>
              <a:rPr lang="en-GB" altLang="zh-CN" sz="2400" i="1" dirty="0">
                <a:solidFill>
                  <a:srgbClr val="0033CC"/>
                </a:solidFill>
                <a:ea typeface="SimSun" pitchFamily="2" charset="-122"/>
              </a:rPr>
              <a:t>beer</a:t>
            </a:r>
            <a:r>
              <a:rPr lang="en-GB" altLang="zh-CN" sz="2400" dirty="0">
                <a:solidFill>
                  <a:srgbClr val="0033CC"/>
                </a:solidFill>
                <a:ea typeface="SimSun" pitchFamily="2" charset="-122"/>
              </a:rPr>
              <a:t> are also likely (say 90%) to purchase </a:t>
            </a:r>
            <a:r>
              <a:rPr lang="en-GB" altLang="zh-CN" sz="2400" i="1" dirty="0">
                <a:solidFill>
                  <a:srgbClr val="0033CC"/>
                </a:solidFill>
                <a:ea typeface="SimSun" pitchFamily="2" charset="-122"/>
              </a:rPr>
              <a:t>nappies</a:t>
            </a:r>
            <a:r>
              <a:rPr lang="en-GB" altLang="zh-CN" sz="2400" dirty="0">
                <a:solidFill>
                  <a:srgbClr val="0033CC"/>
                </a:solidFill>
                <a:ea typeface="SimSun" pitchFamily="2" charset="-122"/>
              </a:rPr>
              <a:t>.</a:t>
            </a:r>
            <a:r>
              <a:rPr lang="en-GB" altLang="zh-CN" sz="2000" dirty="0">
                <a:ea typeface="SimSun" pitchFamily="2" charset="-122"/>
                <a:sym typeface="Symbol" pitchFamily="18" charset="2"/>
              </a:rPr>
              <a:t> </a:t>
            </a:r>
          </a:p>
          <a:p>
            <a:endParaRPr lang="en-GB" altLang="zh-CN" sz="2000" dirty="0">
              <a:ea typeface="SimSun" pitchFamily="2" charset="-122"/>
              <a:sym typeface="Symbol" pitchFamily="18" charset="2"/>
            </a:endParaRPr>
          </a:p>
          <a:p>
            <a:pPr>
              <a:spcAft>
                <a:spcPct val="25000"/>
              </a:spcAft>
            </a:pPr>
            <a:r>
              <a:rPr lang="en-GB" altLang="zh-CN" sz="2400" dirty="0">
                <a:ea typeface="SimSun" pitchFamily="2" charset="-122"/>
              </a:rPr>
              <a:t>Example 2 (May already be in practical use in credit card applications):</a:t>
            </a:r>
            <a:r>
              <a:rPr lang="en-GB" altLang="zh-CN" sz="2000" dirty="0">
                <a:ea typeface="SimSun" pitchFamily="2" charset="-122"/>
              </a:rPr>
              <a:t>	</a:t>
            </a:r>
          </a:p>
          <a:p>
            <a:r>
              <a:rPr lang="en-GB" altLang="zh-CN" sz="2000" dirty="0">
                <a:ea typeface="SimSun" pitchFamily="2" charset="-122"/>
              </a:rPr>
              <a:t>	</a:t>
            </a:r>
            <a:r>
              <a:rPr lang="en-GB" altLang="zh-CN" sz="2400" b="1" dirty="0">
                <a:solidFill>
                  <a:srgbClr val="0033CC"/>
                </a:solidFill>
                <a:ea typeface="SimSun" pitchFamily="2" charset="-122"/>
              </a:rPr>
              <a:t>If </a:t>
            </a:r>
            <a:r>
              <a:rPr lang="en-GB" altLang="zh-CN" sz="2400" dirty="0">
                <a:solidFill>
                  <a:srgbClr val="0033CC"/>
                </a:solidFill>
                <a:ea typeface="SimSun" pitchFamily="2" charset="-122"/>
              </a:rPr>
              <a:t>20,000 </a:t>
            </a:r>
            <a:r>
              <a:rPr lang="en-GB" altLang="zh-CN" sz="2400" dirty="0">
                <a:solidFill>
                  <a:srgbClr val="0033CC"/>
                </a:solidFill>
                <a:ea typeface="SimSun" pitchFamily="2" charset="-122"/>
                <a:sym typeface="Symbol" pitchFamily="18" charset="2"/>
              </a:rPr>
              <a:t> Customer’s Salary  40,000 pounds and Customer has a house, </a:t>
            </a:r>
            <a:r>
              <a:rPr lang="en-GB" altLang="zh-CN" sz="2400" b="1" dirty="0">
                <a:solidFill>
                  <a:srgbClr val="0033CC"/>
                </a:solidFill>
                <a:ea typeface="SimSun" pitchFamily="2" charset="-122"/>
              </a:rPr>
              <a:t>then</a:t>
            </a:r>
            <a:r>
              <a:rPr lang="en-GB" altLang="zh-CN" sz="2400" dirty="0">
                <a:solidFill>
                  <a:srgbClr val="0033CC"/>
                </a:solidFill>
                <a:ea typeface="SimSun" pitchFamily="2" charset="-122"/>
              </a:rPr>
              <a:t> Customer is a safe customer.</a:t>
            </a:r>
            <a:endParaRPr lang="en-GB" altLang="zh-CN" sz="2400" dirty="0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1222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7" name="Rectangle 5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80400" cy="533400"/>
          </a:xfrm>
        </p:spPr>
        <p:txBody>
          <a:bodyPr lIns="0" rIns="0">
            <a:normAutofit fontScale="90000"/>
          </a:bodyPr>
          <a:lstStyle/>
          <a:p>
            <a:r>
              <a:rPr lang="en-US" altLang="en-US"/>
              <a:t>Origins of Data Mining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5843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152400" y="1066800"/>
            <a:ext cx="8839200" cy="5486400"/>
          </a:xfrm>
        </p:spPr>
        <p:txBody>
          <a:bodyPr/>
          <a:lstStyle/>
          <a:p>
            <a:r>
              <a:rPr lang="en-US" altLang="en-US" dirty="0"/>
              <a:t>Draws ideas from machine learning/AI, pattern recognition, statistics, and database systems</a:t>
            </a:r>
          </a:p>
          <a:p>
            <a:r>
              <a:rPr lang="en-US" altLang="en-US" dirty="0"/>
              <a:t>Traditional Techniques</a:t>
            </a:r>
            <a:br>
              <a:rPr lang="en-US" altLang="en-US" dirty="0"/>
            </a:br>
            <a:r>
              <a:rPr lang="en-US" altLang="en-US" dirty="0"/>
              <a:t>may be unsuitable due to </a:t>
            </a:r>
          </a:p>
          <a:p>
            <a:pPr lvl="1"/>
            <a:r>
              <a:rPr lang="en-US" altLang="en-US" dirty="0"/>
              <a:t>Enormity of data</a:t>
            </a:r>
          </a:p>
          <a:p>
            <a:pPr lvl="1"/>
            <a:r>
              <a:rPr lang="en-US" altLang="en-US" dirty="0"/>
              <a:t>High dimensionality </a:t>
            </a:r>
            <a:br>
              <a:rPr lang="en-US" altLang="en-US" dirty="0"/>
            </a:br>
            <a:r>
              <a:rPr lang="en-US" altLang="en-US" dirty="0"/>
              <a:t>of data</a:t>
            </a:r>
          </a:p>
          <a:p>
            <a:pPr lvl="1"/>
            <a:r>
              <a:rPr lang="en-US" altLang="en-US" dirty="0"/>
              <a:t>Heterogeneous, </a:t>
            </a:r>
            <a:br>
              <a:rPr lang="en-US" altLang="en-US" dirty="0"/>
            </a:br>
            <a:r>
              <a:rPr lang="en-US" altLang="en-US" dirty="0"/>
              <a:t>distributed nature </a:t>
            </a:r>
            <a:br>
              <a:rPr lang="en-US" altLang="en-US" dirty="0"/>
            </a:br>
            <a:r>
              <a:rPr lang="en-US" altLang="en-US" dirty="0"/>
              <a:t>of data</a:t>
            </a:r>
          </a:p>
        </p:txBody>
      </p:sp>
      <p:sp>
        <p:nvSpPr>
          <p:cNvPr id="658435" name="Oval 3"/>
          <p:cNvSpPr>
            <a:spLocks noChangeArrowheads="1"/>
          </p:cNvSpPr>
          <p:nvPr/>
        </p:nvSpPr>
        <p:spPr bwMode="auto">
          <a:xfrm>
            <a:off x="5638800" y="3962400"/>
            <a:ext cx="2057400" cy="2108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8436" name="Oval 4"/>
          <p:cNvSpPr>
            <a:spLocks noChangeArrowheads="1"/>
          </p:cNvSpPr>
          <p:nvPr/>
        </p:nvSpPr>
        <p:spPr bwMode="auto">
          <a:xfrm>
            <a:off x="4953000" y="2286000"/>
            <a:ext cx="2057400" cy="2108200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8441" name="Oval 9"/>
          <p:cNvSpPr>
            <a:spLocks noChangeArrowheads="1"/>
          </p:cNvSpPr>
          <p:nvPr/>
        </p:nvSpPr>
        <p:spPr bwMode="auto">
          <a:xfrm>
            <a:off x="6629400" y="2362200"/>
            <a:ext cx="2057400" cy="2108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8442" name="Text Box 10"/>
          <p:cNvSpPr txBox="1">
            <a:spLocks noChangeArrowheads="1"/>
          </p:cNvSpPr>
          <p:nvPr/>
        </p:nvSpPr>
        <p:spPr bwMode="auto">
          <a:xfrm>
            <a:off x="6718300" y="2894013"/>
            <a:ext cx="2133600" cy="95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b="0"/>
              <a:t>Machine Learning/</a:t>
            </a:r>
          </a:p>
          <a:p>
            <a:pPr algn="ctr">
              <a:spcBef>
                <a:spcPct val="15000"/>
              </a:spcBef>
            </a:pPr>
            <a:r>
              <a:rPr lang="en-US" altLang="en-US" sz="1800" b="0"/>
              <a:t>Pattern </a:t>
            </a:r>
            <a:br>
              <a:rPr lang="en-US" altLang="en-US" sz="1800" b="0"/>
            </a:br>
            <a:r>
              <a:rPr lang="en-US" altLang="en-US" sz="1800" b="0"/>
              <a:t> Recognition</a:t>
            </a:r>
          </a:p>
        </p:txBody>
      </p:sp>
      <p:sp>
        <p:nvSpPr>
          <p:cNvPr id="658443" name="Text Box 11"/>
          <p:cNvSpPr txBox="1">
            <a:spLocks noChangeArrowheads="1"/>
          </p:cNvSpPr>
          <p:nvPr/>
        </p:nvSpPr>
        <p:spPr bwMode="auto">
          <a:xfrm>
            <a:off x="5181600" y="2879725"/>
            <a:ext cx="1371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800" b="0"/>
              <a:t>Statistics/</a:t>
            </a:r>
            <a:br>
              <a:rPr lang="en-US" altLang="en-US" sz="1800" b="0"/>
            </a:br>
            <a:r>
              <a:rPr lang="en-US" altLang="en-US" sz="1800" b="0"/>
              <a:t>AI</a:t>
            </a:r>
          </a:p>
        </p:txBody>
      </p:sp>
      <p:sp>
        <p:nvSpPr>
          <p:cNvPr id="658444" name="Oval 12"/>
          <p:cNvSpPr>
            <a:spLocks noChangeArrowheads="1"/>
          </p:cNvSpPr>
          <p:nvPr/>
        </p:nvSpPr>
        <p:spPr bwMode="auto">
          <a:xfrm>
            <a:off x="5943600" y="3505200"/>
            <a:ext cx="1504950" cy="1543050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Data Mining</a:t>
            </a:r>
          </a:p>
        </p:txBody>
      </p:sp>
      <p:sp>
        <p:nvSpPr>
          <p:cNvPr id="658445" name="Text Box 13"/>
          <p:cNvSpPr txBox="1">
            <a:spLocks noChangeArrowheads="1"/>
          </p:cNvSpPr>
          <p:nvPr/>
        </p:nvSpPr>
        <p:spPr bwMode="auto">
          <a:xfrm>
            <a:off x="6096000" y="5105400"/>
            <a:ext cx="1447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b="0"/>
              <a:t>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3931812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06513" y="700088"/>
            <a:ext cx="7110412" cy="973137"/>
          </a:xfrm>
          <a:noFill/>
          <a:ln/>
        </p:spPr>
        <p:txBody>
          <a:bodyPr lIns="92075" tIns="46038" rIns="92075" bIns="46038">
            <a:normAutofit fontScale="90000"/>
          </a:bodyPr>
          <a:lstStyle/>
          <a:p>
            <a:r>
              <a:rPr lang="en-US" altLang="en-US" sz="4000"/>
              <a:t>Data Mining: Confluence of Multiple Disciplines</a:t>
            </a:r>
            <a:r>
              <a:rPr lang="en-US" altLang="en-US" sz="3600" b="1"/>
              <a:t> 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43BB6-61B8-4371-8A4B-F0436CCC4BD3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29379" name="Rectangle 3"/>
          <p:cNvSpPr>
            <a:spLocks noChangeArrowheads="1"/>
          </p:cNvSpPr>
          <p:nvPr/>
        </p:nvSpPr>
        <p:spPr bwMode="auto">
          <a:xfrm>
            <a:off x="3429000" y="3429000"/>
            <a:ext cx="22098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en-US" sz="2800">
                <a:latin typeface="Tahoma" panose="020B0604030504040204" pitchFamily="34" charset="0"/>
              </a:rPr>
              <a:t>Data Mining</a:t>
            </a:r>
          </a:p>
        </p:txBody>
      </p:sp>
      <p:sp>
        <p:nvSpPr>
          <p:cNvPr id="229380" name="Rectangle 4"/>
          <p:cNvSpPr>
            <a:spLocks noChangeArrowheads="1"/>
          </p:cNvSpPr>
          <p:nvPr/>
        </p:nvSpPr>
        <p:spPr bwMode="auto">
          <a:xfrm>
            <a:off x="1752600" y="1905000"/>
            <a:ext cx="1981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Database </a:t>
            </a:r>
          </a:p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Technology</a:t>
            </a:r>
          </a:p>
        </p:txBody>
      </p:sp>
      <p:sp>
        <p:nvSpPr>
          <p:cNvPr id="229381" name="Rectangle 5"/>
          <p:cNvSpPr>
            <a:spLocks noChangeArrowheads="1"/>
          </p:cNvSpPr>
          <p:nvPr/>
        </p:nvSpPr>
        <p:spPr bwMode="auto">
          <a:xfrm>
            <a:off x="5105400" y="1905000"/>
            <a:ext cx="1981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Statistics</a:t>
            </a:r>
          </a:p>
        </p:txBody>
      </p:sp>
      <p:sp>
        <p:nvSpPr>
          <p:cNvPr id="229382" name="Rectangle 6"/>
          <p:cNvSpPr>
            <a:spLocks noChangeArrowheads="1"/>
          </p:cNvSpPr>
          <p:nvPr/>
        </p:nvSpPr>
        <p:spPr bwMode="auto">
          <a:xfrm>
            <a:off x="5638800" y="5257800"/>
            <a:ext cx="1981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Other</a:t>
            </a:r>
          </a:p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Disciplines</a:t>
            </a:r>
          </a:p>
        </p:txBody>
      </p:sp>
      <p:sp>
        <p:nvSpPr>
          <p:cNvPr id="229383" name="Rectangle 7"/>
          <p:cNvSpPr>
            <a:spLocks noChangeArrowheads="1"/>
          </p:cNvSpPr>
          <p:nvPr/>
        </p:nvSpPr>
        <p:spPr bwMode="auto">
          <a:xfrm>
            <a:off x="1371600" y="5181600"/>
            <a:ext cx="1981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Information</a:t>
            </a:r>
          </a:p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Science</a:t>
            </a:r>
          </a:p>
        </p:txBody>
      </p:sp>
      <p:sp>
        <p:nvSpPr>
          <p:cNvPr id="229384" name="Rectangle 8"/>
          <p:cNvSpPr>
            <a:spLocks noChangeArrowheads="1"/>
          </p:cNvSpPr>
          <p:nvPr/>
        </p:nvSpPr>
        <p:spPr bwMode="auto">
          <a:xfrm>
            <a:off x="381000" y="3505200"/>
            <a:ext cx="1981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Machine</a:t>
            </a:r>
          </a:p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Learning</a:t>
            </a:r>
          </a:p>
        </p:txBody>
      </p:sp>
      <p:sp>
        <p:nvSpPr>
          <p:cNvPr id="229385" name="Rectangle 9"/>
          <p:cNvSpPr>
            <a:spLocks noChangeArrowheads="1"/>
          </p:cNvSpPr>
          <p:nvPr/>
        </p:nvSpPr>
        <p:spPr bwMode="auto">
          <a:xfrm>
            <a:off x="6781800" y="3505200"/>
            <a:ext cx="1981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Visualization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29386" name="Line 10"/>
          <p:cNvSpPr>
            <a:spLocks noChangeShapeType="1"/>
          </p:cNvSpPr>
          <p:nvPr/>
        </p:nvSpPr>
        <p:spPr bwMode="auto">
          <a:xfrm>
            <a:off x="2362200" y="3886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9387" name="Line 11"/>
          <p:cNvSpPr>
            <a:spLocks noChangeShapeType="1"/>
          </p:cNvSpPr>
          <p:nvPr/>
        </p:nvSpPr>
        <p:spPr bwMode="auto">
          <a:xfrm>
            <a:off x="2895600" y="2667000"/>
            <a:ext cx="12954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9388" name="Line 12"/>
          <p:cNvSpPr>
            <a:spLocks noChangeShapeType="1"/>
          </p:cNvSpPr>
          <p:nvPr/>
        </p:nvSpPr>
        <p:spPr bwMode="auto">
          <a:xfrm flipH="1">
            <a:off x="4876800" y="2667000"/>
            <a:ext cx="11430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9389" name="Line 13"/>
          <p:cNvSpPr>
            <a:spLocks noChangeShapeType="1"/>
          </p:cNvSpPr>
          <p:nvPr/>
        </p:nvSpPr>
        <p:spPr bwMode="auto">
          <a:xfrm flipH="1">
            <a:off x="5715000" y="3886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9390" name="Line 14"/>
          <p:cNvSpPr>
            <a:spLocks noChangeShapeType="1"/>
          </p:cNvSpPr>
          <p:nvPr/>
        </p:nvSpPr>
        <p:spPr bwMode="auto">
          <a:xfrm flipH="1" flipV="1">
            <a:off x="5029200" y="4419600"/>
            <a:ext cx="1524000" cy="838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9391" name="Line 15"/>
          <p:cNvSpPr>
            <a:spLocks noChangeShapeType="1"/>
          </p:cNvSpPr>
          <p:nvPr/>
        </p:nvSpPr>
        <p:spPr bwMode="auto">
          <a:xfrm flipV="1">
            <a:off x="2438400" y="4419600"/>
            <a:ext cx="16002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05644"/>
      </p:ext>
    </p:extLst>
  </p:cSld>
  <p:clrMapOvr>
    <a:masterClrMapping/>
  </p:clrMapOvr>
  <p:transition>
    <p:blinds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6456363" cy="850900"/>
          </a:xfrm>
          <a:noFill/>
          <a:ln/>
        </p:spPr>
        <p:txBody>
          <a:bodyPr lIns="92075" tIns="46038" rIns="92075" bIns="46038">
            <a:normAutofit fontScale="90000"/>
          </a:bodyPr>
          <a:lstStyle/>
          <a:p>
            <a:r>
              <a:rPr lang="en-US" altLang="en-US" sz="4000"/>
              <a:t>Data Mining: On What Kind of Data?</a:t>
            </a:r>
            <a:endParaRPr lang="en-US" altLang="en-US" sz="4000" b="1" u="sng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232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229600" cy="4648200"/>
          </a:xfrm>
          <a:noFill/>
          <a:ln/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b="1" dirty="0"/>
              <a:t>Relational databases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/>
              <a:t>Data warehouses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/>
              <a:t>Transactional databases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/>
              <a:t>Advanced DB and information repositories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Object-oriented and object-relational databases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Spatial databases - images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Time-series data and temporal data, sequence data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Text databases and multimedia databases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Heterogeneous and legacy databases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WWW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Data streams of sensors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Structured data – networks, graphs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Spatiotemporal - video</a:t>
            </a:r>
          </a:p>
        </p:txBody>
      </p:sp>
    </p:spTree>
    <p:extLst>
      <p:ext uri="{BB962C8B-B14F-4D97-AF65-F5344CB8AC3E}">
        <p14:creationId xmlns:p14="http://schemas.microsoft.com/office/powerpoint/2010/main" val="3390780992"/>
      </p:ext>
    </p:extLst>
  </p:cSld>
  <p:clrMapOvr>
    <a:masterClrMapping/>
  </p:clrMapOvr>
  <p:transition>
    <p:blinds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458200" cy="704850"/>
          </a:xfrm>
          <a:noFill/>
          <a:ln/>
        </p:spPr>
        <p:txBody>
          <a:bodyPr lIns="92075" tIns="46038" rIns="92075" bIns="46038" anchor="ctr"/>
          <a:lstStyle/>
          <a:p>
            <a:r>
              <a:rPr lang="en-US" altLang="en-US" sz="2800" dirty="0"/>
              <a:t>Why Data Mining?—Potential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01F-1F1B-4273-8A1A-38012C0499C7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475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914400"/>
            <a:ext cx="8382000" cy="5257800"/>
          </a:xfrm>
          <a:noFill/>
          <a:ln/>
        </p:spPr>
        <p:txBody>
          <a:bodyPr lIns="92075" tIns="46038" rIns="92075" bIns="46038"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altLang="en-US" sz="2100" dirty="0"/>
              <a:t>Data analysis and decision support</a:t>
            </a:r>
          </a:p>
          <a:p>
            <a:pPr lvl="1" algn="just">
              <a:lnSpc>
                <a:spcPct val="120000"/>
              </a:lnSpc>
            </a:pPr>
            <a:r>
              <a:rPr lang="en-US" altLang="en-US" sz="2100" dirty="0"/>
              <a:t>Market analysis and management</a:t>
            </a:r>
          </a:p>
          <a:p>
            <a:pPr lvl="2">
              <a:lnSpc>
                <a:spcPct val="120000"/>
              </a:lnSpc>
            </a:pPr>
            <a:r>
              <a:rPr lang="en-US" altLang="en-US" sz="2100" dirty="0"/>
              <a:t>Target marketing, customer relationship management (CRM),  market basket analysis, cross selling, market segmentation</a:t>
            </a:r>
          </a:p>
          <a:p>
            <a:pPr lvl="1" algn="just">
              <a:lnSpc>
                <a:spcPct val="120000"/>
              </a:lnSpc>
            </a:pPr>
            <a:r>
              <a:rPr lang="en-US" altLang="en-US" sz="2100" dirty="0"/>
              <a:t>Risk analysis and management</a:t>
            </a:r>
          </a:p>
          <a:p>
            <a:pPr lvl="2">
              <a:lnSpc>
                <a:spcPct val="120000"/>
              </a:lnSpc>
            </a:pPr>
            <a:r>
              <a:rPr lang="en-US" altLang="en-US" sz="2100" dirty="0"/>
              <a:t>Forecasting, customer retention, improved underwriting, quality control, competitive analysis</a:t>
            </a:r>
          </a:p>
          <a:p>
            <a:pPr lvl="1" algn="just">
              <a:lnSpc>
                <a:spcPct val="120000"/>
              </a:lnSpc>
            </a:pPr>
            <a:r>
              <a:rPr lang="en-US" altLang="en-US" sz="2100" dirty="0"/>
              <a:t>Fraud detection and detection of unusual patterns (outliers)</a:t>
            </a:r>
          </a:p>
          <a:p>
            <a:pPr algn="just">
              <a:lnSpc>
                <a:spcPct val="120000"/>
              </a:lnSpc>
            </a:pPr>
            <a:r>
              <a:rPr lang="en-US" altLang="en-US" sz="2100" dirty="0"/>
              <a:t>Other Applications</a:t>
            </a:r>
          </a:p>
          <a:p>
            <a:pPr lvl="1" algn="just">
              <a:lnSpc>
                <a:spcPct val="120000"/>
              </a:lnSpc>
            </a:pPr>
            <a:r>
              <a:rPr lang="en-US" altLang="en-US" sz="2100" dirty="0"/>
              <a:t>Text mining (news group, email, documents) and Web mining</a:t>
            </a:r>
          </a:p>
          <a:p>
            <a:pPr lvl="1" algn="just">
              <a:lnSpc>
                <a:spcPct val="120000"/>
              </a:lnSpc>
            </a:pPr>
            <a:r>
              <a:rPr lang="en-US" altLang="en-US" sz="2100" dirty="0"/>
              <a:t>Stream data mining</a:t>
            </a:r>
          </a:p>
          <a:p>
            <a:pPr lvl="1" algn="just">
              <a:lnSpc>
                <a:spcPct val="120000"/>
              </a:lnSpc>
            </a:pPr>
            <a:r>
              <a:rPr lang="en-US" altLang="en-US" sz="2100" dirty="0"/>
              <a:t>Bioinformatics and bio-data analysis</a:t>
            </a:r>
          </a:p>
          <a:p>
            <a:pPr marL="760413" lvl="1" indent="-222250"/>
            <a:r>
              <a:rPr lang="en-GB" altLang="zh-CN" sz="2100" dirty="0"/>
              <a:t>Medicine</a:t>
            </a:r>
          </a:p>
          <a:p>
            <a:pPr marL="760413" lvl="1" indent="-222250"/>
            <a:r>
              <a:rPr lang="en-GB" altLang="zh-CN" sz="2100" dirty="0"/>
              <a:t>Agriculture</a:t>
            </a:r>
          </a:p>
          <a:p>
            <a:pPr marL="760413" lvl="1" indent="-222250"/>
            <a:r>
              <a:rPr lang="en-GB" altLang="zh-CN" sz="2100" dirty="0"/>
              <a:t>Society, politics and economics</a:t>
            </a:r>
          </a:p>
          <a:p>
            <a:pPr marL="760413" lvl="1" indent="-222250"/>
            <a:r>
              <a:rPr lang="en-GB" altLang="zh-CN" sz="2100" dirty="0"/>
              <a:t>Science </a:t>
            </a:r>
          </a:p>
          <a:p>
            <a:pPr marL="760413" lvl="1" indent="-222250"/>
            <a:r>
              <a:rPr lang="en-GB" altLang="zh-CN" sz="2100" dirty="0"/>
              <a:t>Engineering</a:t>
            </a:r>
          </a:p>
          <a:p>
            <a:pPr marL="760413" lvl="1" indent="-222250"/>
            <a:r>
              <a:rPr lang="en-GB" altLang="zh-CN" sz="2100" dirty="0"/>
              <a:t>Law enforcement</a:t>
            </a:r>
          </a:p>
          <a:p>
            <a:pPr marL="760413" lvl="1" indent="-222250"/>
            <a:r>
              <a:rPr lang="en-GB" altLang="zh-CN" sz="2100" dirty="0"/>
              <a:t>Military and intelligence (classified)</a:t>
            </a:r>
          </a:p>
          <a:p>
            <a:pPr lvl="1" algn="just">
              <a:lnSpc>
                <a:spcPct val="12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26226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Customer Attrition</a:t>
            </a:r>
            <a:r>
              <a:rPr lang="tr-TR" altLang="en-US" dirty="0"/>
              <a:t> (Losing Customer)</a:t>
            </a:r>
            <a:r>
              <a:rPr lang="en-US" altLang="en-US" dirty="0"/>
              <a:t>: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15043" name="Rectangle 3"/>
          <p:cNvSpPr>
            <a:spLocks noChangeArrowheads="1"/>
          </p:cNvSpPr>
          <p:nvPr/>
        </p:nvSpPr>
        <p:spPr bwMode="auto">
          <a:xfrm>
            <a:off x="685800" y="1524000"/>
            <a:ext cx="7772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25425" indent="-225425">
              <a:spcBef>
                <a:spcPct val="50000"/>
              </a:spcBef>
              <a:buClr>
                <a:srgbClr val="E2007F"/>
              </a:buClr>
              <a:buFont typeface="Wingdings" pitchFamily="2" charset="2"/>
              <a:buChar char="§"/>
              <a:defRPr sz="2800">
                <a:solidFill>
                  <a:schemeClr val="bg2"/>
                </a:solidFill>
                <a:latin typeface="Tahoma" pitchFamily="34" charset="0"/>
              </a:defRPr>
            </a:lvl1pPr>
            <a:lvl2pPr marL="566738" indent="-225425">
              <a:spcBef>
                <a:spcPct val="50000"/>
              </a:spcBef>
              <a:buClr>
                <a:srgbClr val="00C6BD"/>
              </a:buClr>
              <a:buFont typeface="Wingdings" pitchFamily="2" charset="2"/>
              <a:buChar char="§"/>
              <a:defRPr sz="2400">
                <a:solidFill>
                  <a:schemeClr val="bg2"/>
                </a:solidFill>
                <a:latin typeface="Tahoma" pitchFamily="34" charset="0"/>
              </a:defRPr>
            </a:lvl2pPr>
            <a:lvl3pPr indent="-233363">
              <a:spcBef>
                <a:spcPct val="50000"/>
              </a:spcBef>
              <a:buClr>
                <a:srgbClr val="00B2EB"/>
              </a:buClr>
              <a:buFont typeface="Wingdings" pitchFamily="2" charset="2"/>
              <a:buChar char="§"/>
              <a:defRPr sz="2000">
                <a:solidFill>
                  <a:schemeClr val="bg2"/>
                </a:solidFill>
                <a:latin typeface="Tahoma" pitchFamily="34" charset="0"/>
              </a:defRPr>
            </a:lvl3pPr>
            <a:lvl4pPr marL="1254125" indent="-225425">
              <a:spcBef>
                <a:spcPct val="50000"/>
              </a:spcBef>
              <a:buClr>
                <a:srgbClr val="009999"/>
              </a:buClr>
              <a:buFont typeface="Wingdings" pitchFamily="2" charset="2"/>
              <a:buChar char="§"/>
              <a:defRPr sz="1600">
                <a:solidFill>
                  <a:schemeClr val="bg2"/>
                </a:solidFill>
                <a:latin typeface="Tahoma" pitchFamily="34" charset="0"/>
              </a:defRPr>
            </a:lvl4pPr>
            <a:lvl5pPr marL="1541463" indent="-173038">
              <a:spcBef>
                <a:spcPct val="50000"/>
              </a:spcBef>
              <a:buClr>
                <a:srgbClr val="33CC33"/>
              </a:buClr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Tahoma" pitchFamily="34" charset="0"/>
              </a:defRPr>
            </a:lvl5pPr>
            <a:lvl6pPr marL="1998663" indent="-173038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33CC33"/>
              </a:buClr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Tahoma" pitchFamily="34" charset="0"/>
              </a:defRPr>
            </a:lvl6pPr>
            <a:lvl7pPr marL="2455863" indent="-173038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33CC33"/>
              </a:buClr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Tahoma" pitchFamily="34" charset="0"/>
              </a:defRPr>
            </a:lvl7pPr>
            <a:lvl8pPr marL="2913063" indent="-173038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33CC33"/>
              </a:buClr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Tahoma" pitchFamily="34" charset="0"/>
              </a:defRPr>
            </a:lvl8pPr>
            <a:lvl9pPr marL="3370263" indent="-173038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33CC33"/>
              </a:buClr>
              <a:buFont typeface="Wingdings" pitchFamily="2" charset="2"/>
              <a:buChar char="§"/>
              <a:defRPr sz="1200">
                <a:solidFill>
                  <a:schemeClr val="bg2"/>
                </a:solidFill>
                <a:latin typeface="Tahoma" pitchFamily="34" charset="0"/>
              </a:defRPr>
            </a:lvl9pPr>
          </a:lstStyle>
          <a:p>
            <a:pPr>
              <a:lnSpc>
                <a:spcPct val="90000"/>
              </a:lnSpc>
              <a:buClrTx/>
            </a:pPr>
            <a:r>
              <a:rPr lang="en-US" altLang="en-US" sz="2400" dirty="0">
                <a:solidFill>
                  <a:schemeClr val="tx1"/>
                </a:solidFill>
              </a:rPr>
              <a:t>Situation: Attrition rate at for mobile phone customers is around 25-30% a year! </a:t>
            </a:r>
          </a:p>
          <a:p>
            <a:pPr>
              <a:lnSpc>
                <a:spcPct val="90000"/>
              </a:lnSpc>
              <a:buClrTx/>
            </a:pPr>
            <a:r>
              <a:rPr lang="en-US" altLang="en-US" sz="2400" dirty="0">
                <a:solidFill>
                  <a:schemeClr val="tx1"/>
                </a:solidFill>
              </a:rPr>
              <a:t>With this in mind, what is our task?</a:t>
            </a:r>
          </a:p>
          <a:p>
            <a:pPr lvl="1">
              <a:lnSpc>
                <a:spcPct val="90000"/>
              </a:lnSpc>
              <a:buClrTx/>
            </a:pPr>
            <a:r>
              <a:rPr lang="en-US" altLang="en-US" sz="2000" dirty="0">
                <a:solidFill>
                  <a:schemeClr val="tx1"/>
                </a:solidFill>
              </a:rPr>
              <a:t>Assume we have customer information for the past N months.</a:t>
            </a:r>
          </a:p>
          <a:p>
            <a:pPr>
              <a:lnSpc>
                <a:spcPct val="110000"/>
              </a:lnSpc>
              <a:buClrTx/>
            </a:pPr>
            <a:r>
              <a:rPr lang="en-US" altLang="en-US" sz="2400" dirty="0">
                <a:solidFill>
                  <a:schemeClr val="tx1"/>
                </a:solidFill>
              </a:rPr>
              <a:t>Task: </a:t>
            </a:r>
          </a:p>
          <a:p>
            <a:pPr>
              <a:lnSpc>
                <a:spcPct val="110000"/>
              </a:lnSpc>
              <a:buClrTx/>
            </a:pPr>
            <a:r>
              <a:rPr lang="en-US" altLang="en-US" sz="2400" dirty="0">
                <a:solidFill>
                  <a:srgbClr val="FF0000"/>
                </a:solidFill>
              </a:rPr>
              <a:t>Predict who is likely to attrite next month.  </a:t>
            </a:r>
          </a:p>
          <a:p>
            <a:pPr>
              <a:lnSpc>
                <a:spcPct val="110000"/>
              </a:lnSpc>
              <a:buClrTx/>
            </a:pPr>
            <a:r>
              <a:rPr lang="en-US" altLang="en-US" sz="2400" dirty="0">
                <a:solidFill>
                  <a:srgbClr val="FF0000"/>
                </a:solidFill>
              </a:rPr>
              <a:t>Estimate the cost-effective offer to be made to this customer.</a:t>
            </a:r>
          </a:p>
          <a:p>
            <a:pPr lvl="1">
              <a:lnSpc>
                <a:spcPct val="90000"/>
              </a:lnSpc>
              <a:buClrTx/>
            </a:pPr>
            <a:endParaRPr lang="en-US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124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Assessing Credit Risk: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160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373380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Situation</a:t>
            </a:r>
            <a:r>
              <a:rPr lang="en-US" altLang="en-US" sz="2400" dirty="0">
                <a:solidFill>
                  <a:srgbClr val="002060"/>
                </a:solidFill>
              </a:rPr>
              <a:t>: Person applies for a loan</a:t>
            </a:r>
          </a:p>
          <a:p>
            <a:r>
              <a:rPr lang="en-US" altLang="en-US" sz="2400" dirty="0"/>
              <a:t>Task: </a:t>
            </a:r>
            <a:r>
              <a:rPr lang="en-US" altLang="en-US" sz="2400" dirty="0">
                <a:solidFill>
                  <a:srgbClr val="FF0000"/>
                </a:solidFill>
              </a:rPr>
              <a:t>Should a bank approve the loan?</a:t>
            </a:r>
          </a:p>
          <a:p>
            <a:r>
              <a:rPr lang="en-US" altLang="en-US" sz="2400" dirty="0"/>
              <a:t>Note: People who have the best credit don’t need the loans, and people with worst credit are not likely to repay.  Bank’s best customers are in the middle</a:t>
            </a:r>
            <a:r>
              <a:rPr lang="tr-TR" altLang="en-US" sz="2400" dirty="0"/>
              <a:t>.</a:t>
            </a:r>
            <a:endParaRPr lang="en-US" altLang="en-US" sz="2400" dirty="0"/>
          </a:p>
          <a:p>
            <a:r>
              <a:rPr lang="en-US" altLang="en-US" sz="2400" dirty="0"/>
              <a:t>Banks develop credit models using variety of machine learning methods.  </a:t>
            </a:r>
          </a:p>
        </p:txBody>
      </p:sp>
    </p:spTree>
    <p:extLst>
      <p:ext uri="{BB962C8B-B14F-4D97-AF65-F5344CB8AC3E}">
        <p14:creationId xmlns:p14="http://schemas.microsoft.com/office/powerpoint/2010/main" val="1269977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e-commerce: Example</a:t>
            </a:r>
            <a:r>
              <a:rPr lang="en-US" altLang="en-US" dirty="0">
                <a:solidFill>
                  <a:srgbClr val="114FFB"/>
                </a:solidFill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191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/>
              <a:t>A person buys a book (product) at Amazon.com</a:t>
            </a:r>
          </a:p>
          <a:p>
            <a:pPr>
              <a:buFont typeface="Wingdings" pitchFamily="2" charset="2"/>
              <a:buNone/>
            </a:pPr>
            <a:endParaRPr lang="en-US" altLang="en-US" sz="3200"/>
          </a:p>
          <a:p>
            <a:pPr algn="ctr">
              <a:buFont typeface="Wingdings" pitchFamily="2" charset="2"/>
              <a:buNone/>
            </a:pPr>
            <a:r>
              <a:rPr lang="en-US" altLang="en-US" sz="3600"/>
              <a:t>What is the task?</a:t>
            </a:r>
          </a:p>
        </p:txBody>
      </p:sp>
    </p:spTree>
    <p:extLst>
      <p:ext uri="{BB962C8B-B14F-4D97-AF65-F5344CB8AC3E}">
        <p14:creationId xmlns:p14="http://schemas.microsoft.com/office/powerpoint/2010/main" val="214331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Successful e-commerce –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010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Task: </a:t>
            </a:r>
            <a:r>
              <a:rPr lang="en-US" altLang="en-US" dirty="0">
                <a:solidFill>
                  <a:srgbClr val="FF0000"/>
                </a:solidFill>
              </a:rPr>
              <a:t>Recommend other books (products) this person is likely to buy</a:t>
            </a:r>
            <a:r>
              <a:rPr lang="tr-TR" altLang="en-US" dirty="0">
                <a:solidFill>
                  <a:srgbClr val="FF0000"/>
                </a:solidFill>
              </a:rPr>
              <a:t>.</a:t>
            </a:r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/>
              <a:t>Amazon does clustering based on books bought:</a:t>
            </a:r>
          </a:p>
          <a:p>
            <a:pPr lvl="1"/>
            <a:r>
              <a:rPr lang="en-US" altLang="en-US" dirty="0"/>
              <a:t>customers who bought “</a:t>
            </a:r>
            <a:r>
              <a:rPr lang="en-US" altLang="en-US" b="1" dirty="0"/>
              <a:t>Advances in Knowledge Discovery and Data Mining</a:t>
            </a:r>
            <a:r>
              <a:rPr lang="en-US" altLang="en-US" dirty="0"/>
              <a:t>”,  also bought “</a:t>
            </a:r>
            <a:r>
              <a:rPr lang="en-US" altLang="en-US" b="1" dirty="0"/>
              <a:t>Data Mining: Practical Machine Learning Tools and Techniques with Java Implementations</a:t>
            </a:r>
            <a:r>
              <a:rPr lang="en-US" altLang="en-US" dirty="0"/>
              <a:t>” </a:t>
            </a:r>
          </a:p>
          <a:p>
            <a:r>
              <a:rPr lang="en-US" altLang="en-US" dirty="0"/>
              <a:t>Recommendation program is quite successful</a:t>
            </a:r>
          </a:p>
        </p:txBody>
      </p:sp>
    </p:spTree>
    <p:extLst>
      <p:ext uri="{BB962C8B-B14F-4D97-AF65-F5344CB8AC3E}">
        <p14:creationId xmlns:p14="http://schemas.microsoft.com/office/powerpoint/2010/main" val="2571587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sz="3600" dirty="0"/>
              <a:t>Health Care</a:t>
            </a:r>
            <a:r>
              <a:rPr lang="en-US" altLang="en-US" sz="3600" dirty="0"/>
              <a:t>–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170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dirty="0"/>
              <a:t>Given data for a number of samples (patients), can we</a:t>
            </a:r>
          </a:p>
          <a:p>
            <a:r>
              <a:rPr lang="en-US" altLang="en-US" dirty="0"/>
              <a:t>Accurately diagnose the disease? </a:t>
            </a:r>
          </a:p>
          <a:p>
            <a:r>
              <a:rPr lang="en-US" altLang="en-US" dirty="0"/>
              <a:t>Predict outcome for given treatment?</a:t>
            </a:r>
          </a:p>
          <a:p>
            <a:r>
              <a:rPr lang="en-US" altLang="en-US" dirty="0"/>
              <a:t>Recommend best treatment?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8055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altLang="en-US"/>
              <a:t>Major Data Mining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2686-5C08-41D5-A5EB-C6AFECA622D2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457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295400"/>
            <a:ext cx="8305800" cy="44958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marL="342900" indent="-342900">
              <a:lnSpc>
                <a:spcPct val="80000"/>
              </a:lnSpc>
            </a:pPr>
            <a:r>
              <a:rPr lang="en-US" altLang="en-US" b="1" dirty="0"/>
              <a:t>Classification</a:t>
            </a:r>
            <a:r>
              <a:rPr lang="en-US" altLang="en-US" sz="3200" b="1" dirty="0"/>
              <a:t>:</a:t>
            </a:r>
            <a:r>
              <a:rPr lang="en-US" altLang="en-US" dirty="0"/>
              <a:t> predicting an item class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b="1" dirty="0"/>
              <a:t>Clustering</a:t>
            </a:r>
            <a:r>
              <a:rPr lang="en-US" altLang="en-US" sz="3200" b="1" dirty="0"/>
              <a:t>:</a:t>
            </a:r>
            <a:r>
              <a:rPr lang="en-US" altLang="en-US" dirty="0"/>
              <a:t> finding clusters in data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b="1" dirty="0"/>
              <a:t>Associations</a:t>
            </a:r>
            <a:r>
              <a:rPr lang="en-US" altLang="en-US" sz="3200" b="1" dirty="0"/>
              <a:t>:</a:t>
            </a:r>
            <a:r>
              <a:rPr lang="en-US" altLang="en-US" sz="3200" dirty="0"/>
              <a:t> </a:t>
            </a:r>
            <a:r>
              <a:rPr lang="en-US" altLang="en-US" dirty="0"/>
              <a:t>e.g. A &amp; B &amp; C occur frequently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b="1" dirty="0"/>
              <a:t>Visualization:</a:t>
            </a:r>
            <a:r>
              <a:rPr lang="en-US" altLang="en-US" dirty="0"/>
              <a:t> to facilitate human discovery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b="1" dirty="0"/>
              <a:t>Summarization</a:t>
            </a:r>
            <a:r>
              <a:rPr lang="en-US" altLang="en-US" sz="3200" b="1" dirty="0"/>
              <a:t>:</a:t>
            </a:r>
            <a:r>
              <a:rPr lang="en-US" altLang="en-US" dirty="0"/>
              <a:t> describing a group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b="1" dirty="0"/>
              <a:t>Deviation Detection</a:t>
            </a:r>
            <a:r>
              <a:rPr lang="en-US" altLang="en-US" dirty="0"/>
              <a:t>: finding changes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b="1" dirty="0"/>
              <a:t>Estimation</a:t>
            </a:r>
            <a:r>
              <a:rPr lang="en-US" altLang="en-US" dirty="0"/>
              <a:t>: predicting a value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b="1" dirty="0"/>
              <a:t>Link Analysis</a:t>
            </a:r>
            <a:r>
              <a:rPr lang="en-US" altLang="en-US" dirty="0"/>
              <a:t>:  finding relationships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3588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14400"/>
          </a:xfrm>
          <a:noFill/>
          <a:ln/>
        </p:spPr>
        <p:txBody>
          <a:bodyPr lIns="92075" tIns="46038" rIns="92075" bIns="46038" anchor="ctr"/>
          <a:lstStyle/>
          <a:p>
            <a:r>
              <a:rPr lang="en-US" altLang="en-US" sz="3200"/>
              <a:t>Knowledge Discovery (KDD) Process</a:t>
            </a:r>
            <a:endParaRPr lang="en-US" altLang="en-US" sz="3200" b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41347" name="Rectangle 2051"/>
          <p:cNvSpPr>
            <a:spLocks noGrp="1" noChangeArrowheads="1"/>
          </p:cNvSpPr>
          <p:nvPr>
            <p:ph sz="quarter" idx="1"/>
          </p:nvPr>
        </p:nvSpPr>
        <p:spPr>
          <a:xfrm>
            <a:off x="228600" y="1524000"/>
            <a:ext cx="4419600" cy="11430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en-US"/>
              <a:t>Data mining—core of knowledge discovery process</a:t>
            </a:r>
            <a:endParaRPr lang="en-US" altLang="en-US" sz="2000" b="1"/>
          </a:p>
        </p:txBody>
      </p:sp>
      <p:sp>
        <p:nvSpPr>
          <p:cNvPr id="441348" name="Line 2052"/>
          <p:cNvSpPr>
            <a:spLocks noChangeShapeType="1"/>
          </p:cNvSpPr>
          <p:nvPr/>
        </p:nvSpPr>
        <p:spPr bwMode="auto">
          <a:xfrm flipV="1">
            <a:off x="1219200" y="51054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49" name="Line 2053"/>
          <p:cNvSpPr>
            <a:spLocks noChangeShapeType="1"/>
          </p:cNvSpPr>
          <p:nvPr/>
        </p:nvSpPr>
        <p:spPr bwMode="auto">
          <a:xfrm flipV="1">
            <a:off x="6781800" y="16002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0" name="Line 2054"/>
          <p:cNvSpPr>
            <a:spLocks noChangeShapeType="1"/>
          </p:cNvSpPr>
          <p:nvPr/>
        </p:nvSpPr>
        <p:spPr bwMode="auto">
          <a:xfrm flipV="1">
            <a:off x="5105400" y="26670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1" name="Line 2055"/>
          <p:cNvSpPr>
            <a:spLocks noChangeShapeType="1"/>
          </p:cNvSpPr>
          <p:nvPr/>
        </p:nvSpPr>
        <p:spPr bwMode="auto">
          <a:xfrm flipV="1">
            <a:off x="3276600" y="37338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2" name="Oval 2056"/>
          <p:cNvSpPr>
            <a:spLocks noChangeArrowheads="1"/>
          </p:cNvSpPr>
          <p:nvPr/>
        </p:nvSpPr>
        <p:spPr bwMode="auto">
          <a:xfrm>
            <a:off x="228600" y="5562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3" name="Rectangle 2057"/>
          <p:cNvSpPr>
            <a:spLocks noChangeArrowheads="1"/>
          </p:cNvSpPr>
          <p:nvPr/>
        </p:nvSpPr>
        <p:spPr bwMode="auto">
          <a:xfrm>
            <a:off x="228600" y="5638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4" name="Oval 2058"/>
          <p:cNvSpPr>
            <a:spLocks noChangeArrowheads="1"/>
          </p:cNvSpPr>
          <p:nvPr/>
        </p:nvSpPr>
        <p:spPr bwMode="auto">
          <a:xfrm>
            <a:off x="228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5" name="Oval 2059"/>
          <p:cNvSpPr>
            <a:spLocks noChangeArrowheads="1"/>
          </p:cNvSpPr>
          <p:nvPr/>
        </p:nvSpPr>
        <p:spPr bwMode="auto">
          <a:xfrm>
            <a:off x="609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6" name="Rectangle 2060"/>
          <p:cNvSpPr>
            <a:spLocks noChangeArrowheads="1"/>
          </p:cNvSpPr>
          <p:nvPr/>
        </p:nvSpPr>
        <p:spPr bwMode="auto">
          <a:xfrm>
            <a:off x="609600" y="6019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7" name="Oval 2061"/>
          <p:cNvSpPr>
            <a:spLocks noChangeArrowheads="1"/>
          </p:cNvSpPr>
          <p:nvPr/>
        </p:nvSpPr>
        <p:spPr bwMode="auto">
          <a:xfrm>
            <a:off x="609600" y="6324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8" name="Oval 2062"/>
          <p:cNvSpPr>
            <a:spLocks noChangeArrowheads="1"/>
          </p:cNvSpPr>
          <p:nvPr/>
        </p:nvSpPr>
        <p:spPr bwMode="auto">
          <a:xfrm>
            <a:off x="1295400" y="5715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59" name="Rectangle 2063"/>
          <p:cNvSpPr>
            <a:spLocks noChangeArrowheads="1"/>
          </p:cNvSpPr>
          <p:nvPr/>
        </p:nvSpPr>
        <p:spPr bwMode="auto">
          <a:xfrm>
            <a:off x="1295400" y="57912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60" name="Oval 2064"/>
          <p:cNvSpPr>
            <a:spLocks noChangeArrowheads="1"/>
          </p:cNvSpPr>
          <p:nvPr/>
        </p:nvSpPr>
        <p:spPr bwMode="auto">
          <a:xfrm>
            <a:off x="1295400" y="6096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61" name="Text Box 2065"/>
          <p:cNvSpPr txBox="1">
            <a:spLocks noChangeArrowheads="1"/>
          </p:cNvSpPr>
          <p:nvPr/>
        </p:nvSpPr>
        <p:spPr bwMode="auto">
          <a:xfrm>
            <a:off x="304800" y="4876800"/>
            <a:ext cx="1743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latin typeface="Times New Roman" pitchFamily="18" charset="0"/>
              </a:rPr>
              <a:t>Data Cleaning</a:t>
            </a:r>
            <a:endParaRPr lang="en-US" altLang="en-US" sz="1800">
              <a:latin typeface="Times New Roman" pitchFamily="18" charset="0"/>
            </a:endParaRPr>
          </a:p>
        </p:txBody>
      </p:sp>
      <p:sp>
        <p:nvSpPr>
          <p:cNvPr id="441362" name="Text Box 2066"/>
          <p:cNvSpPr txBox="1">
            <a:spLocks noChangeArrowheads="1"/>
          </p:cNvSpPr>
          <p:nvPr/>
        </p:nvSpPr>
        <p:spPr bwMode="auto">
          <a:xfrm>
            <a:off x="1600200" y="5410200"/>
            <a:ext cx="1995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latin typeface="Times New Roman" pitchFamily="18" charset="0"/>
              </a:rPr>
              <a:t>Data Integration</a:t>
            </a:r>
            <a:endParaRPr lang="en-US" altLang="en-US" sz="1800">
              <a:latin typeface="Times New Roman" pitchFamily="18" charset="0"/>
            </a:endParaRPr>
          </a:p>
        </p:txBody>
      </p:sp>
      <p:sp>
        <p:nvSpPr>
          <p:cNvPr id="441363" name="Text Box 2067"/>
          <p:cNvSpPr txBox="1">
            <a:spLocks noChangeArrowheads="1"/>
          </p:cNvSpPr>
          <p:nvPr/>
        </p:nvSpPr>
        <p:spPr bwMode="auto">
          <a:xfrm>
            <a:off x="1371600" y="6248400"/>
            <a:ext cx="1447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>
                <a:solidFill>
                  <a:srgbClr val="000099"/>
                </a:solidFill>
                <a:latin typeface="Times New Roman" pitchFamily="18" charset="0"/>
              </a:rPr>
              <a:t>Databases</a:t>
            </a:r>
          </a:p>
        </p:txBody>
      </p:sp>
      <p:sp>
        <p:nvSpPr>
          <p:cNvPr id="441364" name="Text Box 2068"/>
          <p:cNvSpPr txBox="1">
            <a:spLocks noChangeArrowheads="1"/>
          </p:cNvSpPr>
          <p:nvPr/>
        </p:nvSpPr>
        <p:spPr bwMode="auto">
          <a:xfrm>
            <a:off x="1066800" y="4114800"/>
            <a:ext cx="1997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>
                <a:solidFill>
                  <a:srgbClr val="000099"/>
                </a:solidFill>
                <a:latin typeface="Times New Roman" pitchFamily="18" charset="0"/>
              </a:rPr>
              <a:t>Data Warehouse</a:t>
            </a:r>
          </a:p>
        </p:txBody>
      </p:sp>
      <p:sp>
        <p:nvSpPr>
          <p:cNvPr id="441365" name="Rectangle 2069"/>
          <p:cNvSpPr>
            <a:spLocks noChangeArrowheads="1"/>
          </p:cNvSpPr>
          <p:nvPr/>
        </p:nvSpPr>
        <p:spPr bwMode="auto">
          <a:xfrm>
            <a:off x="2362200" y="4572000"/>
            <a:ext cx="685800" cy="685800"/>
          </a:xfrm>
          <a:prstGeom prst="rect">
            <a:avLst/>
          </a:prstGeom>
          <a:solidFill>
            <a:srgbClr val="00CC66"/>
          </a:solidFill>
          <a:ln w="12700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441366" name="Rectangle 2070"/>
          <p:cNvSpPr>
            <a:spLocks noChangeArrowheads="1"/>
          </p:cNvSpPr>
          <p:nvPr/>
        </p:nvSpPr>
        <p:spPr bwMode="auto">
          <a:xfrm>
            <a:off x="4419600" y="3429000"/>
            <a:ext cx="457200" cy="457200"/>
          </a:xfrm>
          <a:prstGeom prst="rect">
            <a:avLst/>
          </a:prstGeom>
          <a:solidFill>
            <a:srgbClr val="00CC66"/>
          </a:solidFill>
          <a:ln w="12700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441367" name="Rectangle 2071"/>
          <p:cNvSpPr>
            <a:spLocks noChangeArrowheads="1"/>
          </p:cNvSpPr>
          <p:nvPr/>
        </p:nvSpPr>
        <p:spPr bwMode="auto">
          <a:xfrm>
            <a:off x="6477000" y="1981200"/>
            <a:ext cx="76200" cy="609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68" name="Rectangle 2072"/>
          <p:cNvSpPr>
            <a:spLocks noChangeArrowheads="1"/>
          </p:cNvSpPr>
          <p:nvPr/>
        </p:nvSpPr>
        <p:spPr bwMode="auto">
          <a:xfrm>
            <a:off x="6553200" y="2209800"/>
            <a:ext cx="76200" cy="381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69" name="Rectangle 2073"/>
          <p:cNvSpPr>
            <a:spLocks noChangeArrowheads="1"/>
          </p:cNvSpPr>
          <p:nvPr/>
        </p:nvSpPr>
        <p:spPr bwMode="auto">
          <a:xfrm>
            <a:off x="6400800" y="2133600"/>
            <a:ext cx="76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70" name="Rectangle 2074"/>
          <p:cNvSpPr>
            <a:spLocks noChangeArrowheads="1"/>
          </p:cNvSpPr>
          <p:nvPr/>
        </p:nvSpPr>
        <p:spPr bwMode="auto">
          <a:xfrm>
            <a:off x="6629400" y="2362200"/>
            <a:ext cx="76200" cy="228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71" name="Rectangle 2075"/>
          <p:cNvSpPr>
            <a:spLocks noChangeArrowheads="1"/>
          </p:cNvSpPr>
          <p:nvPr/>
        </p:nvSpPr>
        <p:spPr bwMode="auto">
          <a:xfrm>
            <a:off x="6172200" y="2590800"/>
            <a:ext cx="6858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72" name="Rectangle 2076"/>
          <p:cNvSpPr>
            <a:spLocks noChangeArrowheads="1"/>
          </p:cNvSpPr>
          <p:nvPr/>
        </p:nvSpPr>
        <p:spPr bwMode="auto">
          <a:xfrm>
            <a:off x="6248400" y="2362200"/>
            <a:ext cx="152400" cy="22860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73" name="WordArt 2077"/>
          <p:cNvSpPr>
            <a:spLocks noChangeArrowheads="1" noChangeShapeType="1" noTextEdit="1"/>
          </p:cNvSpPr>
          <p:nvPr/>
        </p:nvSpPr>
        <p:spPr bwMode="auto">
          <a:xfrm>
            <a:off x="7086600" y="990600"/>
            <a:ext cx="1743075" cy="6127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kern="10">
                <a:ln w="9525">
                  <a:round/>
                  <a:headEnd type="none" w="sm" len="sm"/>
                  <a:tailEnd type="none" w="sm" len="sm"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Knowledge</a:t>
            </a:r>
          </a:p>
        </p:txBody>
      </p:sp>
      <p:sp>
        <p:nvSpPr>
          <p:cNvPr id="441374" name="Text Box 2078"/>
          <p:cNvSpPr txBox="1">
            <a:spLocks noChangeArrowheads="1"/>
          </p:cNvSpPr>
          <p:nvPr/>
        </p:nvSpPr>
        <p:spPr bwMode="auto">
          <a:xfrm>
            <a:off x="2514600" y="3276600"/>
            <a:ext cx="2278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000099"/>
                </a:solidFill>
                <a:latin typeface="Times New Roman" pitchFamily="18" charset="0"/>
              </a:rPr>
              <a:t>Task-relevant Data</a:t>
            </a:r>
          </a:p>
        </p:txBody>
      </p:sp>
      <p:sp>
        <p:nvSpPr>
          <p:cNvPr id="441375" name="Text Box 2079"/>
          <p:cNvSpPr txBox="1">
            <a:spLocks noChangeArrowheads="1"/>
          </p:cNvSpPr>
          <p:nvPr/>
        </p:nvSpPr>
        <p:spPr bwMode="auto">
          <a:xfrm>
            <a:off x="3641725" y="4052888"/>
            <a:ext cx="1155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latin typeface="Times New Roman" pitchFamily="18" charset="0"/>
              </a:rPr>
              <a:t>Selection</a:t>
            </a:r>
          </a:p>
        </p:txBody>
      </p:sp>
      <p:sp>
        <p:nvSpPr>
          <p:cNvPr id="441376" name="Text Box 2080"/>
          <p:cNvSpPr txBox="1">
            <a:spLocks noChangeArrowheads="1"/>
          </p:cNvSpPr>
          <p:nvPr/>
        </p:nvSpPr>
        <p:spPr bwMode="auto">
          <a:xfrm>
            <a:off x="4267200" y="2590800"/>
            <a:ext cx="1558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chemeClr val="hlink"/>
                </a:solidFill>
                <a:latin typeface="Times New Roman" pitchFamily="18" charset="0"/>
              </a:rPr>
              <a:t>Data Mining</a:t>
            </a:r>
          </a:p>
        </p:txBody>
      </p:sp>
      <p:sp>
        <p:nvSpPr>
          <p:cNvPr id="441377" name="Text Box 2081"/>
          <p:cNvSpPr txBox="1">
            <a:spLocks noChangeArrowheads="1"/>
          </p:cNvSpPr>
          <p:nvPr/>
        </p:nvSpPr>
        <p:spPr bwMode="auto">
          <a:xfrm>
            <a:off x="5257800" y="1676400"/>
            <a:ext cx="2249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latin typeface="Times New Roman" pitchFamily="18" charset="0"/>
              </a:rPr>
              <a:t>Pattern Evaluation</a:t>
            </a:r>
          </a:p>
        </p:txBody>
      </p:sp>
      <p:sp>
        <p:nvSpPr>
          <p:cNvPr id="441378" name="Line 2082"/>
          <p:cNvSpPr>
            <a:spLocks noChangeShapeType="1"/>
          </p:cNvSpPr>
          <p:nvPr/>
        </p:nvSpPr>
        <p:spPr bwMode="auto">
          <a:xfrm>
            <a:off x="5638800" y="31242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79" name="Line 2083"/>
          <p:cNvSpPr>
            <a:spLocks noChangeShapeType="1"/>
          </p:cNvSpPr>
          <p:nvPr/>
        </p:nvSpPr>
        <p:spPr bwMode="auto">
          <a:xfrm>
            <a:off x="7315200" y="2057400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80" name="Line 2084"/>
          <p:cNvSpPr>
            <a:spLocks noChangeShapeType="1"/>
          </p:cNvSpPr>
          <p:nvPr/>
        </p:nvSpPr>
        <p:spPr bwMode="auto">
          <a:xfrm flipH="1">
            <a:off x="3962400" y="52578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81" name="Line 2085"/>
          <p:cNvSpPr>
            <a:spLocks noChangeShapeType="1"/>
          </p:cNvSpPr>
          <p:nvPr/>
        </p:nvSpPr>
        <p:spPr bwMode="auto">
          <a:xfrm flipV="1">
            <a:off x="3962400" y="43434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82" name="Line 2086"/>
          <p:cNvSpPr>
            <a:spLocks noChangeShapeType="1"/>
          </p:cNvSpPr>
          <p:nvPr/>
        </p:nvSpPr>
        <p:spPr bwMode="auto">
          <a:xfrm>
            <a:off x="7315200" y="52578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83" name="Line 2087"/>
          <p:cNvSpPr>
            <a:spLocks noChangeShapeType="1"/>
          </p:cNvSpPr>
          <p:nvPr/>
        </p:nvSpPr>
        <p:spPr bwMode="auto">
          <a:xfrm flipH="1">
            <a:off x="2286000" y="6096000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84" name="Line 2088"/>
          <p:cNvSpPr>
            <a:spLocks noChangeShapeType="1"/>
          </p:cNvSpPr>
          <p:nvPr/>
        </p:nvSpPr>
        <p:spPr bwMode="auto">
          <a:xfrm flipH="1" flipV="1">
            <a:off x="1905000" y="54102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1385" name="Line 2089"/>
          <p:cNvSpPr>
            <a:spLocks noChangeShapeType="1"/>
          </p:cNvSpPr>
          <p:nvPr/>
        </p:nvSpPr>
        <p:spPr bwMode="auto">
          <a:xfrm>
            <a:off x="2057400" y="54102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1386" name="Line 2090"/>
          <p:cNvSpPr>
            <a:spLocks noChangeShapeType="1"/>
          </p:cNvSpPr>
          <p:nvPr/>
        </p:nvSpPr>
        <p:spPr bwMode="auto">
          <a:xfrm flipV="1">
            <a:off x="3657600" y="41910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66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162800" cy="685800"/>
          </a:xfrm>
          <a:noFill/>
          <a:ln/>
        </p:spPr>
        <p:txBody>
          <a:bodyPr lIns="92075" tIns="46038" rIns="92075" bIns="46038" anchor="ctr"/>
          <a:lstStyle/>
          <a:p>
            <a:r>
              <a:rPr lang="en-US" altLang="en-US" sz="3200" dirty="0"/>
              <a:t>KDD Process: Several Key Steps</a:t>
            </a:r>
            <a:endParaRPr lang="en-US" altLang="en-US" sz="28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557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8382000" cy="53340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Learning the application domain</a:t>
            </a:r>
          </a:p>
          <a:p>
            <a:pPr lvl="1">
              <a:lnSpc>
                <a:spcPct val="110000"/>
              </a:lnSpc>
            </a:pPr>
            <a:r>
              <a:rPr lang="en-US" altLang="en-US" sz="1800" dirty="0"/>
              <a:t>relevant prior knowledge and goals of application</a:t>
            </a:r>
          </a:p>
          <a:p>
            <a:pPr>
              <a:lnSpc>
                <a:spcPct val="110000"/>
              </a:lnSpc>
            </a:pPr>
            <a:r>
              <a:rPr lang="en-US" altLang="en-US" sz="2000" dirty="0"/>
              <a:t>Creating a target data set: data selection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rgbClr val="000099"/>
                </a:solidFill>
              </a:rPr>
              <a:t>Data cleaning</a:t>
            </a:r>
            <a:r>
              <a:rPr lang="en-US" altLang="en-US" sz="2000" dirty="0"/>
              <a:t> and preprocessing: (may take 60% of effort!)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rgbClr val="000099"/>
                </a:solidFill>
              </a:rPr>
              <a:t>Data reduction and transformation</a:t>
            </a:r>
          </a:p>
          <a:p>
            <a:pPr lvl="1">
              <a:lnSpc>
                <a:spcPct val="110000"/>
              </a:lnSpc>
            </a:pPr>
            <a:r>
              <a:rPr lang="en-US" altLang="en-US" sz="1800" dirty="0"/>
              <a:t>Find useful features, dimensionality/variable reduction, invariant representation</a:t>
            </a:r>
          </a:p>
          <a:p>
            <a:pPr>
              <a:lnSpc>
                <a:spcPct val="110000"/>
              </a:lnSpc>
            </a:pPr>
            <a:r>
              <a:rPr lang="en-US" altLang="en-US" sz="2000" dirty="0"/>
              <a:t>Choosing functions of data mining </a:t>
            </a:r>
          </a:p>
          <a:p>
            <a:pPr lvl="1">
              <a:lnSpc>
                <a:spcPct val="110000"/>
              </a:lnSpc>
            </a:pPr>
            <a:r>
              <a:rPr lang="en-US" altLang="en-US" sz="1800" dirty="0"/>
              <a:t> summarization, classification, regression, association, clustering</a:t>
            </a:r>
          </a:p>
          <a:p>
            <a:pPr>
              <a:lnSpc>
                <a:spcPct val="110000"/>
              </a:lnSpc>
            </a:pPr>
            <a:r>
              <a:rPr lang="en-US" altLang="en-US" sz="2000" dirty="0"/>
              <a:t>Choosing the mining algorithm(s)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rgbClr val="000099"/>
                </a:solidFill>
              </a:rPr>
              <a:t>Data mining</a:t>
            </a:r>
            <a:r>
              <a:rPr lang="en-US" altLang="en-US" sz="2000" dirty="0"/>
              <a:t>: search for patterns of interest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rgbClr val="000099"/>
                </a:solidFill>
              </a:rPr>
              <a:t>Pattern evaluation and knowledge presentation</a:t>
            </a:r>
          </a:p>
          <a:p>
            <a:pPr lvl="1">
              <a:lnSpc>
                <a:spcPct val="110000"/>
              </a:lnSpc>
            </a:pPr>
            <a:r>
              <a:rPr lang="en-US" altLang="en-US" sz="1800" dirty="0"/>
              <a:t>visualization, transformation, removing redundant patterns, etc.</a:t>
            </a:r>
          </a:p>
          <a:p>
            <a:pPr>
              <a:lnSpc>
                <a:spcPct val="110000"/>
              </a:lnSpc>
            </a:pPr>
            <a:r>
              <a:rPr lang="en-US" altLang="en-US" sz="2000" dirty="0"/>
              <a:t>Use of discovered knowledge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43318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Challenges of Data Mining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5B708-1C27-4B08-B451-1577AF8CDA0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669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219200"/>
            <a:ext cx="8229600" cy="4286250"/>
          </a:xfrm>
        </p:spPr>
        <p:txBody>
          <a:bodyPr/>
          <a:lstStyle/>
          <a:p>
            <a:pPr marL="342900" indent="-342900"/>
            <a:r>
              <a:rPr lang="en-US" altLang="en-US"/>
              <a:t>Scalability</a:t>
            </a:r>
          </a:p>
          <a:p>
            <a:pPr marL="342900" indent="-342900"/>
            <a:r>
              <a:rPr lang="en-US" altLang="en-US"/>
              <a:t>Dimensionality</a:t>
            </a:r>
          </a:p>
          <a:p>
            <a:pPr marL="342900" indent="-342900"/>
            <a:r>
              <a:rPr lang="en-US" altLang="en-US"/>
              <a:t>Complex and Heterogeneous Data</a:t>
            </a:r>
          </a:p>
          <a:p>
            <a:pPr marL="342900" indent="-342900"/>
            <a:r>
              <a:rPr lang="en-US" altLang="en-US"/>
              <a:t>Data Quality</a:t>
            </a:r>
          </a:p>
          <a:p>
            <a:pPr marL="342900" indent="-342900"/>
            <a:r>
              <a:rPr lang="en-US" altLang="en-US"/>
              <a:t>Data Ownership and Distribution</a:t>
            </a:r>
          </a:p>
          <a:p>
            <a:pPr marL="342900" indent="-342900"/>
            <a:r>
              <a:rPr lang="en-US" altLang="en-US"/>
              <a:t>Privacy Preservation</a:t>
            </a:r>
          </a:p>
          <a:p>
            <a:pPr marL="342900" indent="-342900"/>
            <a:r>
              <a:rPr lang="en-US" altLang="en-US"/>
              <a:t>Streaming Data</a:t>
            </a:r>
          </a:p>
          <a:p>
            <a:pPr marL="342900" indent="-342900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925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Lecture 2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152400"/>
            <a:ext cx="6629400" cy="914400"/>
          </a:xfrm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/>
              <a:t>Getting to Know Your Data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28750" y="1447800"/>
            <a:ext cx="6286500" cy="4800600"/>
          </a:xfrm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en-US" dirty="0"/>
              <a:t>Data Objects and Attribute Types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dirty="0"/>
              <a:t>Basic Statistical Descriptions of Data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dirty="0"/>
              <a:t>Data Visualization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dirty="0"/>
              <a:t>Measuring Data Similarity and Dissimilarity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dirty="0"/>
              <a:t>Summary</a:t>
            </a:r>
          </a:p>
        </p:txBody>
      </p:sp>
      <p:sp>
        <p:nvSpPr>
          <p:cNvPr id="19460" name="AutoShape 4"/>
          <p:cNvSpPr>
            <a:spLocks noChangeArrowheads="1"/>
          </p:cNvSpPr>
          <p:nvPr/>
        </p:nvSpPr>
        <p:spPr bwMode="auto">
          <a:xfrm rot="9694931">
            <a:off x="5862637" y="1735140"/>
            <a:ext cx="338138" cy="4857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1153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What’s an attribute?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314450" y="1341438"/>
            <a:ext cx="3429000" cy="452596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en-US" sz="2000"/>
              <a:t>Data: Collection of data objects and their attributes</a:t>
            </a:r>
          </a:p>
          <a:p>
            <a:pPr marL="0" indent="0"/>
            <a:r>
              <a:rPr lang="en-US" altLang="en-US" sz="2000"/>
              <a:t>Each instance/Object/record/point/ case/sample/entity is described by a fixed predefined set of features, its “attributes”</a:t>
            </a:r>
          </a:p>
          <a:p>
            <a:pPr marL="342900" lvl="1" indent="-342900"/>
            <a:r>
              <a:rPr lang="en-US" altLang="en-US" sz="2000"/>
              <a:t>An attribute/variable/ field/ characteristic/ feature is a property or characteristic of an object</a:t>
            </a:r>
          </a:p>
          <a:p>
            <a:pPr marL="342900" lvl="1" indent="-342900"/>
            <a:r>
              <a:rPr lang="en-US" altLang="en-US" sz="1800"/>
              <a:t>Examples: eye color of a person, temperature, etc.</a:t>
            </a:r>
          </a:p>
          <a:p>
            <a:pPr marL="0" indent="0"/>
            <a:r>
              <a:rPr lang="en-US" altLang="en-US" sz="2000"/>
              <a:t>Possible attribute types (“levels of measurement”):</a:t>
            </a:r>
          </a:p>
          <a:p>
            <a:pPr marL="342900" lvl="1" indent="-342900"/>
            <a:r>
              <a:rPr lang="en-US" altLang="en-US" sz="1800" i="1"/>
              <a:t>Qualitative:  Nominal, ordinal, </a:t>
            </a:r>
          </a:p>
          <a:p>
            <a:pPr marL="342900" lvl="1" indent="-342900"/>
            <a:r>
              <a:rPr lang="en-US" altLang="en-US" sz="1800" i="1"/>
              <a:t>Quantitative (numeric): interval </a:t>
            </a:r>
            <a:r>
              <a:rPr lang="en-US" altLang="en-US" sz="1800"/>
              <a:t>and </a:t>
            </a:r>
            <a:r>
              <a:rPr lang="en-US" altLang="en-US" sz="1800" i="1"/>
              <a:t>ratio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867400" y="1676400"/>
            <a:ext cx="2634854" cy="4191000"/>
            <a:chOff x="3403" y="1104"/>
            <a:chExt cx="2213" cy="2640"/>
          </a:xfrm>
        </p:grpSpPr>
        <p:graphicFrame>
          <p:nvGraphicFramePr>
            <p:cNvPr id="21512" name="Object 85"/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3" imgW="5405628" imgH="5779008" progId="Word.Document.8">
                    <p:embed/>
                  </p:oleObj>
                </mc:Choice>
                <mc:Fallback>
                  <p:oleObj name="Document" r:id="rId3" imgW="5405628" imgH="5779008" progId="Word.Document.8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3" name="AutoShape 12"/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tr-TR" altLang="en-US" sz="1800"/>
            </a:p>
          </p:txBody>
        </p:sp>
      </p:grpSp>
      <p:sp>
        <p:nvSpPr>
          <p:cNvPr id="21509" name="Text Box 14"/>
          <p:cNvSpPr txBox="1">
            <a:spLocks noChangeArrowheads="1"/>
          </p:cNvSpPr>
          <p:nvPr/>
        </p:nvSpPr>
        <p:spPr bwMode="auto">
          <a:xfrm>
            <a:off x="6248400" y="1219200"/>
            <a:ext cx="17716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Attributes</a:t>
            </a:r>
          </a:p>
        </p:txBody>
      </p:sp>
      <p:sp>
        <p:nvSpPr>
          <p:cNvPr id="21510" name="AutoShape 15"/>
          <p:cNvSpPr>
            <a:spLocks/>
          </p:cNvSpPr>
          <p:nvPr/>
        </p:nvSpPr>
        <p:spPr bwMode="auto">
          <a:xfrm>
            <a:off x="5562600" y="2590800"/>
            <a:ext cx="285750" cy="3124200"/>
          </a:xfrm>
          <a:prstGeom prst="leftBrace">
            <a:avLst>
              <a:gd name="adj1" fmla="val 68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en-US" sz="1800"/>
          </a:p>
        </p:txBody>
      </p:sp>
      <p:sp>
        <p:nvSpPr>
          <p:cNvPr id="21511" name="Text Box 17"/>
          <p:cNvSpPr txBox="1">
            <a:spLocks noChangeArrowheads="1"/>
          </p:cNvSpPr>
          <p:nvPr/>
        </p:nvSpPr>
        <p:spPr bwMode="auto">
          <a:xfrm>
            <a:off x="4572000" y="3810000"/>
            <a:ext cx="1143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Objects</a:t>
            </a:r>
          </a:p>
        </p:txBody>
      </p:sp>
    </p:spTree>
    <p:extLst>
      <p:ext uri="{BB962C8B-B14F-4D97-AF65-F5344CB8AC3E}">
        <p14:creationId xmlns:p14="http://schemas.microsoft.com/office/powerpoint/2010/main" val="3364398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Attribute Types</a:t>
            </a:r>
            <a:endParaRPr lang="en-US" altLang="en-US"/>
          </a:p>
        </p:txBody>
      </p:sp>
      <p:pic>
        <p:nvPicPr>
          <p:cNvPr id="23556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47800"/>
            <a:ext cx="5141120" cy="45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7836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4580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730" y="1989140"/>
            <a:ext cx="3588544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itle 1"/>
          <p:cNvSpPr txBox="1">
            <a:spLocks/>
          </p:cNvSpPr>
          <p:nvPr/>
        </p:nvSpPr>
        <p:spPr bwMode="auto">
          <a:xfrm>
            <a:off x="1600200" y="427038"/>
            <a:ext cx="6172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4400"/>
              <a:t>Attribute Types</a:t>
            </a:r>
            <a:endParaRPr lang="en-US" altLang="en-US" sz="4400"/>
          </a:p>
        </p:txBody>
      </p:sp>
    </p:spTree>
    <p:extLst>
      <p:ext uri="{BB962C8B-B14F-4D97-AF65-F5344CB8AC3E}">
        <p14:creationId xmlns:p14="http://schemas.microsoft.com/office/powerpoint/2010/main" val="116250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specify attribute</a:t>
            </a:r>
            <a:r>
              <a:rPr lang="ru-RU" altLang="en-US"/>
              <a:t> </a:t>
            </a:r>
            <a:r>
              <a:rPr lang="en-US" altLang="en-US"/>
              <a:t>types?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229600" cy="49377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i="1" dirty="0"/>
              <a:t>Q: Why Machine Learning algorithms need to know about attribute type?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A: </a:t>
            </a:r>
            <a:r>
              <a:rPr lang="en-US" altLang="en-US" dirty="0">
                <a:solidFill>
                  <a:srgbClr val="FF0000"/>
                </a:solidFill>
              </a:rPr>
              <a:t>To be able to make right comparisons and learn correct concepts</a:t>
            </a:r>
            <a:r>
              <a:rPr lang="en-US" altLang="en-US" dirty="0"/>
              <a:t>, e.g.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/>
              <a:t>Outlook &gt; “sunny”</a:t>
            </a:r>
            <a:r>
              <a:rPr lang="en-US" altLang="en-US" dirty="0"/>
              <a:t>  does not make sense, while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/>
              <a:t> Humidity &gt; 70</a:t>
            </a:r>
            <a:r>
              <a:rPr lang="en-US" altLang="en-US" dirty="0"/>
              <a:t> does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Additional uses of attribute type: check for valid values, deal with missing, etc.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66153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Measures for Quantitative Data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7103" y="1143000"/>
            <a:ext cx="6690947" cy="5715000"/>
          </a:xfrm>
        </p:spPr>
        <p:txBody>
          <a:bodyPr/>
          <a:lstStyle/>
          <a:p>
            <a:r>
              <a:rPr lang="tr-TR" sz="2400" dirty="0" err="1">
                <a:solidFill>
                  <a:srgbClr val="FF0000"/>
                </a:solidFill>
              </a:rPr>
              <a:t>Mean</a:t>
            </a:r>
            <a:r>
              <a:rPr lang="tr-TR" sz="2400" dirty="0">
                <a:solidFill>
                  <a:srgbClr val="FF0000"/>
                </a:solidFill>
              </a:rPr>
              <a:t>-</a:t>
            </a:r>
            <a:r>
              <a:rPr lang="tr-TR" sz="2400" dirty="0"/>
              <a:t> </a:t>
            </a:r>
            <a:r>
              <a:rPr lang="tr-TR" sz="2400" dirty="0" err="1"/>
              <a:t>arithmetic</a:t>
            </a:r>
            <a:r>
              <a:rPr lang="tr-TR" sz="2400" dirty="0"/>
              <a:t> </a:t>
            </a:r>
            <a:r>
              <a:rPr lang="tr-TR" sz="2400" dirty="0" err="1"/>
              <a:t>average</a:t>
            </a:r>
            <a:endParaRPr lang="tr-TR" sz="2400" dirty="0"/>
          </a:p>
          <a:p>
            <a:r>
              <a:rPr lang="tr-TR" sz="2400" dirty="0">
                <a:solidFill>
                  <a:srgbClr val="FF0000"/>
                </a:solidFill>
              </a:rPr>
              <a:t>Median</a:t>
            </a:r>
            <a:r>
              <a:rPr lang="tr-TR" sz="2400" dirty="0"/>
              <a:t> midpont of the distribution (50 percentile)</a:t>
            </a:r>
          </a:p>
          <a:p>
            <a:r>
              <a:rPr lang="tr-TR" sz="2400" dirty="0" err="1">
                <a:solidFill>
                  <a:srgbClr val="FF0000"/>
                </a:solidFill>
              </a:rPr>
              <a:t>Mode</a:t>
            </a:r>
            <a:r>
              <a:rPr lang="tr-TR" sz="2400" dirty="0"/>
              <a:t> (</a:t>
            </a:r>
            <a:r>
              <a:rPr lang="tr-TR" sz="2400" dirty="0" err="1"/>
              <a:t>most</a:t>
            </a:r>
            <a:r>
              <a:rPr lang="tr-TR" sz="2400" dirty="0"/>
              <a:t> </a:t>
            </a:r>
            <a:r>
              <a:rPr lang="tr-TR" sz="2400" dirty="0" err="1"/>
              <a:t>frequent</a:t>
            </a:r>
            <a:r>
              <a:rPr lang="tr-TR" sz="2400" dirty="0"/>
              <a:t> </a:t>
            </a:r>
            <a:r>
              <a:rPr lang="tr-TR" sz="2400" dirty="0" err="1"/>
              <a:t>observation</a:t>
            </a:r>
            <a:r>
              <a:rPr lang="tr-TR" sz="2400" dirty="0"/>
              <a:t>)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b="1" dirty="0" err="1"/>
              <a:t>Example</a:t>
            </a:r>
            <a:r>
              <a:rPr lang="tr-TR" sz="2400" dirty="0"/>
              <a:t>: 9 </a:t>
            </a:r>
            <a:r>
              <a:rPr lang="tr-TR" sz="2400" dirty="0" err="1"/>
              <a:t>students</a:t>
            </a:r>
            <a:r>
              <a:rPr lang="tr-TR" sz="2400" dirty="0"/>
              <a:t> </a:t>
            </a:r>
            <a:r>
              <a:rPr lang="tr-TR" sz="2400" dirty="0" err="1"/>
              <a:t>exam</a:t>
            </a:r>
            <a:r>
              <a:rPr lang="tr-TR" sz="2400" dirty="0"/>
              <a:t> </a:t>
            </a:r>
            <a:r>
              <a:rPr lang="tr-TR" sz="2400" dirty="0" err="1"/>
              <a:t>scores</a:t>
            </a:r>
            <a:r>
              <a:rPr lang="tr-TR" sz="2400" dirty="0"/>
              <a:t>: 75, 69, 88, 93,95, 54, 87,88,27</a:t>
            </a:r>
          </a:p>
          <a:p>
            <a:pPr marL="457200" lvl="1" indent="0">
              <a:buNone/>
            </a:pPr>
            <a:r>
              <a:rPr lang="tr-TR" sz="2000" dirty="0" err="1"/>
              <a:t>Mean</a:t>
            </a:r>
            <a:r>
              <a:rPr lang="tr-TR" sz="2000" dirty="0"/>
              <a:t>=</a:t>
            </a:r>
            <a:r>
              <a:rPr lang="tr-TR" sz="2000" dirty="0" err="1"/>
              <a:t>sum</a:t>
            </a:r>
            <a:r>
              <a:rPr lang="tr-TR" sz="2000" dirty="0"/>
              <a:t>/9=75.1</a:t>
            </a:r>
          </a:p>
          <a:p>
            <a:pPr marL="457200" lvl="1" indent="0">
              <a:buNone/>
            </a:pPr>
            <a:r>
              <a:rPr lang="tr-TR" sz="2000" dirty="0" err="1"/>
              <a:t>Mode</a:t>
            </a:r>
            <a:r>
              <a:rPr lang="tr-TR" sz="2000" dirty="0"/>
              <a:t>=88</a:t>
            </a:r>
          </a:p>
          <a:p>
            <a:pPr marL="457200" lvl="1" indent="0">
              <a:buNone/>
            </a:pPr>
            <a:r>
              <a:rPr lang="tr-TR" sz="2000" dirty="0" err="1"/>
              <a:t>Median</a:t>
            </a:r>
            <a:r>
              <a:rPr lang="tr-TR" sz="2000" dirty="0"/>
              <a:t>= 27 54 69 75 87 88 88 93 95 </a:t>
            </a:r>
            <a:r>
              <a:rPr lang="tr-TR" sz="2000" dirty="0">
                <a:sym typeface="Wingdings" panose="05000000000000000000" pitchFamily="2" charset="2"/>
              </a:rPr>
              <a:t> ??</a:t>
            </a:r>
          </a:p>
          <a:p>
            <a:pPr marL="0" indent="0">
              <a:buNone/>
            </a:pPr>
            <a:r>
              <a:rPr lang="tr-TR" sz="2400" b="1" dirty="0" err="1"/>
              <a:t>Example</a:t>
            </a:r>
            <a:r>
              <a:rPr lang="tr-TR" sz="2400" b="1" dirty="0"/>
              <a:t>: </a:t>
            </a:r>
            <a:r>
              <a:rPr lang="tr-TR" sz="2400" dirty="0"/>
              <a:t>9 </a:t>
            </a:r>
            <a:r>
              <a:rPr lang="tr-TR" sz="2400" dirty="0" err="1"/>
              <a:t>students</a:t>
            </a:r>
            <a:r>
              <a:rPr lang="tr-TR" sz="2400" dirty="0"/>
              <a:t> </a:t>
            </a:r>
            <a:r>
              <a:rPr lang="tr-TR" sz="2400" dirty="0" err="1"/>
              <a:t>exam</a:t>
            </a:r>
            <a:r>
              <a:rPr lang="tr-TR" sz="2400" dirty="0"/>
              <a:t> </a:t>
            </a:r>
            <a:r>
              <a:rPr lang="tr-TR" sz="2400" dirty="0" err="1"/>
              <a:t>scores</a:t>
            </a:r>
            <a:r>
              <a:rPr lang="tr-TR" sz="2400" dirty="0"/>
              <a:t>: </a:t>
            </a:r>
            <a:r>
              <a:rPr lang="tr-TR" sz="2400" dirty="0" err="1"/>
              <a:t>mode</a:t>
            </a:r>
            <a:r>
              <a:rPr lang="tr-TR" sz="2400" dirty="0"/>
              <a:t>?</a:t>
            </a:r>
          </a:p>
          <a:p>
            <a:pPr marL="457200" lvl="1" indent="0">
              <a:buNone/>
            </a:pPr>
            <a:r>
              <a:rPr lang="tr-TR" sz="2000" dirty="0"/>
              <a:t>27 54 69 75 87 88 88 93 95 100  </a:t>
            </a:r>
            <a:r>
              <a:rPr lang="tr-TR" sz="2000" dirty="0" err="1"/>
              <a:t>mode</a:t>
            </a:r>
            <a:r>
              <a:rPr lang="tr-TR" sz="2000" dirty="0"/>
              <a:t>=???</a:t>
            </a:r>
          </a:p>
        </p:txBody>
      </p:sp>
    </p:spTree>
    <p:extLst>
      <p:ext uri="{BB962C8B-B14F-4D97-AF65-F5344CB8AC3E}">
        <p14:creationId xmlns:p14="http://schemas.microsoft.com/office/powerpoint/2010/main" val="327051588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DATA PREROCESSING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The Aim of Data Preprocessing</a:t>
            </a:r>
            <a:br>
              <a:rPr lang="tr-TR" dirty="0"/>
            </a:br>
            <a:endParaRPr lang="tr-T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3E5F-8069-46FC-BBC8-A857F4B2A024}" type="datetime4">
              <a:rPr lang="en-US" smtClean="0"/>
              <a:pPr/>
              <a:t>September 24,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Mining: Concepts and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F429-73E0-4B18-B086-83558DC20FE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7696200" cy="4953000"/>
          </a:xfrm>
        </p:spPr>
        <p:txBody>
          <a:bodyPr>
            <a:normAutofit/>
          </a:bodyPr>
          <a:lstStyle/>
          <a:p>
            <a:r>
              <a:rPr lang="en-US" dirty="0">
                <a:cs typeface="Arial" pitchFamily="34" charset="0"/>
              </a:rPr>
              <a:t>The data encountered in real life usually happens to be </a:t>
            </a:r>
            <a:r>
              <a:rPr lang="en-US" dirty="0">
                <a:solidFill>
                  <a:srgbClr val="FF0000"/>
                </a:solidFill>
                <a:cs typeface="Arial" pitchFamily="34" charset="0"/>
              </a:rPr>
              <a:t>incomplete, noisy ,inconsistent</a:t>
            </a:r>
            <a:r>
              <a:rPr lang="en-US" dirty="0">
                <a:cs typeface="Arial" pitchFamily="34" charset="0"/>
              </a:rPr>
              <a:t>. </a:t>
            </a:r>
            <a:endParaRPr lang="tr-TR" dirty="0">
              <a:cs typeface="Arial" pitchFamily="34" charset="0"/>
            </a:endParaRPr>
          </a:p>
          <a:p>
            <a:pPr>
              <a:buNone/>
            </a:pPr>
            <a:endParaRPr lang="en-US" b="1" dirty="0">
              <a:cs typeface="Arial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cs typeface="Arial" pitchFamily="34" charset="0"/>
              </a:rPr>
              <a:t>The aims of data </a:t>
            </a:r>
            <a:r>
              <a:rPr lang="en-US" dirty="0" err="1">
                <a:solidFill>
                  <a:srgbClr val="FF0000"/>
                </a:solidFill>
                <a:cs typeface="Arial" pitchFamily="34" charset="0"/>
              </a:rPr>
              <a:t>preprocessin</a:t>
            </a:r>
            <a:r>
              <a:rPr lang="tr-TR" dirty="0">
                <a:solidFill>
                  <a:srgbClr val="FF0000"/>
                </a:solidFill>
                <a:cs typeface="Arial" pitchFamily="34" charset="0"/>
              </a:rPr>
              <a:t>g</a:t>
            </a:r>
            <a:endParaRPr lang="en-US" dirty="0"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en-US" sz="2400" dirty="0">
                <a:cs typeface="Arial" pitchFamily="34" charset="0"/>
              </a:rPr>
              <a:t>To improve the quality of DB</a:t>
            </a:r>
          </a:p>
          <a:p>
            <a:pPr lvl="2">
              <a:buFont typeface="Wingdings" pitchFamily="2" charset="2"/>
              <a:buChar char="Ø"/>
            </a:pPr>
            <a:r>
              <a:rPr lang="en-US" sz="2400" dirty="0">
                <a:cs typeface="Arial" pitchFamily="34" charset="0"/>
              </a:rPr>
              <a:t>To ease DB.</a:t>
            </a:r>
            <a:endParaRPr lang="en-US" sz="2400" dirty="0"/>
          </a:p>
          <a:p>
            <a:pPr lvl="2">
              <a:buFont typeface="Wingdings" pitchFamily="2" charset="2"/>
              <a:buChar char="Ø"/>
            </a:pPr>
            <a:r>
              <a:rPr lang="en-US" sz="2400" dirty="0">
                <a:cs typeface="Arial" pitchFamily="34" charset="0"/>
              </a:rPr>
              <a:t>To increase productivity.</a:t>
            </a:r>
            <a:endParaRPr lang="tr-TR" sz="2400" dirty="0">
              <a:cs typeface="Arial" pitchFamily="34" charset="0"/>
            </a:endParaRPr>
          </a:p>
          <a:p>
            <a:pPr>
              <a:buNone/>
            </a:pPr>
            <a:r>
              <a:rPr lang="tr-TR" sz="2400" dirty="0">
                <a:cs typeface="Arial" pitchFamily="34" charset="0"/>
              </a:rPr>
              <a:t>	</a:t>
            </a:r>
            <a:endParaRPr lang="en-US" sz="2000" dirty="0">
              <a:solidFill>
                <a:srgbClr val="FF0000"/>
              </a:solidFill>
            </a:endParaRPr>
          </a:p>
          <a:p>
            <a:pPr lvl="2">
              <a:buFont typeface="Wingdings" pitchFamily="2" charset="2"/>
              <a:buChar char="Ø"/>
            </a:pPr>
            <a:endParaRPr lang="en-US" sz="2800" dirty="0">
              <a:cs typeface="Arial" pitchFamily="34" charset="0"/>
            </a:endParaRPr>
          </a:p>
          <a:p>
            <a:pPr lvl="2">
              <a:buNone/>
            </a:pPr>
            <a:endParaRPr lang="en-US" sz="2800" dirty="0"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Why Data Preprocessing?</a:t>
            </a:r>
            <a:br>
              <a:rPr lang="tr-TR" dirty="0"/>
            </a:br>
            <a:endParaRPr lang="tr-T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3E5F-8069-46FC-BBC8-A857F4B2A024}" type="datetime4">
              <a:rPr lang="en-US" smtClean="0"/>
              <a:pPr/>
              <a:t>September 24,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Mining: Concepts and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F429-73E0-4B18-B086-83558DC20FE2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7696200" cy="3657600"/>
          </a:xfrm>
        </p:spPr>
        <p:txBody>
          <a:bodyPr>
            <a:normAutofit/>
          </a:bodyPr>
          <a:lstStyle/>
          <a:p>
            <a:r>
              <a:rPr lang="en-US" dirty="0"/>
              <a:t>Preprocessing the data is very significant in the sense that the </a:t>
            </a:r>
            <a:r>
              <a:rPr lang="en-US" dirty="0">
                <a:solidFill>
                  <a:srgbClr val="FF0000"/>
                </a:solidFill>
              </a:rPr>
              <a:t>quality of the data </a:t>
            </a:r>
            <a:r>
              <a:rPr lang="en-US" dirty="0"/>
              <a:t>collected will affect the results. </a:t>
            </a:r>
          </a:p>
          <a:p>
            <a:endParaRPr lang="en-US" dirty="0"/>
          </a:p>
          <a:p>
            <a:r>
              <a:rPr lang="tr-TR" dirty="0">
                <a:solidFill>
                  <a:srgbClr val="FF0000"/>
                </a:solidFill>
              </a:rPr>
              <a:t>If t</a:t>
            </a:r>
            <a:r>
              <a:rPr lang="en-US" dirty="0">
                <a:solidFill>
                  <a:srgbClr val="FF0000"/>
                </a:solidFill>
              </a:rPr>
              <a:t>he </a:t>
            </a:r>
            <a:r>
              <a:rPr lang="tr-TR" dirty="0">
                <a:solidFill>
                  <a:srgbClr val="FF0000"/>
                </a:solidFill>
              </a:rPr>
              <a:t>obtained </a:t>
            </a:r>
            <a:r>
              <a:rPr lang="en-US" dirty="0">
                <a:solidFill>
                  <a:srgbClr val="FF0000"/>
                </a:solidFill>
              </a:rPr>
              <a:t>data </a:t>
            </a:r>
            <a:r>
              <a:rPr lang="tr-TR" dirty="0">
                <a:solidFill>
                  <a:srgbClr val="FF0000"/>
                </a:solidFill>
              </a:rPr>
              <a:t>is </a:t>
            </a:r>
            <a:r>
              <a:rPr lang="en-US" dirty="0">
                <a:solidFill>
                  <a:srgbClr val="FF0000"/>
                </a:solidFill>
              </a:rPr>
              <a:t>in low quality</a:t>
            </a:r>
            <a:r>
              <a:rPr lang="tr-TR" dirty="0">
                <a:solidFill>
                  <a:srgbClr val="FF0000"/>
                </a:solidFill>
              </a:rPr>
              <a:t>, the data mining will also be low quality.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tr-TR" dirty="0">
              <a:solidFill>
                <a:srgbClr val="FF0000"/>
              </a:solidFill>
            </a:endParaRPr>
          </a:p>
          <a:p>
            <a:endParaRPr lang="tr-TR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Measures for </a:t>
            </a:r>
            <a:r>
              <a:rPr lang="en-US" altLang="en-US" sz="3200" dirty="0">
                <a:solidFill>
                  <a:srgbClr val="FF0000"/>
                </a:solidFill>
              </a:rPr>
              <a:t>data quality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95400"/>
            <a:ext cx="8382000" cy="494665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600" dirty="0"/>
              <a:t>Measures for data quality: A multidimensional view</a:t>
            </a:r>
          </a:p>
          <a:p>
            <a:pPr lvl="1" eaLnBrk="1" fontAlgn="auto" hangingPunct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600" b="1" dirty="0"/>
              <a:t>Accuracy</a:t>
            </a:r>
            <a:r>
              <a:rPr lang="en-US" altLang="en-US" sz="2600" dirty="0"/>
              <a:t>: correct or wrong, accurate or not</a:t>
            </a:r>
          </a:p>
          <a:p>
            <a:pPr lvl="1" eaLnBrk="1" fontAlgn="auto" hangingPunct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600" b="1" dirty="0"/>
              <a:t>Completeness</a:t>
            </a:r>
            <a:r>
              <a:rPr lang="en-US" altLang="en-US" sz="2600" dirty="0"/>
              <a:t>: not recorded, unavailable, …</a:t>
            </a:r>
          </a:p>
          <a:p>
            <a:pPr lvl="1" eaLnBrk="1" fontAlgn="auto" hangingPunct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600" b="1" dirty="0"/>
              <a:t>Consistency</a:t>
            </a:r>
            <a:r>
              <a:rPr lang="en-US" altLang="en-US" sz="2600" dirty="0"/>
              <a:t>: some modified but some not, …</a:t>
            </a:r>
          </a:p>
          <a:p>
            <a:pPr lvl="1" eaLnBrk="1" fontAlgn="auto" hangingPunct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600" b="1" dirty="0"/>
              <a:t>Timeliness</a:t>
            </a:r>
            <a:r>
              <a:rPr lang="en-US" altLang="en-US" sz="2600" dirty="0"/>
              <a:t>: timely update? </a:t>
            </a:r>
          </a:p>
          <a:p>
            <a:pPr lvl="1" eaLnBrk="1" fontAlgn="auto" hangingPunct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600" b="1" dirty="0"/>
              <a:t>Believability</a:t>
            </a:r>
            <a:r>
              <a:rPr lang="en-US" altLang="en-US" sz="2600" dirty="0"/>
              <a:t>: how trustable the data are correct?</a:t>
            </a:r>
          </a:p>
          <a:p>
            <a:pPr lvl="1" eaLnBrk="1" fontAlgn="auto" hangingPunct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600" b="1" dirty="0"/>
              <a:t>Interpretability</a:t>
            </a:r>
            <a:r>
              <a:rPr lang="en-US" altLang="en-US" sz="2600" dirty="0"/>
              <a:t>: how easily the data can be understood?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Data Quality Problems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What kinds of data quality problems?</a:t>
            </a:r>
            <a:endParaRPr lang="tr-TR" sz="2800" dirty="0"/>
          </a:p>
          <a:p>
            <a:pPr lvl="1"/>
            <a:r>
              <a:rPr lang="tr-TR" sz="2800" dirty="0"/>
              <a:t>Incomplete data</a:t>
            </a:r>
          </a:p>
          <a:p>
            <a:pPr lvl="1"/>
            <a:r>
              <a:rPr lang="en-US" altLang="en-US" sz="2800" dirty="0"/>
              <a:t>Noisy data (incorrect values)</a:t>
            </a:r>
            <a:endParaRPr lang="tr-TR" altLang="en-US" sz="2800" dirty="0"/>
          </a:p>
          <a:p>
            <a:pPr lvl="1"/>
            <a:r>
              <a:rPr lang="tr-TR" altLang="en-US" sz="2800" dirty="0"/>
              <a:t>Inconsistent Data</a:t>
            </a:r>
          </a:p>
          <a:p>
            <a:pPr lvl="1"/>
            <a:r>
              <a:rPr lang="tr-TR" altLang="en-US" sz="2800" dirty="0"/>
              <a:t>Duplicate Records</a:t>
            </a:r>
          </a:p>
          <a:p>
            <a:pPr lvl="1"/>
            <a:r>
              <a:rPr lang="tr-TR" altLang="en-US" sz="2800" dirty="0"/>
              <a:t>Outliers</a:t>
            </a:r>
            <a:endParaRPr lang="en-US" sz="2800" dirty="0"/>
          </a:p>
          <a:p>
            <a:r>
              <a:rPr lang="en-US" sz="2800" dirty="0"/>
              <a:t>What can we do about these problems?</a:t>
            </a:r>
            <a:endParaRPr lang="tr-TR" sz="2800" dirty="0"/>
          </a:p>
          <a:p>
            <a:pPr lvl="1"/>
            <a:r>
              <a:rPr lang="tr-TR" sz="2000" dirty="0">
                <a:solidFill>
                  <a:schemeClr val="tx1"/>
                </a:solidFill>
              </a:rPr>
              <a:t>We should use </a:t>
            </a:r>
            <a:r>
              <a:rPr lang="tr-TR" sz="2000" dirty="0">
                <a:solidFill>
                  <a:srgbClr val="FF0000"/>
                </a:solidFill>
              </a:rPr>
              <a:t>Data Preprocessing Techniques!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402638" cy="6096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tr-TR" dirty="0"/>
              <a:t>Data Quality Problems</a:t>
            </a:r>
            <a:endParaRPr lang="en-US" alt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371600"/>
            <a:ext cx="8382000" cy="5105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Incomplete data may come from</a:t>
            </a:r>
          </a:p>
          <a:p>
            <a:pPr lvl="1" eaLnBrk="1" hangingPunct="1"/>
            <a:r>
              <a:rPr lang="en-US" altLang="en-US" sz="2000" dirty="0"/>
              <a:t>“Not applicable” data value when collected</a:t>
            </a:r>
          </a:p>
          <a:p>
            <a:pPr lvl="1" eaLnBrk="1" hangingPunct="1"/>
            <a:r>
              <a:rPr lang="en-US" altLang="en-US" sz="2000" dirty="0"/>
              <a:t>Different considerations between the time when the data was collected and when it is analyzed.</a:t>
            </a:r>
          </a:p>
          <a:p>
            <a:pPr lvl="1" eaLnBrk="1" hangingPunct="1"/>
            <a:r>
              <a:rPr lang="en-US" altLang="en-US" sz="2000" dirty="0"/>
              <a:t>Human/hardware/software problems</a:t>
            </a:r>
          </a:p>
          <a:p>
            <a:pPr eaLnBrk="1" hangingPunct="1"/>
            <a:r>
              <a:rPr lang="en-US" altLang="en-US" sz="2400" dirty="0"/>
              <a:t>Noisy data (incorrect values) may come from</a:t>
            </a:r>
          </a:p>
          <a:p>
            <a:pPr lvl="1" eaLnBrk="1" hangingPunct="1"/>
            <a:r>
              <a:rPr lang="en-US" altLang="en-US" sz="2000" dirty="0"/>
              <a:t>Faulty data collection instruments</a:t>
            </a:r>
          </a:p>
          <a:p>
            <a:pPr lvl="1" eaLnBrk="1" hangingPunct="1"/>
            <a:r>
              <a:rPr lang="en-US" altLang="en-US" sz="2000" dirty="0"/>
              <a:t>Human or computer error at data entry</a:t>
            </a:r>
          </a:p>
          <a:p>
            <a:pPr lvl="1" eaLnBrk="1" hangingPunct="1"/>
            <a:r>
              <a:rPr lang="en-US" altLang="en-US" sz="2000" dirty="0"/>
              <a:t>Errors in data transmission</a:t>
            </a:r>
          </a:p>
          <a:p>
            <a:pPr eaLnBrk="1" hangingPunct="1"/>
            <a:r>
              <a:rPr lang="en-US" altLang="en-US" sz="2400" dirty="0"/>
              <a:t>Inconsistent data may come from</a:t>
            </a:r>
          </a:p>
          <a:p>
            <a:pPr lvl="1" eaLnBrk="1" hangingPunct="1"/>
            <a:r>
              <a:rPr lang="en-US" altLang="en-US" sz="2000" dirty="0"/>
              <a:t>Different data sources</a:t>
            </a:r>
          </a:p>
          <a:p>
            <a:pPr lvl="1" eaLnBrk="1" hangingPunct="1"/>
            <a:r>
              <a:rPr lang="en-US" altLang="en-US" sz="2000" dirty="0"/>
              <a:t>Functional dependency violation (e.g., modify some linked data)</a:t>
            </a:r>
          </a:p>
          <a:p>
            <a:pPr eaLnBrk="1" hangingPunct="1"/>
            <a:r>
              <a:rPr lang="en-US" altLang="en-US" sz="2400" dirty="0"/>
              <a:t>Duplicate records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Outliers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524000"/>
          </a:xfrm>
        </p:spPr>
        <p:txBody>
          <a:bodyPr>
            <a:normAutofit/>
          </a:bodyPr>
          <a:lstStyle/>
          <a:p>
            <a:r>
              <a:rPr lang="en-US" dirty="0"/>
              <a:t>Outliers are data objects with characteristics that are considerably different than most of the other data objects in the data set</a:t>
            </a:r>
            <a:r>
              <a:rPr lang="tr-TR" dirty="0"/>
              <a:t> </a:t>
            </a:r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419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048000"/>
            <a:ext cx="4114800" cy="2635857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tr-TR" altLang="en-US" dirty="0">
                <a:solidFill>
                  <a:srgbClr val="170981"/>
                </a:solidFill>
              </a:rPr>
              <a:t>Examples</a:t>
            </a:r>
            <a:br>
              <a:rPr lang="tr-TR" altLang="en-US" dirty="0">
                <a:solidFill>
                  <a:srgbClr val="170981"/>
                </a:solidFill>
              </a:rPr>
            </a:br>
            <a:endParaRPr lang="en-US" altLang="en-US" dirty="0">
              <a:solidFill>
                <a:srgbClr val="170981"/>
              </a:solidFill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229600" cy="493776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00" dirty="0"/>
              <a:t>Data in the Real World Is Dirty: Lots of potentially incorrect data, 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200" u="sng" dirty="0"/>
              <a:t>incomplete</a:t>
            </a:r>
            <a:r>
              <a:rPr lang="en-US" altLang="en-US" sz="2200" dirty="0"/>
              <a:t>: lacking attribute values, lacking certain attributes of interest, or containing only aggregate data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00" dirty="0"/>
              <a:t>e.g., </a:t>
            </a:r>
            <a:r>
              <a:rPr lang="en-US" altLang="en-US" sz="2200" i="1" dirty="0"/>
              <a:t>Occupation </a:t>
            </a:r>
            <a:r>
              <a:rPr lang="en-US" altLang="en-US" sz="2200" dirty="0"/>
              <a:t>= “ ” (missing data)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200" u="sng" dirty="0"/>
              <a:t>noisy</a:t>
            </a:r>
            <a:r>
              <a:rPr lang="en-US" altLang="en-US" sz="2200" dirty="0"/>
              <a:t>: containing noise, errors, or outliers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00" dirty="0"/>
              <a:t>e.g., </a:t>
            </a:r>
            <a:r>
              <a:rPr lang="en-US" altLang="en-US" sz="2200" i="1" dirty="0"/>
              <a:t>Salary </a:t>
            </a:r>
            <a:r>
              <a:rPr lang="en-US" altLang="en-US" sz="2200" dirty="0"/>
              <a:t>= “</a:t>
            </a:r>
            <a:r>
              <a:rPr lang="en-US" altLang="en-US" sz="2200" dirty="0">
                <a:cs typeface="Tahoma" pitchFamily="34" charset="0"/>
              </a:rPr>
              <a:t>−</a:t>
            </a:r>
            <a:r>
              <a:rPr lang="en-US" altLang="en-US" sz="2200" dirty="0"/>
              <a:t>10” (an error)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200" u="sng" dirty="0"/>
              <a:t>inconsistent</a:t>
            </a:r>
            <a:r>
              <a:rPr lang="en-US" altLang="en-US" sz="2200" dirty="0"/>
              <a:t>: containing discrepancies in codes or names, e.g.,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00" i="1" dirty="0"/>
              <a:t>Age </a:t>
            </a:r>
            <a:r>
              <a:rPr lang="en-US" altLang="en-US" sz="2200" dirty="0"/>
              <a:t>= “42”, </a:t>
            </a:r>
            <a:r>
              <a:rPr lang="en-US" altLang="en-US" sz="2200" i="1" dirty="0"/>
              <a:t>Birthday </a:t>
            </a:r>
            <a:r>
              <a:rPr lang="en-US" altLang="en-US" sz="2200" dirty="0"/>
              <a:t>= “03/07/2010”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00" dirty="0"/>
              <a:t>Was rating “1, 2, 3”, now rating “A, B, C”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tr-TR" altLang="en-US" sz="2200" dirty="0"/>
              <a:t>conflict</a:t>
            </a:r>
            <a:r>
              <a:rPr lang="en-US" altLang="en-US" sz="2200" dirty="0"/>
              <a:t> between duplicate record</a:t>
            </a:r>
            <a:r>
              <a:rPr lang="tr-TR" altLang="en-US" sz="2200" dirty="0"/>
              <a:t>.</a:t>
            </a:r>
            <a:endParaRPr lang="en-US" altLang="en-US" sz="2200" dirty="0"/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cs typeface="Arial" pitchFamily="34" charset="0"/>
              </a:rPr>
              <a:t>How can the problems regarding the data quality can be solved?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2438400"/>
            <a:ext cx="8229600" cy="22860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By detecting the error and fixing the data</a:t>
            </a:r>
            <a:r>
              <a:rPr lang="tr-TR" dirty="0"/>
              <a:t> (</a:t>
            </a:r>
            <a:r>
              <a:rPr lang="en-US" dirty="0"/>
              <a:t>Data cleaning</a:t>
            </a:r>
            <a:r>
              <a:rPr lang="tr-TR" dirty="0"/>
              <a:t>)</a:t>
            </a:r>
          </a:p>
          <a:p>
            <a:pPr>
              <a:buFont typeface="Wingdings" pitchFamily="2" charset="2"/>
              <a:buChar char="Ø"/>
            </a:pPr>
            <a:endParaRPr lang="tr-TR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By tolerating the low data qualities by applying the algorithms</a:t>
            </a:r>
            <a:r>
              <a:rPr lang="tr-TR" dirty="0"/>
              <a:t> (</a:t>
            </a:r>
            <a:r>
              <a:rPr lang="tr-TR" dirty="0">
                <a:solidFill>
                  <a:srgbClr val="FF0000"/>
                </a:solidFill>
              </a:rPr>
              <a:t>Data Preprocessing Techniques</a:t>
            </a:r>
            <a:r>
              <a:rPr lang="tr-TR" dirty="0"/>
              <a:t>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Data Preprocessing</a:t>
            </a:r>
            <a:r>
              <a:rPr lang="tr-TR" altLang="en-US" sz="3200" dirty="0"/>
              <a:t> Techniques</a:t>
            </a:r>
            <a:endParaRPr lang="en-US" altLang="en-US" sz="3200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5105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/>
              <a:t>Data cleaning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400" dirty="0"/>
              <a:t>Fill in missing values, smooth noisy data, identify or remove outliers, and resolve inconsistencies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/>
              <a:t>Data integration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400" dirty="0"/>
              <a:t>Integration of multiple databases, data cubes, or files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/>
              <a:t>Data reduction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400" dirty="0"/>
              <a:t>Dimensionality reduction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400" dirty="0"/>
              <a:t>Data compression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/>
              <a:t>Data transformation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en-US" sz="2400" dirty="0"/>
              <a:t>Normalization 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Data Preprocessing Techniques </a:t>
            </a:r>
            <a:br>
              <a:rPr lang="tr-TR" dirty="0"/>
            </a:br>
            <a:endParaRPr lang="tr-TR" dirty="0"/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29697" name="Picture 1" descr="1"/>
          <p:cNvPicPr>
            <a:picLocks noChangeAspect="1" noChangeArrowheads="1"/>
          </p:cNvPicPr>
          <p:nvPr/>
        </p:nvPicPr>
        <p:blipFill>
          <a:blip r:embed="rId2" cstate="print">
            <a:lum bright="-66000" contrast="94000"/>
          </a:blip>
          <a:srcRect l="19362" t="3232" b="6274"/>
          <a:stretch>
            <a:fillRect/>
          </a:stretch>
        </p:blipFill>
        <p:spPr bwMode="auto">
          <a:xfrm>
            <a:off x="685800" y="838201"/>
            <a:ext cx="8077200" cy="5638800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Data Cleaning Techniques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folHlink"/>
                </a:solidFill>
              </a:rPr>
              <a:t>Binning</a:t>
            </a:r>
          </a:p>
          <a:p>
            <a:pPr lvl="1"/>
            <a:r>
              <a:rPr lang="en-US" sz="2400" dirty="0"/>
              <a:t>first sort data and partition into (equal-frequency) bins</a:t>
            </a:r>
          </a:p>
          <a:p>
            <a:pPr lvl="1"/>
            <a:r>
              <a:rPr lang="en-US" sz="2400" dirty="0"/>
              <a:t>then one can </a:t>
            </a:r>
            <a:r>
              <a:rPr lang="en-US" sz="2400" dirty="0">
                <a:solidFill>
                  <a:schemeClr val="hlink"/>
                </a:solidFill>
              </a:rPr>
              <a:t>smooth by bin means,  smooth by bin median, smooth by bin boundaries</a:t>
            </a:r>
            <a:r>
              <a:rPr lang="en-US" sz="2400" dirty="0"/>
              <a:t>, etc.</a:t>
            </a:r>
            <a:endParaRPr lang="tr-TR" sz="2400" dirty="0"/>
          </a:p>
          <a:p>
            <a:pPr lvl="1">
              <a:buNone/>
            </a:pPr>
            <a:endParaRPr lang="en-US" sz="2400" dirty="0"/>
          </a:p>
          <a:p>
            <a:r>
              <a:rPr lang="en-US" sz="2400" dirty="0">
                <a:solidFill>
                  <a:schemeClr val="folHlink"/>
                </a:solidFill>
              </a:rPr>
              <a:t>Regression</a:t>
            </a:r>
          </a:p>
          <a:p>
            <a:pPr lvl="1"/>
            <a:r>
              <a:rPr lang="en-US" sz="2400" dirty="0"/>
              <a:t>smooth by fitting the data into regression functions</a:t>
            </a:r>
            <a:endParaRPr lang="tr-TR" sz="2400" dirty="0"/>
          </a:p>
          <a:p>
            <a:pPr lvl="1">
              <a:buNone/>
            </a:pPr>
            <a:endParaRPr lang="en-US" sz="2400" dirty="0"/>
          </a:p>
          <a:p>
            <a:r>
              <a:rPr lang="en-US" sz="2400" dirty="0">
                <a:solidFill>
                  <a:schemeClr val="folHlink"/>
                </a:solidFill>
              </a:rPr>
              <a:t>Clustering</a:t>
            </a:r>
          </a:p>
          <a:p>
            <a:pPr lvl="1"/>
            <a:r>
              <a:rPr lang="en-US" sz="2400" dirty="0"/>
              <a:t>detect and remove outliers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Example: Binning Method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8839200" cy="493776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2800" dirty="0"/>
              <a:t>Sorted data for price (in dollars): 4, 8, 9, 15, 21, 21, 24, 25, 26, 28, 29, 34</a:t>
            </a:r>
          </a:p>
          <a:p>
            <a:pPr>
              <a:buFontTx/>
              <a:buNone/>
            </a:pPr>
            <a:r>
              <a:rPr lang="en-US" sz="2800" dirty="0"/>
              <a:t>*  Partition into equal-frequency (</a:t>
            </a:r>
            <a:r>
              <a:rPr lang="en-US" sz="2800" dirty="0" err="1"/>
              <a:t>equi</a:t>
            </a:r>
            <a:r>
              <a:rPr lang="en-US" sz="2800" dirty="0"/>
              <a:t>-depth) bins:</a:t>
            </a:r>
          </a:p>
          <a:p>
            <a:pPr>
              <a:buFontTx/>
              <a:buNone/>
            </a:pPr>
            <a:r>
              <a:rPr lang="en-US" sz="2800" dirty="0"/>
              <a:t>      - Bin 1: 4, 8, 9, 15</a:t>
            </a:r>
          </a:p>
          <a:p>
            <a:pPr>
              <a:buFontTx/>
              <a:buNone/>
            </a:pPr>
            <a:r>
              <a:rPr lang="en-US" sz="2800" dirty="0"/>
              <a:t>      - Bin 2: 21, 21, 24, 25</a:t>
            </a:r>
          </a:p>
          <a:p>
            <a:pPr>
              <a:buFontTx/>
              <a:buNone/>
            </a:pPr>
            <a:r>
              <a:rPr lang="en-US" sz="2800" dirty="0"/>
              <a:t>      - Bin 3: 26, 28, 29, 34</a:t>
            </a:r>
          </a:p>
          <a:p>
            <a:pPr>
              <a:buFontTx/>
              <a:buNone/>
            </a:pPr>
            <a:r>
              <a:rPr lang="en-US" sz="2800" dirty="0"/>
              <a:t>*  Smoothing by bin means:</a:t>
            </a:r>
          </a:p>
          <a:p>
            <a:pPr>
              <a:buFontTx/>
              <a:buNone/>
            </a:pPr>
            <a:r>
              <a:rPr lang="en-US" sz="2800" dirty="0"/>
              <a:t>      - Bin 1: 9, 9, 9, 9</a:t>
            </a:r>
          </a:p>
          <a:p>
            <a:pPr>
              <a:buFontTx/>
              <a:buNone/>
            </a:pPr>
            <a:r>
              <a:rPr lang="en-US" sz="2800" dirty="0"/>
              <a:t>      - Bin 2: 23, 23, 23, 23</a:t>
            </a:r>
          </a:p>
          <a:p>
            <a:pPr>
              <a:buFontTx/>
              <a:buNone/>
            </a:pPr>
            <a:r>
              <a:rPr lang="en-US" sz="2800" dirty="0"/>
              <a:t>      - Bin 3: 29, 29, 29, 29</a:t>
            </a:r>
          </a:p>
          <a:p>
            <a:pPr>
              <a:buFontTx/>
              <a:buNone/>
            </a:pPr>
            <a:r>
              <a:rPr lang="en-US" sz="2800" dirty="0"/>
              <a:t>*  Smoothing by bin boundaries:</a:t>
            </a:r>
          </a:p>
          <a:p>
            <a:pPr>
              <a:buFontTx/>
              <a:buNone/>
            </a:pPr>
            <a:r>
              <a:rPr lang="en-US" sz="2800" dirty="0"/>
              <a:t>      - Bin 1: 4, 4, 4, 15</a:t>
            </a:r>
          </a:p>
          <a:p>
            <a:pPr>
              <a:buFontTx/>
              <a:buNone/>
            </a:pPr>
            <a:r>
              <a:rPr lang="en-US" sz="2800" dirty="0"/>
              <a:t>      - Bin 2: 21, 21, 25, 25</a:t>
            </a:r>
          </a:p>
          <a:p>
            <a:pPr>
              <a:buFontTx/>
              <a:buNone/>
            </a:pPr>
            <a:r>
              <a:rPr lang="en-US" sz="2800" dirty="0"/>
              <a:t>      - Bin 3: 26, 26, 26, 34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Regression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600200"/>
          </a:xfrm>
        </p:spPr>
        <p:txBody>
          <a:bodyPr/>
          <a:lstStyle/>
          <a:p>
            <a:pPr lvl="1"/>
            <a:r>
              <a:rPr lang="tr-TR" sz="2400" dirty="0"/>
              <a:t>S</a:t>
            </a:r>
            <a:r>
              <a:rPr lang="en-US" sz="2400" dirty="0" err="1"/>
              <a:t>mooth</a:t>
            </a:r>
            <a:r>
              <a:rPr lang="en-US" sz="2400" dirty="0"/>
              <a:t> by fitting the data into regression functions</a:t>
            </a:r>
            <a:endParaRPr lang="tr-TR" sz="2400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590800"/>
            <a:ext cx="58293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Cluster Analysis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"/>
          </a:xfrm>
        </p:spPr>
        <p:txBody>
          <a:bodyPr/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tr-TR" dirty="0"/>
              <a:t>Used to </a:t>
            </a:r>
            <a:r>
              <a:rPr lang="en-US" sz="2400" dirty="0"/>
              <a:t>detect and remove outliers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438400"/>
            <a:ext cx="401955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tr-TR" dirty="0"/>
              <a:t>QUESTIONS?</a:t>
            </a:r>
            <a:br>
              <a:rPr lang="tr-TR" dirty="0"/>
            </a:br>
            <a:endParaRPr lang="tr-T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3E5F-8069-46FC-BBC8-A857F4B2A024}" type="datetime4">
              <a:rPr lang="en-US" smtClean="0"/>
              <a:pPr/>
              <a:t>September 24,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Mining: Concepts and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F429-73E0-4B18-B086-83558DC20FE2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81000" y="1752600"/>
            <a:ext cx="8458200" cy="44043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Why is it important to preprocess data for data mining?</a:t>
            </a:r>
            <a:r>
              <a:rPr lang="tr-TR" dirty="0"/>
              <a:t> </a:t>
            </a:r>
            <a:r>
              <a:rPr lang="en-US" dirty="0"/>
              <a:t>What is the aim of data</a:t>
            </a:r>
            <a:r>
              <a:rPr lang="tr-TR" dirty="0"/>
              <a:t> preprocessing?</a:t>
            </a:r>
          </a:p>
          <a:p>
            <a:pPr marL="514350" indent="-514350">
              <a:buFont typeface="+mj-lt"/>
              <a:buAutoNum type="arabicPeriod"/>
            </a:pPr>
            <a:endParaRPr lang="tr-TR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the problems that reduce data quality? How can we solve these problems?</a:t>
            </a:r>
            <a:endParaRPr lang="tr-TR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Write the methods for data cleaning.</a:t>
            </a:r>
            <a:endParaRPr lang="tr-TR" dirty="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tr-TR" dirty="0"/>
              <a:t>QUESTIONS?</a:t>
            </a:r>
            <a:br>
              <a:rPr lang="tr-TR" dirty="0"/>
            </a:br>
            <a:endParaRPr lang="tr-T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3E5F-8069-46FC-BBC8-A857F4B2A024}" type="datetime4">
              <a:rPr lang="en-US" smtClean="0"/>
              <a:pPr/>
              <a:t>September 24,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Mining: Concepts and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F429-73E0-4B18-B086-83558DC20FE2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7091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NewRomanPSMT"/>
              </a:rPr>
              <a:t>4. You’re going to implement a data mining application. To decrease noise for age</a:t>
            </a:r>
            <a:r>
              <a:rPr lang="tr-TR" sz="2800" dirty="0">
                <a:latin typeface="TimesNewRomanPSMT"/>
              </a:rPr>
              <a:t> </a:t>
            </a:r>
            <a:r>
              <a:rPr lang="en-US" sz="2800" dirty="0">
                <a:latin typeface="TimesNewRomanPSMT"/>
              </a:rPr>
              <a:t>attribute, use binning method- smooth by bin means. Data set is given below. Partition</a:t>
            </a:r>
            <a:r>
              <a:rPr lang="tr-TR" sz="2800" dirty="0">
                <a:latin typeface="TimesNewRomanPSMT"/>
              </a:rPr>
              <a:t> </a:t>
            </a:r>
            <a:r>
              <a:rPr lang="en-US" sz="2800" dirty="0">
                <a:latin typeface="TimesNewRomanPSMT"/>
              </a:rPr>
              <a:t>the data into equal frequency of 3 bins.</a:t>
            </a:r>
            <a:endParaRPr lang="tr-TR" sz="2800" dirty="0">
              <a:latin typeface="TimesNewRomanPSMT"/>
            </a:endParaRPr>
          </a:p>
          <a:p>
            <a:endParaRPr lang="en-US" sz="2800" dirty="0">
              <a:latin typeface="TimesNewRomanPSMT"/>
            </a:endParaRPr>
          </a:p>
          <a:p>
            <a:r>
              <a:rPr lang="en-US" sz="2800" dirty="0">
                <a:latin typeface="TimesNewRomanPSMT"/>
              </a:rPr>
              <a:t>Age: 13, 15, 16, 19, 20, 20, 23, 25, 30, 32, 35, 35</a:t>
            </a:r>
          </a:p>
          <a:p>
            <a:pPr>
              <a:buNone/>
            </a:pPr>
            <a:endParaRPr lang="tr-TR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7800" y="4495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Bin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Smooth</a:t>
                      </a:r>
                      <a:r>
                        <a:rPr lang="tr-TR" baseline="0" dirty="0"/>
                        <a:t> By Mean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MEASURING SIMILARITY AND DISSIMILARITY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and Dissimilarity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r>
              <a:rPr lang="en-US" sz="2800" dirty="0"/>
              <a:t>Similarity</a:t>
            </a:r>
          </a:p>
          <a:p>
            <a:pPr lvl="1"/>
            <a:r>
              <a:rPr lang="en-US" sz="2400" dirty="0"/>
              <a:t>Numerical measure of </a:t>
            </a:r>
            <a:r>
              <a:rPr lang="en-US" sz="2400" dirty="0">
                <a:solidFill>
                  <a:srgbClr val="FF0000"/>
                </a:solidFill>
              </a:rPr>
              <a:t>how alike two data objects are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Often falls between 0 (</a:t>
            </a:r>
            <a:r>
              <a:rPr lang="en-US" sz="2400" i="1" dirty="0"/>
              <a:t>no similarity</a:t>
            </a:r>
            <a:r>
              <a:rPr lang="en-US" sz="2400" dirty="0"/>
              <a:t>) and 1 (</a:t>
            </a:r>
            <a:r>
              <a:rPr lang="en-US" sz="2400" i="1" dirty="0"/>
              <a:t>complete similarity</a:t>
            </a:r>
            <a:r>
              <a:rPr lang="en-US" sz="2400" dirty="0"/>
              <a:t>).</a:t>
            </a:r>
          </a:p>
          <a:p>
            <a:r>
              <a:rPr lang="en-US" sz="2800" dirty="0"/>
              <a:t>Dissimilarity</a:t>
            </a:r>
          </a:p>
          <a:p>
            <a:pPr lvl="1"/>
            <a:r>
              <a:rPr lang="en-US" sz="2400" dirty="0"/>
              <a:t>Numerical measure of </a:t>
            </a:r>
            <a:r>
              <a:rPr lang="en-US" sz="2400" dirty="0">
                <a:solidFill>
                  <a:srgbClr val="FF0000"/>
                </a:solidFill>
              </a:rPr>
              <a:t>how different are two data objects</a:t>
            </a:r>
            <a:endParaRPr lang="tr-TR" sz="2400" dirty="0">
              <a:solidFill>
                <a:srgbClr val="FF0000"/>
              </a:solidFill>
            </a:endParaRPr>
          </a:p>
          <a:p>
            <a:pPr lvl="1"/>
            <a:r>
              <a:rPr lang="en-US" sz="2400" dirty="0"/>
              <a:t>Range from 0 (objects are alike) to ∞ (objects are different)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Measuring </a:t>
            </a:r>
            <a:r>
              <a:rPr lang="en-US" dirty="0"/>
              <a:t>Similarity and Dissimilarity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We should use Distance Metrics to measure similarity and dissimilarity.</a:t>
            </a:r>
          </a:p>
          <a:p>
            <a:r>
              <a:rPr lang="tr-TR" i="1" dirty="0"/>
              <a:t>Euclidean Distance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en-US" dirty="0"/>
              <a:t>The Euclidean distance between points p and q is the length of the line segment connecting them</a:t>
            </a:r>
            <a:r>
              <a:rPr lang="tr-TR" dirty="0"/>
              <a:t>.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r>
              <a:rPr lang="tr-TR" i="1" dirty="0"/>
              <a:t>Minkowski Distance</a:t>
            </a:r>
          </a:p>
          <a:p>
            <a:r>
              <a:rPr lang="tr-TR" i="1" dirty="0"/>
              <a:t>Mahalanobis Distance</a:t>
            </a:r>
          </a:p>
          <a:p>
            <a:pPr>
              <a:buNone/>
            </a:pPr>
            <a:endParaRPr lang="tr-TR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276600"/>
            <a:ext cx="536257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tr-TR" dirty="0"/>
              <a:t>Example: How similar are these objects?</a:t>
            </a:r>
            <a:br>
              <a:rPr lang="tr-TR" dirty="0"/>
            </a:br>
            <a:endParaRPr lang="tr-TR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76400"/>
            <a:ext cx="7956297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tr-TR" sz="4000" dirty="0"/>
              <a:t>Example 2: How similar are these objects? </a:t>
            </a:r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81200"/>
            <a:ext cx="7315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09600" y="1371600"/>
            <a:ext cx="8229600" cy="5334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24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In this example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shared zeroes </a:t>
            </a:r>
            <a:r>
              <a:rPr kumimoji="0" lang="tr-TR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treated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as uninformative</a:t>
            </a:r>
            <a:endParaRPr kumimoji="0" lang="tr-TR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QUESTIONS?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similarity and dissimilarity? How can we measure the similarity between the</a:t>
            </a:r>
            <a:r>
              <a:rPr lang="tr-TR" dirty="0"/>
              <a:t> </a:t>
            </a:r>
            <a:r>
              <a:rPr lang="en-US" dirty="0"/>
              <a:t>objects? Give 2 examples for measure method</a:t>
            </a:r>
            <a:r>
              <a:rPr lang="tr-TR" dirty="0"/>
              <a:t>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similar are these two objects (calculate similarity)?</a:t>
            </a:r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971800"/>
            <a:ext cx="5962650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158</TotalTime>
  <Words>2785</Words>
  <Application>Microsoft Office PowerPoint</Application>
  <PresentationFormat>On-screen Show (4:3)</PresentationFormat>
  <Paragraphs>452</Paragraphs>
  <Slides>54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70" baseType="lpstr">
      <vt:lpstr>SimSun</vt:lpstr>
      <vt:lpstr>Arial</vt:lpstr>
      <vt:lpstr>Bookman Old Style</vt:lpstr>
      <vt:lpstr>Calibri</vt:lpstr>
      <vt:lpstr>Carlito</vt:lpstr>
      <vt:lpstr>Comic Sans MS</vt:lpstr>
      <vt:lpstr>Gill Sans MT</vt:lpstr>
      <vt:lpstr>Impact</vt:lpstr>
      <vt:lpstr>Tahoma</vt:lpstr>
      <vt:lpstr>Times New Roman</vt:lpstr>
      <vt:lpstr>TimesNewRomanPSMT</vt:lpstr>
      <vt:lpstr>Wingdings</vt:lpstr>
      <vt:lpstr>Wingdings 3</vt:lpstr>
      <vt:lpstr>Origin</vt:lpstr>
      <vt:lpstr>Clip</vt:lpstr>
      <vt:lpstr>Document</vt:lpstr>
      <vt:lpstr>PowerPoint Presentation</vt:lpstr>
      <vt:lpstr>Terminology: Data, Information, Knowledge</vt:lpstr>
      <vt:lpstr>Terminology: Data, Information, Knowledge</vt:lpstr>
      <vt:lpstr>Evolution of Database Technology</vt:lpstr>
      <vt:lpstr>Current State of Data Mining </vt:lpstr>
      <vt:lpstr>Why Data Mining?  </vt:lpstr>
      <vt:lpstr>Big Data Examples</vt:lpstr>
      <vt:lpstr>Data Growth: From Terabytes to the Zettabyte Era</vt:lpstr>
      <vt:lpstr>Data Growth: From Terabytes to the Zettabyte Era</vt:lpstr>
      <vt:lpstr>What Is Data Mining?</vt:lpstr>
      <vt:lpstr>Data Mining: Useful Information</vt:lpstr>
      <vt:lpstr>Origins of Data Mining</vt:lpstr>
      <vt:lpstr>Data Mining: Confluence of Multiple Disciplines </vt:lpstr>
      <vt:lpstr>Data Mining: On What Kind of Data?</vt:lpstr>
      <vt:lpstr>Why Data Mining?—Potential Applications</vt:lpstr>
      <vt:lpstr>Customer Attrition (Losing Customer): Example</vt:lpstr>
      <vt:lpstr>Assessing Credit Risk: Example</vt:lpstr>
      <vt:lpstr>e-commerce: Example </vt:lpstr>
      <vt:lpstr>Successful e-commerce – Example</vt:lpstr>
      <vt:lpstr>Health Care– Example</vt:lpstr>
      <vt:lpstr>Major Data Mining Tasks</vt:lpstr>
      <vt:lpstr>Knowledge Discovery (KDD) Process</vt:lpstr>
      <vt:lpstr>KDD Process: Several Key Steps</vt:lpstr>
      <vt:lpstr>Challenges of Data Mining</vt:lpstr>
      <vt:lpstr>Lecture 2</vt:lpstr>
      <vt:lpstr>Getting to Know Your Data</vt:lpstr>
      <vt:lpstr>What’s an attribute?</vt:lpstr>
      <vt:lpstr>Attribute Types</vt:lpstr>
      <vt:lpstr>PowerPoint Presentation</vt:lpstr>
      <vt:lpstr>Why specify attribute types?</vt:lpstr>
      <vt:lpstr>Measures for Quantitative Data</vt:lpstr>
      <vt:lpstr>DATA PREROCESSING</vt:lpstr>
      <vt:lpstr>The Aim of Data Preprocessing </vt:lpstr>
      <vt:lpstr>Why Data Preprocessing? </vt:lpstr>
      <vt:lpstr>Measures for data quality</vt:lpstr>
      <vt:lpstr>Data Quality Problems </vt:lpstr>
      <vt:lpstr>Data Quality Problems</vt:lpstr>
      <vt:lpstr>Outliers </vt:lpstr>
      <vt:lpstr>Examples </vt:lpstr>
      <vt:lpstr>How can the problems regarding the data quality can be solved?</vt:lpstr>
      <vt:lpstr>Data Preprocessing Techniques</vt:lpstr>
      <vt:lpstr>Data Preprocessing Techniques  </vt:lpstr>
      <vt:lpstr>Data Cleaning Techniques </vt:lpstr>
      <vt:lpstr>Example: Binning Method </vt:lpstr>
      <vt:lpstr>Regression </vt:lpstr>
      <vt:lpstr>Cluster Analysis </vt:lpstr>
      <vt:lpstr>QUESTIONS? </vt:lpstr>
      <vt:lpstr>QUESTIONS? </vt:lpstr>
      <vt:lpstr>MEASURING SIMILARITY AND DISSIMILARITY</vt:lpstr>
      <vt:lpstr>Similarity and Dissimilarity</vt:lpstr>
      <vt:lpstr>Measuring Similarity and Dissimilarity</vt:lpstr>
      <vt:lpstr>Example: How similar are these objects? </vt:lpstr>
      <vt:lpstr>Example 2: How similar are these objects? 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Damla</dc:creator>
  <cp:lastModifiedBy>Damla Topallı</cp:lastModifiedBy>
  <cp:revision>19</cp:revision>
  <dcterms:created xsi:type="dcterms:W3CDTF">2006-08-16T00:00:00Z</dcterms:created>
  <dcterms:modified xsi:type="dcterms:W3CDTF">2026-09-24T10:19:36Z</dcterms:modified>
</cp:coreProperties>
</file>