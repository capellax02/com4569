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2" r:id="rId15"/>
    <p:sldId id="273" r:id="rId16"/>
    <p:sldId id="274" r:id="rId17"/>
    <p:sldId id="275" r:id="rId18"/>
    <p:sldId id="276" r:id="rId19"/>
    <p:sldId id="278" r:id="rId20"/>
    <p:sldId id="279" r:id="rId21"/>
    <p:sldId id="280" r:id="rId22"/>
    <p:sldId id="282" r:id="rId23"/>
    <p:sldId id="283" r:id="rId24"/>
    <p:sldId id="285" r:id="rId25"/>
    <p:sldId id="286" r:id="rId26"/>
    <p:sldId id="287" r:id="rId27"/>
    <p:sldId id="288" r:id="rId28"/>
    <p:sldId id="289" r:id="rId29"/>
    <p:sldId id="290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7" r:id="rId45"/>
    <p:sldId id="309" r:id="rId46"/>
    <p:sldId id="311" r:id="rId47"/>
    <p:sldId id="312" r:id="rId48"/>
    <p:sldId id="313" r:id="rId49"/>
    <p:sldId id="314" r:id="rId50"/>
    <p:sldId id="315" r:id="rId51"/>
    <p:sldId id="316" r:id="rId52"/>
    <p:sldId id="317" r:id="rId53"/>
    <p:sldId id="318" r:id="rId54"/>
    <p:sldId id="319" r:id="rId55"/>
    <p:sldId id="321" r:id="rId56"/>
    <p:sldId id="322" r:id="rId57"/>
    <p:sldId id="323" r:id="rId58"/>
    <p:sldId id="324" r:id="rId59"/>
    <p:sldId id="325" r:id="rId60"/>
    <p:sldId id="326" r:id="rId61"/>
    <p:sldId id="327" r:id="rId62"/>
    <p:sldId id="330" r:id="rId63"/>
    <p:sldId id="332" r:id="rId6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1776" y="2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33339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0014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33339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0014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28209" y="1526946"/>
            <a:ext cx="4062729" cy="4150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FF339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0014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0014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38961" y="1524761"/>
            <a:ext cx="7315200" cy="0"/>
          </a:xfrm>
          <a:custGeom>
            <a:avLst/>
            <a:gdLst/>
            <a:ahLst/>
            <a:cxnLst/>
            <a:rect l="l" t="t" r="r" b="b"/>
            <a:pathLst>
              <a:path w="7315200">
                <a:moveTo>
                  <a:pt x="0" y="0"/>
                </a:moveTo>
                <a:lnTo>
                  <a:pt x="7315200" y="0"/>
                </a:lnTo>
              </a:path>
            </a:pathLst>
          </a:custGeom>
          <a:ln w="28956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0014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130" y="-14528"/>
            <a:ext cx="8987739" cy="14618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7644" y="1356461"/>
            <a:ext cx="8300084" cy="4440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33339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80527" y="6419925"/>
            <a:ext cx="287400" cy="224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0014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200" y="1524000"/>
            <a:ext cx="1438655" cy="12573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35635" y="1610359"/>
            <a:ext cx="2962275" cy="3725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49860" indent="-342900">
              <a:lnSpc>
                <a:spcPct val="100000"/>
              </a:lnSpc>
              <a:spcBef>
                <a:spcPts val="105"/>
              </a:spcBef>
            </a:pPr>
            <a:r>
              <a:rPr sz="3200" b="1" spc="-40" dirty="0">
                <a:solidFill>
                  <a:srgbClr val="333399"/>
                </a:solidFill>
                <a:latin typeface="Arial"/>
                <a:cs typeface="Arial"/>
              </a:rPr>
              <a:t>OLTP</a:t>
            </a:r>
            <a:r>
              <a:rPr sz="3200" b="1" spc="-13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333399"/>
                </a:solidFill>
                <a:latin typeface="Arial"/>
                <a:cs typeface="Arial"/>
              </a:rPr>
              <a:t>:</a:t>
            </a:r>
            <a:r>
              <a:rPr sz="3200" b="1" spc="-16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333399"/>
                </a:solidFill>
                <a:latin typeface="Arial"/>
                <a:cs typeface="Arial"/>
              </a:rPr>
              <a:t>OnLine Transaction Processing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3200">
              <a:latin typeface="Arial"/>
              <a:cs typeface="Arial"/>
            </a:endParaRPr>
          </a:p>
          <a:p>
            <a:pPr marL="349250" marR="5080" indent="-337185">
              <a:lnSpc>
                <a:spcPct val="110000"/>
              </a:lnSpc>
            </a:pPr>
            <a:r>
              <a:rPr sz="3200" b="1" dirty="0">
                <a:solidFill>
                  <a:srgbClr val="333399"/>
                </a:solidFill>
                <a:latin typeface="Arial"/>
                <a:cs typeface="Arial"/>
              </a:rPr>
              <a:t>OLAP</a:t>
            </a:r>
            <a:r>
              <a:rPr sz="3200" b="1" spc="-7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333399"/>
                </a:solidFill>
                <a:latin typeface="Arial"/>
                <a:cs typeface="Arial"/>
              </a:rPr>
              <a:t>:</a:t>
            </a:r>
            <a:r>
              <a:rPr sz="3200" b="1" spc="-12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333399"/>
                </a:solidFill>
                <a:latin typeface="Arial"/>
                <a:cs typeface="Arial"/>
              </a:rPr>
              <a:t>(onLine Analytical Processing)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6493" rIns="0" bIns="0" rtlCol="0">
            <a:spAutoFit/>
          </a:bodyPr>
          <a:lstStyle/>
          <a:p>
            <a:pPr marL="765175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solidFill>
                  <a:srgbClr val="009999"/>
                </a:solidFill>
                <a:latin typeface="Arial"/>
                <a:cs typeface="Arial"/>
              </a:rPr>
              <a:t>Operational</a:t>
            </a:r>
            <a:r>
              <a:rPr sz="4400" b="0" spc="-4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400" b="0" dirty="0">
                <a:solidFill>
                  <a:srgbClr val="009999"/>
                </a:solidFill>
                <a:latin typeface="Arial"/>
                <a:cs typeface="Arial"/>
              </a:rPr>
              <a:t>Data</a:t>
            </a:r>
            <a:r>
              <a:rPr sz="4400" b="0" spc="-3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400" b="0" dirty="0">
                <a:solidFill>
                  <a:srgbClr val="009999"/>
                </a:solidFill>
                <a:latin typeface="Arial"/>
                <a:cs typeface="Arial"/>
              </a:rPr>
              <a:t>Store</a:t>
            </a:r>
            <a:r>
              <a:rPr sz="4400" b="0" spc="-5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400" b="0" spc="-10" dirty="0">
                <a:solidFill>
                  <a:srgbClr val="009999"/>
                </a:solidFill>
                <a:latin typeface="Arial"/>
                <a:cs typeface="Arial"/>
              </a:rPr>
              <a:t>(ODS)</a:t>
            </a:r>
            <a:endParaRPr sz="4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48200" y="3733800"/>
            <a:ext cx="3962400" cy="199034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120633" y="6399072"/>
            <a:ext cx="1250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009999"/>
                </a:solidFill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7263"/>
            <a:ext cx="9144000" cy="64587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644" y="1585721"/>
            <a:ext cx="6200140" cy="423672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b="1" spc="-35" dirty="0">
                <a:solidFill>
                  <a:srgbClr val="333399"/>
                </a:solidFill>
                <a:latin typeface="Arial"/>
                <a:cs typeface="Arial"/>
              </a:rPr>
              <a:t>OLTP</a:t>
            </a:r>
            <a:r>
              <a:rPr sz="2400" b="1" spc="-8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99"/>
                </a:solidFill>
                <a:latin typeface="Arial"/>
                <a:cs typeface="Arial"/>
              </a:rPr>
              <a:t>(onLine</a:t>
            </a:r>
            <a:r>
              <a:rPr sz="2400" b="1" spc="-7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333399"/>
                </a:solidFill>
                <a:latin typeface="Arial"/>
                <a:cs typeface="Arial"/>
              </a:rPr>
              <a:t>Transaction</a:t>
            </a:r>
            <a:r>
              <a:rPr sz="2400" b="1" spc="-114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333399"/>
                </a:solidFill>
                <a:latin typeface="Arial"/>
                <a:cs typeface="Arial"/>
              </a:rPr>
              <a:t>Processing)</a:t>
            </a:r>
            <a:endParaRPr sz="24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900"/>
              </a:spcBef>
              <a:buChar char="–"/>
              <a:tabLst>
                <a:tab pos="755015" algn="l"/>
              </a:tabLst>
            </a:pP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Major</a:t>
            </a:r>
            <a:r>
              <a:rPr sz="2400" spc="-9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task</a:t>
            </a:r>
            <a:r>
              <a:rPr sz="2400" spc="-7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of</a:t>
            </a:r>
            <a:r>
              <a:rPr sz="2400" spc="-7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traditional</a:t>
            </a:r>
            <a:r>
              <a:rPr sz="2400" spc="-6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relational</a:t>
            </a:r>
            <a:r>
              <a:rPr sz="2400" spc="-8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33399"/>
                </a:solidFill>
                <a:latin typeface="Arial"/>
                <a:cs typeface="Arial"/>
              </a:rPr>
              <a:t>DBMS</a:t>
            </a:r>
            <a:endParaRPr sz="24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900"/>
              </a:spcBef>
              <a:buChar char="–"/>
              <a:tabLst>
                <a:tab pos="755015" algn="l"/>
              </a:tabLst>
            </a:pPr>
            <a:r>
              <a:rPr sz="2400" spc="-20" dirty="0">
                <a:solidFill>
                  <a:srgbClr val="333399"/>
                </a:solidFill>
                <a:latin typeface="Arial"/>
                <a:cs typeface="Arial"/>
              </a:rPr>
              <a:t>Day-</a:t>
            </a:r>
            <a:r>
              <a:rPr sz="2400" spc="-10" dirty="0">
                <a:solidFill>
                  <a:srgbClr val="333399"/>
                </a:solidFill>
                <a:latin typeface="Arial"/>
                <a:cs typeface="Arial"/>
              </a:rPr>
              <a:t>to-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day</a:t>
            </a:r>
            <a:r>
              <a:rPr sz="2400" spc="-4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"/>
                <a:cs typeface="Arial"/>
              </a:rPr>
              <a:t>operations:</a:t>
            </a:r>
            <a:endParaRPr sz="2400">
              <a:latin typeface="Arial"/>
              <a:cs typeface="Arial"/>
            </a:endParaRPr>
          </a:p>
          <a:p>
            <a:pPr marL="1155065" lvl="2" indent="-228600">
              <a:lnSpc>
                <a:spcPct val="100000"/>
              </a:lnSpc>
              <a:spcBef>
                <a:spcPts val="810"/>
              </a:spcBef>
              <a:buChar char="•"/>
              <a:tabLst>
                <a:tab pos="1155065" algn="l"/>
              </a:tabLst>
            </a:pPr>
            <a:r>
              <a:rPr sz="2000" spc="-10" dirty="0">
                <a:solidFill>
                  <a:srgbClr val="333399"/>
                </a:solidFill>
                <a:latin typeface="Arial"/>
                <a:cs typeface="Arial"/>
              </a:rPr>
              <a:t>purchasing,</a:t>
            </a:r>
            <a:endParaRPr sz="2000">
              <a:latin typeface="Arial"/>
              <a:cs typeface="Arial"/>
            </a:endParaRPr>
          </a:p>
          <a:p>
            <a:pPr marL="1155065" lvl="2" indent="-228600">
              <a:lnSpc>
                <a:spcPct val="100000"/>
              </a:lnSpc>
              <a:spcBef>
                <a:spcPts val="695"/>
              </a:spcBef>
              <a:buChar char="•"/>
              <a:tabLst>
                <a:tab pos="1155065" algn="l"/>
              </a:tabLst>
            </a:pPr>
            <a:r>
              <a:rPr sz="2000" spc="-10" dirty="0">
                <a:solidFill>
                  <a:srgbClr val="333399"/>
                </a:solidFill>
                <a:latin typeface="Arial"/>
                <a:cs typeface="Arial"/>
              </a:rPr>
              <a:t>inventory,</a:t>
            </a:r>
            <a:endParaRPr sz="2000">
              <a:latin typeface="Arial"/>
              <a:cs typeface="Arial"/>
            </a:endParaRPr>
          </a:p>
          <a:p>
            <a:pPr marL="1155065" lvl="2" indent="-228600">
              <a:lnSpc>
                <a:spcPct val="100000"/>
              </a:lnSpc>
              <a:spcBef>
                <a:spcPts val="700"/>
              </a:spcBef>
              <a:buChar char="•"/>
              <a:tabLst>
                <a:tab pos="1155065" algn="l"/>
              </a:tabLst>
            </a:pPr>
            <a:r>
              <a:rPr sz="2000" spc="-10" dirty="0">
                <a:solidFill>
                  <a:srgbClr val="333399"/>
                </a:solidFill>
                <a:latin typeface="Arial"/>
                <a:cs typeface="Arial"/>
              </a:rPr>
              <a:t>banking,</a:t>
            </a:r>
            <a:endParaRPr sz="2000">
              <a:latin typeface="Arial"/>
              <a:cs typeface="Arial"/>
            </a:endParaRPr>
          </a:p>
          <a:p>
            <a:pPr marL="1155065" lvl="2" indent="-228600">
              <a:lnSpc>
                <a:spcPct val="100000"/>
              </a:lnSpc>
              <a:spcBef>
                <a:spcPts val="705"/>
              </a:spcBef>
              <a:buChar char="•"/>
              <a:tabLst>
                <a:tab pos="1155065" algn="l"/>
              </a:tabLst>
            </a:pPr>
            <a:r>
              <a:rPr sz="2000" spc="-10" dirty="0">
                <a:solidFill>
                  <a:srgbClr val="333399"/>
                </a:solidFill>
                <a:latin typeface="Arial"/>
                <a:cs typeface="Arial"/>
              </a:rPr>
              <a:t>manufacturing,</a:t>
            </a:r>
            <a:endParaRPr sz="2000">
              <a:latin typeface="Arial"/>
              <a:cs typeface="Arial"/>
            </a:endParaRPr>
          </a:p>
          <a:p>
            <a:pPr marL="1155065" lvl="2" indent="-228600">
              <a:lnSpc>
                <a:spcPct val="100000"/>
              </a:lnSpc>
              <a:spcBef>
                <a:spcPts val="695"/>
              </a:spcBef>
              <a:buChar char="•"/>
              <a:tabLst>
                <a:tab pos="1155065" algn="l"/>
              </a:tabLst>
            </a:pPr>
            <a:r>
              <a:rPr sz="2000" spc="-10" dirty="0">
                <a:solidFill>
                  <a:srgbClr val="333399"/>
                </a:solidFill>
                <a:latin typeface="Arial"/>
                <a:cs typeface="Arial"/>
              </a:rPr>
              <a:t>payroll,</a:t>
            </a:r>
            <a:endParaRPr sz="2000">
              <a:latin typeface="Arial"/>
              <a:cs typeface="Arial"/>
            </a:endParaRPr>
          </a:p>
          <a:p>
            <a:pPr marL="1155065" lvl="2" indent="-228600">
              <a:lnSpc>
                <a:spcPct val="100000"/>
              </a:lnSpc>
              <a:spcBef>
                <a:spcPts val="700"/>
              </a:spcBef>
              <a:buChar char="•"/>
              <a:tabLst>
                <a:tab pos="1155065" algn="l"/>
              </a:tabLst>
            </a:pPr>
            <a:r>
              <a:rPr sz="2000" spc="-10" dirty="0">
                <a:solidFill>
                  <a:srgbClr val="333399"/>
                </a:solidFill>
                <a:latin typeface="Arial"/>
                <a:cs typeface="Arial"/>
              </a:rPr>
              <a:t>registration,</a:t>
            </a:r>
            <a:endParaRPr sz="2000">
              <a:latin typeface="Arial"/>
              <a:cs typeface="Arial"/>
            </a:endParaRPr>
          </a:p>
          <a:p>
            <a:pPr marL="1155065" lvl="2" indent="-228600">
              <a:lnSpc>
                <a:spcPct val="100000"/>
              </a:lnSpc>
              <a:spcBef>
                <a:spcPts val="710"/>
              </a:spcBef>
              <a:buChar char="•"/>
              <a:tabLst>
                <a:tab pos="1155065" algn="l"/>
              </a:tabLst>
            </a:pPr>
            <a:r>
              <a:rPr sz="2000" dirty="0">
                <a:solidFill>
                  <a:srgbClr val="333399"/>
                </a:solidFill>
                <a:latin typeface="Arial"/>
                <a:cs typeface="Arial"/>
              </a:rPr>
              <a:t>accounting,</a:t>
            </a:r>
            <a:r>
              <a:rPr sz="2000" spc="-12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333399"/>
                </a:solidFill>
                <a:latin typeface="Arial"/>
                <a:cs typeface="Arial"/>
              </a:rPr>
              <a:t>etc.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6493" rIns="0" bIns="0" rtlCol="0">
            <a:spAutoFit/>
          </a:bodyPr>
          <a:lstStyle/>
          <a:p>
            <a:pPr marL="765175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solidFill>
                  <a:srgbClr val="009999"/>
                </a:solidFill>
                <a:latin typeface="Arial"/>
                <a:cs typeface="Arial"/>
              </a:rPr>
              <a:t>Operational</a:t>
            </a:r>
            <a:r>
              <a:rPr sz="4400" b="0" spc="-4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400" b="0" dirty="0">
                <a:solidFill>
                  <a:srgbClr val="009999"/>
                </a:solidFill>
                <a:latin typeface="Arial"/>
                <a:cs typeface="Arial"/>
              </a:rPr>
              <a:t>Data</a:t>
            </a:r>
            <a:r>
              <a:rPr sz="4400" b="0" spc="-3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400" b="0" dirty="0">
                <a:solidFill>
                  <a:srgbClr val="009999"/>
                </a:solidFill>
                <a:latin typeface="Arial"/>
                <a:cs typeface="Arial"/>
              </a:rPr>
              <a:t>Store</a:t>
            </a:r>
            <a:r>
              <a:rPr sz="4400" b="0" spc="-5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400" b="0" spc="-10" dirty="0">
                <a:solidFill>
                  <a:srgbClr val="009999"/>
                </a:solidFill>
                <a:latin typeface="Arial"/>
                <a:cs typeface="Arial"/>
              </a:rPr>
              <a:t>(ODS)</a:t>
            </a:r>
            <a:endParaRPr sz="4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3962400"/>
            <a:ext cx="1438655" cy="12573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120633" y="6399072"/>
            <a:ext cx="1250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009999"/>
                </a:solidFill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7263"/>
            <a:ext cx="9144000" cy="64587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7263"/>
            <a:ext cx="9144000" cy="64587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7263"/>
            <a:ext cx="9144000" cy="64587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7263"/>
            <a:ext cx="9144000" cy="64587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7263"/>
            <a:ext cx="9144000" cy="64587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7263"/>
            <a:ext cx="9144000" cy="64587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7263"/>
            <a:ext cx="9144000" cy="64587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7263"/>
            <a:ext cx="9144000" cy="64587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7263"/>
            <a:ext cx="9144000" cy="64587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7263"/>
            <a:ext cx="9144000" cy="645871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7263"/>
            <a:ext cx="9144000" cy="645871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7263"/>
            <a:ext cx="9144000" cy="645871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7263"/>
            <a:ext cx="9144000" cy="645871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5570" y="259842"/>
            <a:ext cx="3822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solidFill>
                  <a:srgbClr val="009999"/>
                </a:solidFill>
                <a:latin typeface="Arial"/>
                <a:cs typeface="Arial"/>
              </a:rPr>
              <a:t>Data</a:t>
            </a:r>
            <a:r>
              <a:rPr sz="4000" b="0" spc="-18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000" b="0" spc="-10" dirty="0">
                <a:solidFill>
                  <a:srgbClr val="009999"/>
                </a:solidFill>
                <a:latin typeface="Arial"/>
                <a:cs typeface="Arial"/>
              </a:rPr>
              <a:t>Warehouse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644" y="983125"/>
            <a:ext cx="7049134" cy="249237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40"/>
              </a:spcBef>
              <a:buFont typeface="Arial"/>
              <a:buChar char="•"/>
              <a:tabLst>
                <a:tab pos="354965" algn="l"/>
              </a:tabLst>
            </a:pPr>
            <a:r>
              <a:rPr sz="2400" b="1" dirty="0">
                <a:solidFill>
                  <a:srgbClr val="333399"/>
                </a:solidFill>
                <a:latin typeface="Arial"/>
                <a:cs typeface="Arial"/>
              </a:rPr>
              <a:t>OLAP</a:t>
            </a:r>
            <a:r>
              <a:rPr sz="2400" b="1" spc="-7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99"/>
                </a:solidFill>
                <a:latin typeface="Arial"/>
                <a:cs typeface="Arial"/>
              </a:rPr>
              <a:t>(onLine</a:t>
            </a:r>
            <a:r>
              <a:rPr sz="2400" b="1" spc="-12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333399"/>
                </a:solidFill>
                <a:latin typeface="Arial"/>
                <a:cs typeface="Arial"/>
              </a:rPr>
              <a:t>Analytical</a:t>
            </a:r>
            <a:r>
              <a:rPr sz="2400" b="1" spc="-8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333399"/>
                </a:solidFill>
                <a:latin typeface="Arial"/>
                <a:cs typeface="Arial"/>
              </a:rPr>
              <a:t>Processing)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980"/>
              </a:spcBef>
              <a:buChar char="•"/>
              <a:tabLst>
                <a:tab pos="354965" algn="l"/>
              </a:tabLst>
            </a:pP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Major</a:t>
            </a:r>
            <a:r>
              <a:rPr sz="2800" spc="-8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task</a:t>
            </a:r>
            <a:r>
              <a:rPr sz="2800" spc="-6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of</a:t>
            </a:r>
            <a:r>
              <a:rPr sz="2800" spc="-8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data</a:t>
            </a:r>
            <a:r>
              <a:rPr sz="2800" spc="-8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warehouse</a:t>
            </a:r>
            <a:r>
              <a:rPr sz="2800" spc="-7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Arial"/>
                <a:cs typeface="Arial"/>
              </a:rPr>
              <a:t>system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919"/>
              </a:spcBef>
              <a:buChar char="–"/>
              <a:tabLst>
                <a:tab pos="755015" algn="l"/>
              </a:tabLst>
            </a:pP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Data</a:t>
            </a:r>
            <a:r>
              <a:rPr sz="2400" spc="-11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analysis</a:t>
            </a:r>
            <a:r>
              <a:rPr sz="2400" spc="-10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and</a:t>
            </a:r>
            <a:r>
              <a:rPr sz="2400" spc="-9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decision</a:t>
            </a:r>
            <a:r>
              <a:rPr sz="2400" spc="-2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"/>
                <a:cs typeface="Arial"/>
              </a:rPr>
              <a:t>making</a:t>
            </a:r>
            <a:endParaRPr sz="24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900"/>
              </a:spcBef>
              <a:buChar char="–"/>
              <a:tabLst>
                <a:tab pos="755015" algn="l"/>
              </a:tabLst>
            </a:pPr>
            <a:r>
              <a:rPr sz="2400" spc="-45" dirty="0">
                <a:solidFill>
                  <a:srgbClr val="333399"/>
                </a:solidFill>
                <a:latin typeface="Arial"/>
                <a:cs typeface="Arial"/>
              </a:rPr>
              <a:t>Tools</a:t>
            </a:r>
            <a:r>
              <a:rPr sz="2400" spc="-11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for</a:t>
            </a:r>
            <a:r>
              <a:rPr sz="2400" spc="-9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querying</a:t>
            </a:r>
            <a:r>
              <a:rPr sz="2400" spc="-11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huge</a:t>
            </a:r>
            <a:r>
              <a:rPr sz="2400" spc="-10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33399"/>
                </a:solidFill>
                <a:latin typeface="Arial"/>
                <a:cs typeface="Arial"/>
              </a:rPr>
              <a:t>multi-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dimensional</a:t>
            </a:r>
            <a:r>
              <a:rPr sz="2400" spc="-5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333399"/>
                </a:solidFill>
                <a:latin typeface="Arial"/>
                <a:cs typeface="Arial"/>
              </a:rPr>
              <a:t>dbs.</a:t>
            </a:r>
            <a:endParaRPr sz="24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900"/>
              </a:spcBef>
              <a:buChar char="–"/>
              <a:tabLst>
                <a:tab pos="755015" algn="l"/>
              </a:tabLst>
            </a:pPr>
            <a:r>
              <a:rPr sz="2400" spc="-45" dirty="0">
                <a:solidFill>
                  <a:srgbClr val="333399"/>
                </a:solidFill>
                <a:latin typeface="Arial"/>
                <a:cs typeface="Arial"/>
              </a:rPr>
              <a:t>Tools</a:t>
            </a:r>
            <a:r>
              <a:rPr sz="2400" spc="-9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for</a:t>
            </a:r>
            <a:r>
              <a:rPr sz="2400" spc="-7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domain</a:t>
            </a:r>
            <a:r>
              <a:rPr sz="2400" spc="-8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"/>
                <a:cs typeface="Arial"/>
              </a:rPr>
              <a:t>specialists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3733800"/>
            <a:ext cx="3962400" cy="199034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095233" y="6415963"/>
            <a:ext cx="2870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spc="-25" dirty="0">
                <a:solidFill>
                  <a:srgbClr val="009999"/>
                </a:solidFill>
                <a:latin typeface="Arial"/>
                <a:cs typeface="Arial"/>
              </a:rPr>
              <a:t>17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2145" y="1838769"/>
            <a:ext cx="5343554" cy="421151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436" rIns="0" bIns="0" rtlCol="0">
            <a:spAutoFit/>
          </a:bodyPr>
          <a:lstStyle/>
          <a:p>
            <a:pPr marL="258953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solidFill>
                  <a:srgbClr val="009999"/>
                </a:solidFill>
                <a:latin typeface="Arial"/>
                <a:cs typeface="Arial"/>
              </a:rPr>
              <a:t>Data</a:t>
            </a:r>
            <a:r>
              <a:rPr sz="4000" b="0" spc="-18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000" b="0" spc="-10" dirty="0">
                <a:solidFill>
                  <a:srgbClr val="009999"/>
                </a:solidFill>
                <a:latin typeface="Arial"/>
                <a:cs typeface="Arial"/>
              </a:rPr>
              <a:t>Warehouse</a:t>
            </a:r>
            <a:endParaRPr sz="4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95233" y="6415963"/>
            <a:ext cx="2870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spc="-25" dirty="0">
                <a:solidFill>
                  <a:srgbClr val="009999"/>
                </a:solidFill>
                <a:latin typeface="Arial"/>
                <a:cs typeface="Arial"/>
              </a:rPr>
              <a:t>18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095233" y="6415963"/>
            <a:ext cx="2870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spc="-25" dirty="0">
                <a:solidFill>
                  <a:srgbClr val="009999"/>
                </a:solidFill>
                <a:latin typeface="Arial"/>
                <a:cs typeface="Arial"/>
              </a:rPr>
              <a:t>19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6493" rIns="0" bIns="0" rtlCol="0">
            <a:spAutoFit/>
          </a:bodyPr>
          <a:lstStyle/>
          <a:p>
            <a:pPr marL="250571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solidFill>
                  <a:srgbClr val="009999"/>
                </a:solidFill>
                <a:latin typeface="Arial"/>
                <a:cs typeface="Arial"/>
              </a:rPr>
              <a:t>OLTP vs.</a:t>
            </a:r>
            <a:r>
              <a:rPr sz="4400" b="0" spc="-9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400" b="0" spc="-20" dirty="0">
                <a:solidFill>
                  <a:srgbClr val="009999"/>
                </a:solidFill>
                <a:latin typeface="Arial"/>
                <a:cs typeface="Arial"/>
              </a:rPr>
              <a:t>OLAP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235" y="1506459"/>
            <a:ext cx="8148320" cy="43192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19"/>
              </a:spcBef>
              <a:buChar char="•"/>
              <a:tabLst>
                <a:tab pos="354965" algn="l"/>
              </a:tabLst>
            </a:pPr>
            <a:r>
              <a:rPr sz="3200" spc="-20" dirty="0">
                <a:solidFill>
                  <a:srgbClr val="333399"/>
                </a:solidFill>
                <a:latin typeface="Arial"/>
                <a:cs typeface="Arial"/>
              </a:rPr>
              <a:t>OLTP:</a:t>
            </a:r>
            <a:r>
              <a:rPr sz="3200" spc="-6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Arial"/>
                <a:cs typeface="Arial"/>
              </a:rPr>
              <a:t>On-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Line</a:t>
            </a:r>
            <a:r>
              <a:rPr sz="3200" spc="-114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333399"/>
                </a:solidFill>
                <a:latin typeface="Arial"/>
                <a:cs typeface="Arial"/>
              </a:rPr>
              <a:t>Transaction</a:t>
            </a:r>
            <a:r>
              <a:rPr sz="3200" spc="-19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Arial"/>
                <a:cs typeface="Arial"/>
              </a:rPr>
              <a:t>Processing</a:t>
            </a:r>
            <a:endParaRPr sz="32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710"/>
              </a:spcBef>
              <a:buChar char="–"/>
              <a:tabLst>
                <a:tab pos="755650" algn="l"/>
              </a:tabLst>
            </a:pP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Concerned</a:t>
            </a:r>
            <a:r>
              <a:rPr sz="2800" spc="-13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with</a:t>
            </a:r>
            <a:r>
              <a:rPr sz="2800" spc="-12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processing</a:t>
            </a:r>
            <a:r>
              <a:rPr sz="2800" spc="-14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at</a:t>
            </a:r>
            <a:r>
              <a:rPr sz="2800" spc="-12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operational</a:t>
            </a:r>
            <a:r>
              <a:rPr sz="2800" spc="-10" dirty="0">
                <a:solidFill>
                  <a:srgbClr val="333399"/>
                </a:solidFill>
                <a:latin typeface="Arial"/>
                <a:cs typeface="Arial"/>
              </a:rPr>
              <a:t> sites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710"/>
              </a:spcBef>
              <a:buChar char="–"/>
              <a:tabLst>
                <a:tab pos="755650" algn="l"/>
              </a:tabLst>
            </a:pP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Mostly</a:t>
            </a:r>
            <a:r>
              <a:rPr sz="2800" spc="-9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using</a:t>
            </a:r>
            <a:r>
              <a:rPr sz="2800" spc="-8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some</a:t>
            </a:r>
            <a:r>
              <a:rPr sz="2800" spc="-5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kind</a:t>
            </a:r>
            <a:r>
              <a:rPr sz="2800" spc="-6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of</a:t>
            </a:r>
            <a:r>
              <a:rPr sz="2800" spc="-4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Arial"/>
                <a:cs typeface="Arial"/>
              </a:rPr>
              <a:t>database</a:t>
            </a:r>
            <a:endParaRPr sz="2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745"/>
              </a:spcBef>
              <a:buClr>
                <a:srgbClr val="333399"/>
              </a:buClr>
              <a:buFont typeface="Arial"/>
              <a:buChar char="–"/>
            </a:pP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OLAP:</a:t>
            </a:r>
            <a:r>
              <a:rPr sz="3200" spc="-4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Arial"/>
                <a:cs typeface="Arial"/>
              </a:rPr>
              <a:t>On-Line</a:t>
            </a:r>
            <a:r>
              <a:rPr sz="3200" spc="-24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Analytical</a:t>
            </a:r>
            <a:r>
              <a:rPr sz="3200" spc="-8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Arial"/>
                <a:cs typeface="Arial"/>
              </a:rPr>
              <a:t>Processing</a:t>
            </a:r>
            <a:endParaRPr sz="32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715"/>
              </a:spcBef>
              <a:buChar char="–"/>
              <a:tabLst>
                <a:tab pos="755650" algn="l"/>
              </a:tabLst>
            </a:pP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Describes</a:t>
            </a:r>
            <a:r>
              <a:rPr sz="2800" spc="-8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processing</a:t>
            </a:r>
            <a:r>
              <a:rPr sz="2800" spc="-5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at</a:t>
            </a:r>
            <a:r>
              <a:rPr sz="2800" spc="-114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Arial"/>
                <a:cs typeface="Arial"/>
              </a:rPr>
              <a:t>warehouse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700"/>
              </a:spcBef>
              <a:buChar char="–"/>
              <a:tabLst>
                <a:tab pos="755650" algn="l"/>
              </a:tabLst>
            </a:pP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Data</a:t>
            </a:r>
            <a:r>
              <a:rPr sz="2800" spc="-7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is</a:t>
            </a:r>
            <a:r>
              <a:rPr sz="2800" spc="-6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used</a:t>
            </a:r>
            <a:r>
              <a:rPr sz="2800" spc="-5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for</a:t>
            </a:r>
            <a:r>
              <a:rPr sz="2800" spc="-4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analysis</a:t>
            </a:r>
            <a:r>
              <a:rPr sz="2800" spc="-9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3399"/>
                </a:solidFill>
                <a:latin typeface="Arial"/>
                <a:cs typeface="Arial"/>
              </a:rPr>
              <a:t>only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705"/>
              </a:spcBef>
              <a:buChar char="–"/>
              <a:tabLst>
                <a:tab pos="755650" algn="l"/>
              </a:tabLst>
            </a:pP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Used</a:t>
            </a:r>
            <a:r>
              <a:rPr sz="2800" spc="-7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by</a:t>
            </a:r>
            <a:r>
              <a:rPr sz="2800" spc="-6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Arial"/>
                <a:cs typeface="Arial"/>
              </a:rPr>
              <a:t>management/strategists/planners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095233" y="6415963"/>
            <a:ext cx="2870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spc="-25" dirty="0">
                <a:solidFill>
                  <a:srgbClr val="009999"/>
                </a:solidFill>
                <a:latin typeface="Arial"/>
                <a:cs typeface="Arial"/>
              </a:rPr>
              <a:t>20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6493" rIns="0" bIns="0" rtlCol="0">
            <a:spAutoFit/>
          </a:bodyPr>
          <a:lstStyle/>
          <a:p>
            <a:pPr marL="71755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solidFill>
                  <a:srgbClr val="009999"/>
                </a:solidFill>
                <a:latin typeface="Arial"/>
                <a:cs typeface="Arial"/>
              </a:rPr>
              <a:t>Warehouse</a:t>
            </a:r>
            <a:r>
              <a:rPr sz="4400" b="0" spc="-3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400" b="0" dirty="0">
                <a:solidFill>
                  <a:srgbClr val="009999"/>
                </a:solidFill>
                <a:latin typeface="Arial"/>
                <a:cs typeface="Arial"/>
              </a:rPr>
              <a:t>as</a:t>
            </a:r>
            <a:r>
              <a:rPr sz="4400" b="0" spc="-2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400" b="0" dirty="0">
                <a:solidFill>
                  <a:srgbClr val="009999"/>
                </a:solidFill>
                <a:latin typeface="Arial"/>
                <a:cs typeface="Arial"/>
              </a:rPr>
              <a:t>Specialized</a:t>
            </a:r>
            <a:r>
              <a:rPr sz="4400" b="0" spc="-12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400" b="0" spc="-25" dirty="0">
                <a:solidFill>
                  <a:srgbClr val="009999"/>
                </a:solidFill>
                <a:latin typeface="Arial"/>
                <a:cs typeface="Arial"/>
              </a:rPr>
              <a:t>DB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035" y="1526946"/>
            <a:ext cx="4175760" cy="415036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800" b="1" dirty="0">
                <a:solidFill>
                  <a:srgbClr val="333399"/>
                </a:solidFill>
                <a:latin typeface="Arial"/>
                <a:cs typeface="Arial"/>
              </a:rPr>
              <a:t>Standard</a:t>
            </a:r>
            <a:r>
              <a:rPr sz="2800" b="1" spc="-10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333399"/>
                </a:solidFill>
                <a:latin typeface="Arial"/>
                <a:cs typeface="Arial"/>
              </a:rPr>
              <a:t>DB</a:t>
            </a:r>
            <a:r>
              <a:rPr sz="2800" b="1" spc="-7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333399"/>
                </a:solidFill>
                <a:latin typeface="Arial"/>
                <a:cs typeface="Arial"/>
              </a:rPr>
              <a:t>(OLTP)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00"/>
              </a:spcBef>
              <a:buChar char="•"/>
              <a:tabLst>
                <a:tab pos="354965" algn="l"/>
              </a:tabLst>
            </a:pP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Mostly</a:t>
            </a:r>
            <a:r>
              <a:rPr sz="2800" spc="-14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Arial"/>
                <a:cs typeface="Arial"/>
              </a:rPr>
              <a:t>updates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10"/>
              </a:spcBef>
              <a:buChar char="•"/>
              <a:tabLst>
                <a:tab pos="354965" algn="l"/>
              </a:tabLst>
            </a:pP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Many</a:t>
            </a:r>
            <a:r>
              <a:rPr sz="2800" spc="-9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small</a:t>
            </a:r>
            <a:r>
              <a:rPr sz="2800" spc="-114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Arial"/>
                <a:cs typeface="Arial"/>
              </a:rPr>
              <a:t>transactions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95"/>
              </a:spcBef>
              <a:buChar char="•"/>
              <a:tabLst>
                <a:tab pos="354965" algn="l"/>
              </a:tabLst>
            </a:pPr>
            <a:r>
              <a:rPr sz="2800" spc="-20" dirty="0">
                <a:solidFill>
                  <a:srgbClr val="333399"/>
                </a:solidFill>
                <a:latin typeface="Arial"/>
                <a:cs typeface="Arial"/>
              </a:rPr>
              <a:t>Mb-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GB</a:t>
            </a:r>
            <a:r>
              <a:rPr sz="2800" spc="-2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of</a:t>
            </a:r>
            <a:r>
              <a:rPr sz="2800" spc="-3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3399"/>
                </a:solidFill>
                <a:latin typeface="Arial"/>
                <a:cs typeface="Arial"/>
              </a:rPr>
              <a:t>data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00"/>
              </a:spcBef>
              <a:buChar char="•"/>
              <a:tabLst>
                <a:tab pos="354965" algn="l"/>
              </a:tabLst>
            </a:pP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Current</a:t>
            </a:r>
            <a:r>
              <a:rPr sz="2800" spc="-11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Arial"/>
                <a:cs typeface="Arial"/>
              </a:rPr>
              <a:t>snapshot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05"/>
              </a:spcBef>
              <a:buChar char="•"/>
              <a:tabLst>
                <a:tab pos="354965" algn="l"/>
              </a:tabLst>
            </a:pP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Index/hash</a:t>
            </a:r>
            <a:r>
              <a:rPr sz="2800" spc="-7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on</a:t>
            </a:r>
            <a:r>
              <a:rPr sz="2800" spc="-11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33399"/>
                </a:solidFill>
                <a:latin typeface="Arial"/>
                <a:cs typeface="Arial"/>
              </a:rPr>
              <a:t>PK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95"/>
              </a:spcBef>
              <a:buChar char="•"/>
              <a:tabLst>
                <a:tab pos="354965" algn="l"/>
              </a:tabLst>
            </a:pP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Raw</a:t>
            </a:r>
            <a:r>
              <a:rPr sz="2800" spc="-8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3399"/>
                </a:solidFill>
                <a:latin typeface="Arial"/>
                <a:cs typeface="Arial"/>
              </a:rPr>
              <a:t>data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00"/>
              </a:spcBef>
              <a:buChar char="•"/>
              <a:tabLst>
                <a:tab pos="354965" algn="l"/>
              </a:tabLst>
            </a:pP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Thousands</a:t>
            </a:r>
            <a:r>
              <a:rPr sz="2800" spc="-12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of</a:t>
            </a:r>
            <a:r>
              <a:rPr sz="2800" spc="-10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3399"/>
                </a:solidFill>
                <a:latin typeface="Arial"/>
                <a:cs typeface="Arial"/>
              </a:rPr>
              <a:t>users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pc="-10" dirty="0"/>
              <a:t>Warehouse</a:t>
            </a:r>
            <a:r>
              <a:rPr spc="-140" dirty="0"/>
              <a:t> </a:t>
            </a:r>
            <a:r>
              <a:rPr spc="-10" dirty="0"/>
              <a:t>(OLAP)</a:t>
            </a:r>
          </a:p>
          <a:p>
            <a:pPr marL="354965" indent="-342265">
              <a:lnSpc>
                <a:spcPct val="100000"/>
              </a:lnSpc>
              <a:spcBef>
                <a:spcPts val="700"/>
              </a:spcBef>
              <a:buChar char="•"/>
              <a:tabLst>
                <a:tab pos="354965" algn="l"/>
              </a:tabLst>
            </a:pPr>
            <a:r>
              <a:rPr b="0" dirty="0">
                <a:latin typeface="Arial"/>
                <a:cs typeface="Arial"/>
              </a:rPr>
              <a:t>Mostly</a:t>
            </a:r>
            <a:r>
              <a:rPr b="0" spc="-13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reads</a:t>
            </a:r>
          </a:p>
          <a:p>
            <a:pPr marL="354965" indent="-342265">
              <a:lnSpc>
                <a:spcPct val="100000"/>
              </a:lnSpc>
              <a:spcBef>
                <a:spcPts val="710"/>
              </a:spcBef>
              <a:buChar char="•"/>
              <a:tabLst>
                <a:tab pos="354965" algn="l"/>
              </a:tabLst>
            </a:pPr>
            <a:r>
              <a:rPr b="0" dirty="0">
                <a:latin typeface="Arial"/>
                <a:cs typeface="Arial"/>
              </a:rPr>
              <a:t>long</a:t>
            </a:r>
            <a:r>
              <a:rPr b="0" spc="-7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&amp;</a:t>
            </a:r>
            <a:r>
              <a:rPr b="0" spc="-7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complex</a:t>
            </a:r>
            <a:r>
              <a:rPr b="0" spc="-60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queries</a:t>
            </a:r>
          </a:p>
          <a:p>
            <a:pPr marL="354965" indent="-342265">
              <a:lnSpc>
                <a:spcPct val="100000"/>
              </a:lnSpc>
              <a:spcBef>
                <a:spcPts val="695"/>
              </a:spcBef>
              <a:buChar char="•"/>
              <a:tabLst>
                <a:tab pos="354965" algn="l"/>
              </a:tabLst>
            </a:pPr>
            <a:r>
              <a:rPr b="0" spc="-25" dirty="0">
                <a:latin typeface="Arial"/>
                <a:cs typeface="Arial"/>
              </a:rPr>
              <a:t>Gb-</a:t>
            </a:r>
            <a:r>
              <a:rPr b="0" dirty="0">
                <a:latin typeface="Arial"/>
                <a:cs typeface="Arial"/>
              </a:rPr>
              <a:t>Tb</a:t>
            </a:r>
            <a:r>
              <a:rPr b="0" spc="-2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of</a:t>
            </a:r>
            <a:r>
              <a:rPr b="0" spc="-40" dirty="0">
                <a:latin typeface="Arial"/>
                <a:cs typeface="Arial"/>
              </a:rPr>
              <a:t> </a:t>
            </a:r>
            <a:r>
              <a:rPr b="0" spc="-20" dirty="0">
                <a:latin typeface="Arial"/>
                <a:cs typeface="Arial"/>
              </a:rPr>
              <a:t>data</a:t>
            </a:r>
          </a:p>
          <a:p>
            <a:pPr marL="354965" indent="-342265">
              <a:lnSpc>
                <a:spcPct val="100000"/>
              </a:lnSpc>
              <a:spcBef>
                <a:spcPts val="700"/>
              </a:spcBef>
              <a:buChar char="•"/>
              <a:tabLst>
                <a:tab pos="354965" algn="l"/>
              </a:tabLst>
            </a:pPr>
            <a:r>
              <a:rPr b="0" spc="-10" dirty="0">
                <a:latin typeface="Arial"/>
                <a:cs typeface="Arial"/>
              </a:rPr>
              <a:t>History</a:t>
            </a:r>
          </a:p>
          <a:p>
            <a:pPr marL="354965" indent="-342265">
              <a:lnSpc>
                <a:spcPct val="100000"/>
              </a:lnSpc>
              <a:spcBef>
                <a:spcPts val="705"/>
              </a:spcBef>
              <a:buChar char="•"/>
              <a:tabLst>
                <a:tab pos="354965" algn="l"/>
              </a:tabLst>
            </a:pPr>
            <a:r>
              <a:rPr b="0" dirty="0">
                <a:latin typeface="Arial"/>
                <a:cs typeface="Arial"/>
              </a:rPr>
              <a:t>Lots</a:t>
            </a:r>
            <a:r>
              <a:rPr b="0" spc="-8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of</a:t>
            </a:r>
            <a:r>
              <a:rPr b="0" spc="-5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scans</a:t>
            </a:r>
          </a:p>
          <a:p>
            <a:pPr marL="354965" indent="-342265">
              <a:lnSpc>
                <a:spcPct val="100000"/>
              </a:lnSpc>
              <a:spcBef>
                <a:spcPts val="695"/>
              </a:spcBef>
              <a:buChar char="•"/>
              <a:tabLst>
                <a:tab pos="354965" algn="l"/>
              </a:tabLst>
            </a:pPr>
            <a:r>
              <a:rPr b="0" dirty="0">
                <a:latin typeface="Arial"/>
                <a:cs typeface="Arial"/>
              </a:rPr>
              <a:t>Summarizes</a:t>
            </a:r>
            <a:r>
              <a:rPr b="0" spc="-185" dirty="0">
                <a:latin typeface="Arial"/>
                <a:cs typeface="Arial"/>
              </a:rPr>
              <a:t> </a:t>
            </a:r>
            <a:r>
              <a:rPr b="0" spc="-20" dirty="0">
                <a:latin typeface="Arial"/>
                <a:cs typeface="Arial"/>
              </a:rPr>
              <a:t>data</a:t>
            </a:r>
          </a:p>
          <a:p>
            <a:pPr marL="354965" indent="-342265">
              <a:lnSpc>
                <a:spcPct val="100000"/>
              </a:lnSpc>
              <a:spcBef>
                <a:spcPts val="700"/>
              </a:spcBef>
              <a:buChar char="•"/>
              <a:tabLst>
                <a:tab pos="354965" algn="l"/>
              </a:tabLst>
            </a:pPr>
            <a:r>
              <a:rPr b="0" dirty="0">
                <a:latin typeface="Arial"/>
                <a:cs typeface="Arial"/>
              </a:rPr>
              <a:t>Hundreds</a:t>
            </a:r>
            <a:r>
              <a:rPr b="0" spc="-10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of</a:t>
            </a:r>
            <a:r>
              <a:rPr b="0" spc="-7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users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7922" rIns="0" bIns="0" rtlCol="0">
            <a:spAutoFit/>
          </a:bodyPr>
          <a:lstStyle/>
          <a:p>
            <a:pPr marL="3761104" marR="5080" indent="-295275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solidFill>
                  <a:srgbClr val="009999"/>
                </a:solidFill>
                <a:latin typeface="Arial"/>
                <a:cs typeface="Arial"/>
              </a:rPr>
              <a:t>Data</a:t>
            </a:r>
            <a:r>
              <a:rPr sz="4000" b="0" spc="-15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000" b="0" dirty="0">
                <a:solidFill>
                  <a:srgbClr val="009999"/>
                </a:solidFill>
                <a:latin typeface="Arial"/>
                <a:cs typeface="Arial"/>
              </a:rPr>
              <a:t>Warehouse</a:t>
            </a:r>
            <a:r>
              <a:rPr sz="4000" b="0" spc="-14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000" b="0" dirty="0">
                <a:solidFill>
                  <a:srgbClr val="009999"/>
                </a:solidFill>
                <a:latin typeface="Arial"/>
                <a:cs typeface="Arial"/>
              </a:rPr>
              <a:t>vs.</a:t>
            </a:r>
            <a:r>
              <a:rPr sz="4000" b="0" spc="-15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000" b="0" spc="-10" dirty="0">
                <a:solidFill>
                  <a:srgbClr val="009999"/>
                </a:solidFill>
                <a:latin typeface="Arial"/>
                <a:cs typeface="Arial"/>
              </a:rPr>
              <a:t>Operational </a:t>
            </a:r>
            <a:r>
              <a:rPr sz="4000" b="0" spc="-20" dirty="0">
                <a:solidFill>
                  <a:srgbClr val="009999"/>
                </a:solidFill>
                <a:latin typeface="Arial"/>
                <a:cs typeface="Arial"/>
              </a:rPr>
              <a:t>DBMS</a:t>
            </a:r>
            <a:endParaRPr sz="4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24448" y="5666930"/>
            <a:ext cx="3048000" cy="822960"/>
          </a:xfrm>
          <a:custGeom>
            <a:avLst/>
            <a:gdLst/>
            <a:ahLst/>
            <a:cxnLst/>
            <a:rect l="l" t="t" r="r" b="b"/>
            <a:pathLst>
              <a:path w="3048000" h="822960">
                <a:moveTo>
                  <a:pt x="3048000" y="0"/>
                </a:moveTo>
                <a:lnTo>
                  <a:pt x="0" y="0"/>
                </a:lnTo>
                <a:lnTo>
                  <a:pt x="0" y="822959"/>
                </a:lnTo>
                <a:lnTo>
                  <a:pt x="3048000" y="822959"/>
                </a:lnTo>
                <a:lnTo>
                  <a:pt x="304800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28625" y="1495361"/>
          <a:ext cx="8229600" cy="4979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56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400" b="1" spc="-20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OLTP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400" b="1" spc="-20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OLAP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400" b="1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User</a:t>
                      </a:r>
                      <a:r>
                        <a:rPr sz="2400" b="1" spc="-5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2400" b="1" spc="-10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system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10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orientation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400" spc="-10" dirty="0">
                          <a:solidFill>
                            <a:srgbClr val="009999"/>
                          </a:solidFill>
                          <a:latin typeface="Arial"/>
                          <a:cs typeface="Arial"/>
                        </a:rPr>
                        <a:t>customer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400" spc="-10" dirty="0">
                          <a:solidFill>
                            <a:srgbClr val="009999"/>
                          </a:solidFill>
                          <a:latin typeface="Arial"/>
                          <a:cs typeface="Arial"/>
                        </a:rPr>
                        <a:t>market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b="1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sz="2400" b="1" spc="-80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contents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dirty="0">
                          <a:solidFill>
                            <a:srgbClr val="009999"/>
                          </a:solidFill>
                          <a:latin typeface="Arial"/>
                          <a:cs typeface="Arial"/>
                        </a:rPr>
                        <a:t>current,</a:t>
                      </a:r>
                      <a:r>
                        <a:rPr sz="2400" spc="-120" dirty="0">
                          <a:solidFill>
                            <a:srgbClr val="0099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solidFill>
                            <a:srgbClr val="009999"/>
                          </a:solidFill>
                          <a:latin typeface="Arial"/>
                          <a:cs typeface="Arial"/>
                        </a:rPr>
                        <a:t>detailed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2414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spc="-10" dirty="0">
                          <a:solidFill>
                            <a:srgbClr val="009999"/>
                          </a:solidFill>
                          <a:latin typeface="Arial"/>
                          <a:cs typeface="Arial"/>
                        </a:rPr>
                        <a:t>historical, consolidated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1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b="1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Database</a:t>
                      </a:r>
                      <a:r>
                        <a:rPr sz="2400" b="1" spc="-14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design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400" dirty="0">
                          <a:solidFill>
                            <a:srgbClr val="009999"/>
                          </a:solidFill>
                          <a:latin typeface="Arial"/>
                          <a:cs typeface="Arial"/>
                        </a:rPr>
                        <a:t>ER</a:t>
                      </a:r>
                      <a:r>
                        <a:rPr sz="2400" spc="-35" dirty="0">
                          <a:solidFill>
                            <a:srgbClr val="0099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dirty="0">
                          <a:solidFill>
                            <a:srgbClr val="009999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2400" spc="-85" dirty="0">
                          <a:solidFill>
                            <a:srgbClr val="0099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solidFill>
                            <a:srgbClr val="009999"/>
                          </a:solidFill>
                          <a:latin typeface="Arial"/>
                          <a:cs typeface="Arial"/>
                        </a:rPr>
                        <a:t>application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solidFill>
                            <a:srgbClr val="009999"/>
                          </a:solidFill>
                          <a:latin typeface="Arial"/>
                          <a:cs typeface="Arial"/>
                        </a:rPr>
                        <a:t>star +</a:t>
                      </a:r>
                      <a:r>
                        <a:rPr sz="2400" spc="-60" dirty="0">
                          <a:solidFill>
                            <a:srgbClr val="0099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solidFill>
                            <a:srgbClr val="009999"/>
                          </a:solidFill>
                          <a:latin typeface="Arial"/>
                          <a:cs typeface="Arial"/>
                        </a:rPr>
                        <a:t>subject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b="1" spc="-20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View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dirty="0">
                          <a:solidFill>
                            <a:srgbClr val="009999"/>
                          </a:solidFill>
                          <a:latin typeface="Arial"/>
                          <a:cs typeface="Arial"/>
                        </a:rPr>
                        <a:t>current,</a:t>
                      </a:r>
                      <a:r>
                        <a:rPr sz="2400" spc="-95" dirty="0">
                          <a:solidFill>
                            <a:srgbClr val="0099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solidFill>
                            <a:srgbClr val="009999"/>
                          </a:solidFill>
                          <a:latin typeface="Arial"/>
                          <a:cs typeface="Arial"/>
                        </a:rPr>
                        <a:t>local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2471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30" dirty="0">
                          <a:solidFill>
                            <a:srgbClr val="009999"/>
                          </a:solidFill>
                          <a:latin typeface="Arial"/>
                          <a:cs typeface="Arial"/>
                        </a:rPr>
                        <a:t>evolutionary, </a:t>
                      </a:r>
                      <a:r>
                        <a:rPr sz="2400" spc="-10" dirty="0">
                          <a:solidFill>
                            <a:srgbClr val="009999"/>
                          </a:solidFill>
                          <a:latin typeface="Arial"/>
                          <a:cs typeface="Arial"/>
                        </a:rPr>
                        <a:t>integrated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b="1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Access</a:t>
                      </a:r>
                      <a:r>
                        <a:rPr sz="2400" b="1" spc="-105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333399"/>
                          </a:solidFill>
                          <a:latin typeface="Arial"/>
                          <a:cs typeface="Arial"/>
                        </a:rPr>
                        <a:t>patterns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10" dirty="0">
                          <a:solidFill>
                            <a:srgbClr val="009999"/>
                          </a:solidFill>
                          <a:latin typeface="Arial"/>
                          <a:cs typeface="Arial"/>
                        </a:rPr>
                        <a:t>update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400" spc="-20" dirty="0">
                          <a:solidFill>
                            <a:srgbClr val="009999"/>
                          </a:solidFill>
                          <a:latin typeface="Arial"/>
                          <a:cs typeface="Arial"/>
                        </a:rPr>
                        <a:t>read-</a:t>
                      </a:r>
                      <a:r>
                        <a:rPr sz="2400" dirty="0">
                          <a:solidFill>
                            <a:srgbClr val="009999"/>
                          </a:solidFill>
                          <a:latin typeface="Arial"/>
                          <a:cs typeface="Arial"/>
                        </a:rPr>
                        <a:t>only</a:t>
                      </a:r>
                      <a:r>
                        <a:rPr sz="2400" spc="-70" dirty="0">
                          <a:solidFill>
                            <a:srgbClr val="0099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25" dirty="0">
                          <a:solidFill>
                            <a:srgbClr val="009999"/>
                          </a:solidFill>
                          <a:latin typeface="Arial"/>
                          <a:cs typeface="Arial"/>
                        </a:rPr>
                        <a:t>but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009999"/>
                          </a:solidFill>
                          <a:latin typeface="Arial"/>
                          <a:cs typeface="Arial"/>
                        </a:rPr>
                        <a:t>complex</a:t>
                      </a:r>
                      <a:r>
                        <a:rPr sz="2400" spc="-165" dirty="0">
                          <a:solidFill>
                            <a:srgbClr val="00999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" dirty="0">
                          <a:solidFill>
                            <a:srgbClr val="009999"/>
                          </a:solidFill>
                          <a:latin typeface="Arial"/>
                          <a:cs typeface="Arial"/>
                        </a:rPr>
                        <a:t>queries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8095233" y="6415963"/>
            <a:ext cx="2870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spc="-25" dirty="0">
                <a:solidFill>
                  <a:srgbClr val="009999"/>
                </a:solidFill>
                <a:latin typeface="Arial"/>
                <a:cs typeface="Arial"/>
              </a:rPr>
              <a:t>21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1563574"/>
            <a:ext cx="7897368" cy="471727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7922" rIns="0" bIns="0" rtlCol="0">
            <a:spAutoFit/>
          </a:bodyPr>
          <a:lstStyle/>
          <a:p>
            <a:pPr marL="3761104" marR="5080" indent="-295275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solidFill>
                  <a:srgbClr val="009999"/>
                </a:solidFill>
                <a:latin typeface="Arial"/>
                <a:cs typeface="Arial"/>
              </a:rPr>
              <a:t>Data</a:t>
            </a:r>
            <a:r>
              <a:rPr sz="4000" b="0" spc="-15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000" b="0" dirty="0">
                <a:solidFill>
                  <a:srgbClr val="009999"/>
                </a:solidFill>
                <a:latin typeface="Arial"/>
                <a:cs typeface="Arial"/>
              </a:rPr>
              <a:t>Warehouse</a:t>
            </a:r>
            <a:r>
              <a:rPr sz="4000" b="0" spc="-14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000" b="0" dirty="0">
                <a:solidFill>
                  <a:srgbClr val="009999"/>
                </a:solidFill>
                <a:latin typeface="Arial"/>
                <a:cs typeface="Arial"/>
              </a:rPr>
              <a:t>vs.</a:t>
            </a:r>
            <a:r>
              <a:rPr sz="4000" b="0" spc="-15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000" b="0" spc="-10" dirty="0">
                <a:solidFill>
                  <a:srgbClr val="009999"/>
                </a:solidFill>
                <a:latin typeface="Arial"/>
                <a:cs typeface="Arial"/>
              </a:rPr>
              <a:t>Operational </a:t>
            </a:r>
            <a:r>
              <a:rPr sz="4000" b="0" spc="-20" dirty="0">
                <a:solidFill>
                  <a:srgbClr val="009999"/>
                </a:solidFill>
                <a:latin typeface="Arial"/>
                <a:cs typeface="Arial"/>
              </a:rPr>
              <a:t>DBMS</a:t>
            </a:r>
            <a:endParaRPr sz="4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95233" y="6415963"/>
            <a:ext cx="2870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spc="-25" dirty="0">
                <a:solidFill>
                  <a:srgbClr val="009999"/>
                </a:solidFill>
                <a:latin typeface="Arial"/>
                <a:cs typeface="Arial"/>
              </a:rPr>
              <a:t>22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411" y="1600200"/>
            <a:ext cx="8125968" cy="4191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7922" rIns="0" bIns="0" rtlCol="0">
            <a:spAutoFit/>
          </a:bodyPr>
          <a:lstStyle/>
          <a:p>
            <a:pPr marL="3761104" marR="5080" indent="-295275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solidFill>
                  <a:srgbClr val="009999"/>
                </a:solidFill>
                <a:latin typeface="Arial"/>
                <a:cs typeface="Arial"/>
              </a:rPr>
              <a:t>Data</a:t>
            </a:r>
            <a:r>
              <a:rPr sz="4000" b="0" spc="-15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000" b="0" dirty="0">
                <a:solidFill>
                  <a:srgbClr val="009999"/>
                </a:solidFill>
                <a:latin typeface="Arial"/>
                <a:cs typeface="Arial"/>
              </a:rPr>
              <a:t>Warehouse</a:t>
            </a:r>
            <a:r>
              <a:rPr sz="4000" b="0" spc="-14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000" b="0" dirty="0">
                <a:solidFill>
                  <a:srgbClr val="009999"/>
                </a:solidFill>
                <a:latin typeface="Arial"/>
                <a:cs typeface="Arial"/>
              </a:rPr>
              <a:t>vs.</a:t>
            </a:r>
            <a:r>
              <a:rPr sz="4000" b="0" spc="-15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000" b="0" spc="-10" dirty="0">
                <a:solidFill>
                  <a:srgbClr val="009999"/>
                </a:solidFill>
                <a:latin typeface="Arial"/>
                <a:cs typeface="Arial"/>
              </a:rPr>
              <a:t>Operational </a:t>
            </a:r>
            <a:r>
              <a:rPr sz="4000" b="0" spc="-20" dirty="0">
                <a:solidFill>
                  <a:srgbClr val="009999"/>
                </a:solidFill>
                <a:latin typeface="Arial"/>
                <a:cs typeface="Arial"/>
              </a:rPr>
              <a:t>DBMS</a:t>
            </a:r>
            <a:endParaRPr sz="4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95233" y="6415963"/>
            <a:ext cx="2870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spc="-25" dirty="0">
                <a:solidFill>
                  <a:srgbClr val="009999"/>
                </a:solidFill>
                <a:latin typeface="Arial"/>
                <a:cs typeface="Arial"/>
              </a:rPr>
              <a:t>23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095233" y="6415963"/>
            <a:ext cx="2870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spc="-25" dirty="0">
                <a:solidFill>
                  <a:srgbClr val="009999"/>
                </a:solidFill>
                <a:latin typeface="Arial"/>
                <a:cs typeface="Arial"/>
              </a:rPr>
              <a:t>24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9917" rIns="0" bIns="0" rtlCol="0">
            <a:spAutoFit/>
          </a:bodyPr>
          <a:lstStyle/>
          <a:p>
            <a:pPr marL="39116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solidFill>
                  <a:srgbClr val="009999"/>
                </a:solidFill>
                <a:latin typeface="Arial"/>
                <a:cs typeface="Arial"/>
              </a:rPr>
              <a:t>Why</a:t>
            </a:r>
            <a:r>
              <a:rPr sz="4400" b="0" spc="-3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400" b="0" dirty="0">
                <a:solidFill>
                  <a:srgbClr val="009999"/>
                </a:solidFill>
                <a:latin typeface="Arial"/>
                <a:cs typeface="Arial"/>
              </a:rPr>
              <a:t>Separate</a:t>
            </a:r>
            <a:r>
              <a:rPr sz="4400" b="0" spc="-3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400" b="0" dirty="0">
                <a:solidFill>
                  <a:srgbClr val="009999"/>
                </a:solidFill>
                <a:latin typeface="Arial"/>
                <a:cs typeface="Arial"/>
              </a:rPr>
              <a:t>Data</a:t>
            </a:r>
            <a:r>
              <a:rPr sz="4400" b="0" spc="-7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400" b="0" spc="-10" dirty="0">
                <a:solidFill>
                  <a:srgbClr val="009999"/>
                </a:solidFill>
                <a:latin typeface="Arial"/>
                <a:cs typeface="Arial"/>
              </a:rPr>
              <a:t>Warehouse?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749" y="2192528"/>
            <a:ext cx="6542405" cy="3020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b="1" dirty="0">
                <a:solidFill>
                  <a:srgbClr val="333399"/>
                </a:solidFill>
                <a:latin typeface="Arial"/>
                <a:cs typeface="Arial"/>
              </a:rPr>
              <a:t>High</a:t>
            </a:r>
            <a:r>
              <a:rPr sz="2400" b="1" spc="-3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333399"/>
                </a:solidFill>
                <a:latin typeface="Arial"/>
                <a:cs typeface="Arial"/>
              </a:rPr>
              <a:t>performance</a:t>
            </a:r>
            <a:r>
              <a:rPr sz="2400" b="1" spc="-6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99"/>
                </a:solidFill>
                <a:latin typeface="Arial"/>
                <a:cs typeface="Arial"/>
              </a:rPr>
              <a:t>for</a:t>
            </a:r>
            <a:r>
              <a:rPr sz="2400" b="1" spc="-5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99"/>
                </a:solidFill>
                <a:latin typeface="Arial"/>
                <a:cs typeface="Arial"/>
              </a:rPr>
              <a:t>both</a:t>
            </a:r>
            <a:r>
              <a:rPr sz="2400" b="1" spc="-8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333399"/>
                </a:solidFill>
                <a:latin typeface="Arial"/>
                <a:cs typeface="Arial"/>
              </a:rPr>
              <a:t>systems: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0"/>
              </a:spcBef>
              <a:buClr>
                <a:srgbClr val="333399"/>
              </a:buClr>
              <a:buFont typeface="Arial"/>
              <a:buChar char="•"/>
            </a:pPr>
            <a:endParaRPr sz="2400">
              <a:latin typeface="Arial"/>
              <a:cs typeface="Arial"/>
            </a:endParaRPr>
          </a:p>
          <a:p>
            <a:pPr marL="754380" marR="5080" lvl="1" indent="-285115">
              <a:lnSpc>
                <a:spcPts val="2700"/>
              </a:lnSpc>
              <a:buChar char="–"/>
              <a:tabLst>
                <a:tab pos="756285" algn="l"/>
              </a:tabLst>
            </a:pP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DBMS—</a:t>
            </a:r>
            <a:r>
              <a:rPr sz="2400" spc="-7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tuned</a:t>
            </a:r>
            <a:r>
              <a:rPr sz="2400" spc="-5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for</a:t>
            </a:r>
            <a:r>
              <a:rPr sz="2400" spc="-5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333399"/>
                </a:solidFill>
                <a:latin typeface="Arial"/>
                <a:cs typeface="Arial"/>
              </a:rPr>
              <a:t>OLTP:</a:t>
            </a:r>
            <a:r>
              <a:rPr sz="2400" spc="-10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access</a:t>
            </a:r>
            <a:r>
              <a:rPr sz="2400" spc="-10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"/>
                <a:cs typeface="Arial"/>
              </a:rPr>
              <a:t>methods, 	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indexing,</a:t>
            </a:r>
            <a:r>
              <a:rPr sz="2400" spc="-8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"/>
                <a:cs typeface="Arial"/>
              </a:rPr>
              <a:t>concurrency</a:t>
            </a:r>
            <a:r>
              <a:rPr sz="2400" spc="-12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control,</a:t>
            </a:r>
            <a:r>
              <a:rPr sz="2400" spc="-4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"/>
                <a:cs typeface="Arial"/>
              </a:rPr>
              <a:t>recovery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115"/>
              </a:spcBef>
              <a:buClr>
                <a:srgbClr val="333399"/>
              </a:buClr>
              <a:buFont typeface="Arial"/>
              <a:buChar char="–"/>
            </a:pPr>
            <a:endParaRPr sz="2400">
              <a:latin typeface="Arial"/>
              <a:cs typeface="Arial"/>
            </a:endParaRPr>
          </a:p>
          <a:p>
            <a:pPr marL="754380" marR="530225" lvl="1" indent="-285115">
              <a:lnSpc>
                <a:spcPts val="2600"/>
              </a:lnSpc>
              <a:buChar char="–"/>
              <a:tabLst>
                <a:tab pos="756285" algn="l"/>
              </a:tabLst>
            </a:pPr>
            <a:r>
              <a:rPr sz="2400" spc="-30" dirty="0">
                <a:solidFill>
                  <a:srgbClr val="333399"/>
                </a:solidFill>
                <a:latin typeface="Arial"/>
                <a:cs typeface="Arial"/>
              </a:rPr>
              <a:t>Warehouse—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tuned</a:t>
            </a:r>
            <a:r>
              <a:rPr sz="2400" spc="-5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for</a:t>
            </a:r>
            <a:r>
              <a:rPr sz="2400" spc="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OLAP:</a:t>
            </a:r>
            <a:r>
              <a:rPr sz="2400" spc="-2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"/>
                <a:cs typeface="Arial"/>
              </a:rPr>
              <a:t>complex 	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OLAP</a:t>
            </a:r>
            <a:r>
              <a:rPr sz="2400" spc="-12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queries,</a:t>
            </a:r>
            <a:r>
              <a:rPr sz="2400" spc="-10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"/>
                <a:cs typeface="Arial"/>
              </a:rPr>
              <a:t>multidimensional</a:t>
            </a:r>
            <a:r>
              <a:rPr sz="2400" spc="-10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"/>
                <a:cs typeface="Arial"/>
              </a:rPr>
              <a:t>view, 	consolidation.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095233" y="6415963"/>
            <a:ext cx="2870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spc="-25" dirty="0">
                <a:solidFill>
                  <a:srgbClr val="009999"/>
                </a:solidFill>
                <a:latin typeface="Arial"/>
                <a:cs typeface="Arial"/>
              </a:rPr>
              <a:t>25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9917" rIns="0" bIns="0" rtlCol="0">
            <a:spAutoFit/>
          </a:bodyPr>
          <a:lstStyle/>
          <a:p>
            <a:pPr marL="39116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solidFill>
                  <a:srgbClr val="009999"/>
                </a:solidFill>
                <a:latin typeface="Arial"/>
                <a:cs typeface="Arial"/>
              </a:rPr>
              <a:t>Why</a:t>
            </a:r>
            <a:r>
              <a:rPr sz="4400" b="0" spc="-3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400" b="0" dirty="0">
                <a:solidFill>
                  <a:srgbClr val="009999"/>
                </a:solidFill>
                <a:latin typeface="Arial"/>
                <a:cs typeface="Arial"/>
              </a:rPr>
              <a:t>Separate</a:t>
            </a:r>
            <a:r>
              <a:rPr sz="4400" b="0" spc="-3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400" b="0" dirty="0">
                <a:solidFill>
                  <a:srgbClr val="009999"/>
                </a:solidFill>
                <a:latin typeface="Arial"/>
                <a:cs typeface="Arial"/>
              </a:rPr>
              <a:t>Data</a:t>
            </a:r>
            <a:r>
              <a:rPr sz="4400" b="0" spc="-7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400" b="0" spc="-10" dirty="0">
                <a:solidFill>
                  <a:srgbClr val="009999"/>
                </a:solidFill>
                <a:latin typeface="Arial"/>
                <a:cs typeface="Arial"/>
              </a:rPr>
              <a:t>Warehouse?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149" y="1618712"/>
            <a:ext cx="6944359" cy="445770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353060" indent="-340360" algn="just">
              <a:lnSpc>
                <a:spcPct val="100000"/>
              </a:lnSpc>
              <a:spcBef>
                <a:spcPts val="415"/>
              </a:spcBef>
              <a:buFont typeface="Arial"/>
              <a:buChar char="•"/>
              <a:tabLst>
                <a:tab pos="353060" algn="l"/>
              </a:tabLst>
            </a:pPr>
            <a:r>
              <a:rPr sz="2400" b="1" dirty="0">
                <a:solidFill>
                  <a:srgbClr val="333399"/>
                </a:solidFill>
                <a:latin typeface="Arial"/>
                <a:cs typeface="Arial"/>
              </a:rPr>
              <a:t>Different</a:t>
            </a:r>
            <a:r>
              <a:rPr sz="2400" b="1" spc="-4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99"/>
                </a:solidFill>
                <a:latin typeface="Arial"/>
                <a:cs typeface="Arial"/>
              </a:rPr>
              <a:t>functions</a:t>
            </a:r>
            <a:r>
              <a:rPr sz="2400" b="1" spc="-8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99"/>
                </a:solidFill>
                <a:latin typeface="Arial"/>
                <a:cs typeface="Arial"/>
              </a:rPr>
              <a:t>and</a:t>
            </a:r>
            <a:r>
              <a:rPr sz="2400" b="1" spc="-5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99"/>
                </a:solidFill>
                <a:latin typeface="Arial"/>
                <a:cs typeface="Arial"/>
              </a:rPr>
              <a:t>different</a:t>
            </a:r>
            <a:r>
              <a:rPr sz="2400" b="1" spc="-10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333399"/>
                </a:solidFill>
                <a:latin typeface="Arial"/>
                <a:cs typeface="Arial"/>
              </a:rPr>
              <a:t>data:</a:t>
            </a:r>
            <a:endParaRPr sz="2400">
              <a:latin typeface="Arial"/>
              <a:cs typeface="Arial"/>
            </a:endParaRPr>
          </a:p>
          <a:p>
            <a:pPr marL="754380" marR="203200" lvl="1" indent="-285115" algn="just">
              <a:lnSpc>
                <a:spcPts val="2600"/>
              </a:lnSpc>
              <a:spcBef>
                <a:spcPts val="635"/>
              </a:spcBef>
              <a:buChar char="–"/>
              <a:tabLst>
                <a:tab pos="756285" algn="l"/>
              </a:tabLst>
            </a:pPr>
            <a:r>
              <a:rPr sz="2400" u="heavy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missing</a:t>
            </a:r>
            <a:r>
              <a:rPr sz="2400" u="heavy" spc="-75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data</a:t>
            </a:r>
            <a:r>
              <a:rPr sz="2400" u="none" dirty="0">
                <a:solidFill>
                  <a:srgbClr val="333399"/>
                </a:solidFill>
                <a:latin typeface="Arial"/>
                <a:cs typeface="Arial"/>
              </a:rPr>
              <a:t>:</a:t>
            </a:r>
            <a:r>
              <a:rPr sz="2400" u="none" spc="-6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u="none" dirty="0">
                <a:solidFill>
                  <a:srgbClr val="333399"/>
                </a:solidFill>
                <a:latin typeface="Arial"/>
                <a:cs typeface="Arial"/>
              </a:rPr>
              <a:t>Decision</a:t>
            </a:r>
            <a:r>
              <a:rPr sz="2400" u="none" spc="-7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u="none" dirty="0">
                <a:solidFill>
                  <a:srgbClr val="333399"/>
                </a:solidFill>
                <a:latin typeface="Arial"/>
                <a:cs typeface="Arial"/>
              </a:rPr>
              <a:t>support(DS)</a:t>
            </a:r>
            <a:r>
              <a:rPr sz="2400" u="none" spc="-7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u="none" spc="-10" dirty="0">
                <a:solidFill>
                  <a:srgbClr val="333399"/>
                </a:solidFill>
                <a:latin typeface="Arial"/>
                <a:cs typeface="Arial"/>
              </a:rPr>
              <a:t>requires 	</a:t>
            </a:r>
            <a:r>
              <a:rPr sz="2400" u="none" dirty="0">
                <a:solidFill>
                  <a:srgbClr val="333399"/>
                </a:solidFill>
                <a:latin typeface="Arial"/>
                <a:cs typeface="Arial"/>
              </a:rPr>
              <a:t>historical</a:t>
            </a:r>
            <a:r>
              <a:rPr sz="2400" u="none" spc="-2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u="none" dirty="0">
                <a:solidFill>
                  <a:srgbClr val="333399"/>
                </a:solidFill>
                <a:latin typeface="Arial"/>
                <a:cs typeface="Arial"/>
              </a:rPr>
              <a:t>data</a:t>
            </a:r>
            <a:r>
              <a:rPr sz="2400" u="none" spc="-1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u="none" dirty="0">
                <a:solidFill>
                  <a:srgbClr val="333399"/>
                </a:solidFill>
                <a:latin typeface="Arial"/>
                <a:cs typeface="Arial"/>
              </a:rPr>
              <a:t>which</a:t>
            </a:r>
            <a:r>
              <a:rPr sz="2400" u="none" spc="-2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u="none" dirty="0">
                <a:solidFill>
                  <a:srgbClr val="333399"/>
                </a:solidFill>
                <a:latin typeface="Arial"/>
                <a:cs typeface="Arial"/>
              </a:rPr>
              <a:t>operational</a:t>
            </a:r>
            <a:r>
              <a:rPr sz="2400" u="none" spc="-2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u="none" dirty="0">
                <a:solidFill>
                  <a:srgbClr val="333399"/>
                </a:solidFill>
                <a:latin typeface="Arial"/>
                <a:cs typeface="Arial"/>
              </a:rPr>
              <a:t>DBs</a:t>
            </a:r>
            <a:r>
              <a:rPr sz="2400" u="none" spc="-1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u="none" dirty="0">
                <a:solidFill>
                  <a:srgbClr val="333399"/>
                </a:solidFill>
                <a:latin typeface="Arial"/>
                <a:cs typeface="Arial"/>
              </a:rPr>
              <a:t>do</a:t>
            </a:r>
            <a:r>
              <a:rPr sz="2400" u="none" spc="-2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u="none" spc="-25" dirty="0">
                <a:solidFill>
                  <a:srgbClr val="333399"/>
                </a:solidFill>
                <a:latin typeface="Arial"/>
                <a:cs typeface="Arial"/>
              </a:rPr>
              <a:t>not 	</a:t>
            </a:r>
            <a:r>
              <a:rPr sz="2400" u="none" dirty="0">
                <a:solidFill>
                  <a:srgbClr val="333399"/>
                </a:solidFill>
                <a:latin typeface="Arial"/>
                <a:cs typeface="Arial"/>
              </a:rPr>
              <a:t>typically</a:t>
            </a:r>
            <a:r>
              <a:rPr sz="2400" u="none" spc="-9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u="none" spc="-10" dirty="0">
                <a:solidFill>
                  <a:srgbClr val="333399"/>
                </a:solidFill>
                <a:latin typeface="Arial"/>
                <a:cs typeface="Arial"/>
              </a:rPr>
              <a:t>maintain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090"/>
              </a:spcBef>
              <a:buClr>
                <a:srgbClr val="009999"/>
              </a:buClr>
              <a:buFont typeface="Arial"/>
              <a:buChar char="–"/>
            </a:pPr>
            <a:endParaRPr sz="2400">
              <a:latin typeface="Arial"/>
              <a:cs typeface="Arial"/>
            </a:endParaRPr>
          </a:p>
          <a:p>
            <a:pPr marL="754380" marR="5080" lvl="1" indent="-285115">
              <a:lnSpc>
                <a:spcPts val="2590"/>
              </a:lnSpc>
              <a:buChar char="–"/>
              <a:tabLst>
                <a:tab pos="756285" algn="l"/>
                <a:tab pos="3469640" algn="l"/>
              </a:tabLst>
            </a:pPr>
            <a:r>
              <a:rPr sz="2400" u="heavy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data</a:t>
            </a:r>
            <a:r>
              <a:rPr sz="2400" u="heavy" spc="-6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 </a:t>
            </a:r>
            <a:r>
              <a:rPr sz="2400" u="heavy" spc="-1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consolidation</a:t>
            </a:r>
            <a:r>
              <a:rPr sz="2400" u="none" spc="-10" dirty="0">
                <a:solidFill>
                  <a:srgbClr val="333399"/>
                </a:solidFill>
                <a:latin typeface="Arial"/>
                <a:cs typeface="Arial"/>
              </a:rPr>
              <a:t>:</a:t>
            </a:r>
            <a:r>
              <a:rPr sz="2400" u="none" dirty="0">
                <a:solidFill>
                  <a:srgbClr val="333399"/>
                </a:solidFill>
                <a:latin typeface="Arial"/>
                <a:cs typeface="Arial"/>
              </a:rPr>
              <a:t>	DS</a:t>
            </a:r>
            <a:r>
              <a:rPr sz="2400" u="none" spc="-10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u="none" dirty="0">
                <a:solidFill>
                  <a:srgbClr val="333399"/>
                </a:solidFill>
                <a:latin typeface="Arial"/>
                <a:cs typeface="Arial"/>
              </a:rPr>
              <a:t>requires</a:t>
            </a:r>
            <a:r>
              <a:rPr sz="2400" u="none" spc="-114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u="none" spc="-10" dirty="0">
                <a:solidFill>
                  <a:srgbClr val="333399"/>
                </a:solidFill>
                <a:latin typeface="Arial"/>
                <a:cs typeface="Arial"/>
              </a:rPr>
              <a:t>consolidation 	(aggregation,</a:t>
            </a:r>
            <a:r>
              <a:rPr sz="2400" u="none" spc="-9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u="none" spc="-10" dirty="0">
                <a:solidFill>
                  <a:srgbClr val="333399"/>
                </a:solidFill>
                <a:latin typeface="Arial"/>
                <a:cs typeface="Arial"/>
              </a:rPr>
              <a:t>summarization)</a:t>
            </a:r>
            <a:r>
              <a:rPr sz="2400" u="none" spc="-9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u="none" dirty="0">
                <a:solidFill>
                  <a:srgbClr val="333399"/>
                </a:solidFill>
                <a:latin typeface="Arial"/>
                <a:cs typeface="Arial"/>
              </a:rPr>
              <a:t>of</a:t>
            </a:r>
            <a:r>
              <a:rPr sz="2400" u="none" spc="-5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u="none" dirty="0">
                <a:solidFill>
                  <a:srgbClr val="333399"/>
                </a:solidFill>
                <a:latin typeface="Arial"/>
                <a:cs typeface="Arial"/>
              </a:rPr>
              <a:t>data</a:t>
            </a:r>
            <a:r>
              <a:rPr sz="2400" u="none" spc="-7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u="none" spc="-20" dirty="0">
                <a:solidFill>
                  <a:srgbClr val="333399"/>
                </a:solidFill>
                <a:latin typeface="Arial"/>
                <a:cs typeface="Arial"/>
              </a:rPr>
              <a:t>from 	</a:t>
            </a:r>
            <a:r>
              <a:rPr sz="2400" u="none" spc="-10" dirty="0">
                <a:solidFill>
                  <a:srgbClr val="333399"/>
                </a:solidFill>
                <a:latin typeface="Arial"/>
                <a:cs typeface="Arial"/>
              </a:rPr>
              <a:t>heterogeneous</a:t>
            </a:r>
            <a:r>
              <a:rPr sz="2400" u="none" spc="-12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u="none" spc="-10" dirty="0">
                <a:solidFill>
                  <a:srgbClr val="333399"/>
                </a:solidFill>
                <a:latin typeface="Arial"/>
                <a:cs typeface="Arial"/>
              </a:rPr>
              <a:t>sources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105"/>
              </a:spcBef>
              <a:buClr>
                <a:srgbClr val="009999"/>
              </a:buClr>
              <a:buFont typeface="Arial"/>
              <a:buChar char="–"/>
            </a:pPr>
            <a:endParaRPr sz="2400">
              <a:latin typeface="Arial"/>
              <a:cs typeface="Arial"/>
            </a:endParaRPr>
          </a:p>
          <a:p>
            <a:pPr marL="754380" marR="154940" lvl="1" indent="-285115">
              <a:lnSpc>
                <a:spcPct val="90000"/>
              </a:lnSpc>
              <a:spcBef>
                <a:spcPts val="5"/>
              </a:spcBef>
              <a:buChar char="–"/>
              <a:tabLst>
                <a:tab pos="756285" algn="l"/>
              </a:tabLst>
            </a:pPr>
            <a:r>
              <a:rPr sz="2400" u="heavy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data</a:t>
            </a:r>
            <a:r>
              <a:rPr sz="2400" u="heavy" spc="-12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 </a:t>
            </a:r>
            <a:r>
              <a:rPr sz="2400" u="heavy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quality</a:t>
            </a:r>
            <a:r>
              <a:rPr sz="2400" u="none" dirty="0">
                <a:solidFill>
                  <a:srgbClr val="333399"/>
                </a:solidFill>
                <a:latin typeface="Arial"/>
                <a:cs typeface="Arial"/>
              </a:rPr>
              <a:t>:</a:t>
            </a:r>
            <a:r>
              <a:rPr sz="2400" u="none" spc="-12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u="none" dirty="0">
                <a:solidFill>
                  <a:srgbClr val="333399"/>
                </a:solidFill>
                <a:latin typeface="Arial"/>
                <a:cs typeface="Arial"/>
              </a:rPr>
              <a:t>different</a:t>
            </a:r>
            <a:r>
              <a:rPr sz="2400" u="none" spc="-10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u="none" dirty="0">
                <a:solidFill>
                  <a:srgbClr val="333399"/>
                </a:solidFill>
                <a:latin typeface="Arial"/>
                <a:cs typeface="Arial"/>
              </a:rPr>
              <a:t>sources</a:t>
            </a:r>
            <a:r>
              <a:rPr sz="2400" u="none" spc="-12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u="none" dirty="0">
                <a:solidFill>
                  <a:srgbClr val="333399"/>
                </a:solidFill>
                <a:latin typeface="Arial"/>
                <a:cs typeface="Arial"/>
              </a:rPr>
              <a:t>typically</a:t>
            </a:r>
            <a:r>
              <a:rPr sz="2400" u="none" spc="-114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u="none" spc="-25" dirty="0">
                <a:solidFill>
                  <a:srgbClr val="333399"/>
                </a:solidFill>
                <a:latin typeface="Arial"/>
                <a:cs typeface="Arial"/>
              </a:rPr>
              <a:t>use 	</a:t>
            </a:r>
            <a:r>
              <a:rPr sz="2400" u="none" spc="-10" dirty="0">
                <a:solidFill>
                  <a:srgbClr val="333399"/>
                </a:solidFill>
                <a:latin typeface="Arial"/>
                <a:cs typeface="Arial"/>
              </a:rPr>
              <a:t>inconsistent</a:t>
            </a:r>
            <a:r>
              <a:rPr sz="2400" u="none" spc="-8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u="none" dirty="0">
                <a:solidFill>
                  <a:srgbClr val="333399"/>
                </a:solidFill>
                <a:latin typeface="Arial"/>
                <a:cs typeface="Arial"/>
              </a:rPr>
              <a:t>data</a:t>
            </a:r>
            <a:r>
              <a:rPr sz="2400" u="none" spc="-6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u="none" spc="-10" dirty="0">
                <a:solidFill>
                  <a:srgbClr val="333399"/>
                </a:solidFill>
                <a:latin typeface="Arial"/>
                <a:cs typeface="Arial"/>
              </a:rPr>
              <a:t>representations,</a:t>
            </a:r>
            <a:r>
              <a:rPr sz="2400" u="none" spc="-10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u="none" dirty="0">
                <a:solidFill>
                  <a:srgbClr val="333399"/>
                </a:solidFill>
                <a:latin typeface="Arial"/>
                <a:cs typeface="Arial"/>
              </a:rPr>
              <a:t>codes</a:t>
            </a:r>
            <a:r>
              <a:rPr sz="2400" u="none" spc="-7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u="none" spc="-25" dirty="0">
                <a:solidFill>
                  <a:srgbClr val="333399"/>
                </a:solidFill>
                <a:latin typeface="Arial"/>
                <a:cs typeface="Arial"/>
              </a:rPr>
              <a:t>and 	</a:t>
            </a:r>
            <a:r>
              <a:rPr sz="2400" u="none" dirty="0">
                <a:solidFill>
                  <a:srgbClr val="333399"/>
                </a:solidFill>
                <a:latin typeface="Arial"/>
                <a:cs typeface="Arial"/>
              </a:rPr>
              <a:t>formats</a:t>
            </a:r>
            <a:r>
              <a:rPr sz="2400" u="none" spc="-5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u="none" dirty="0">
                <a:solidFill>
                  <a:srgbClr val="333399"/>
                </a:solidFill>
                <a:latin typeface="Arial"/>
                <a:cs typeface="Arial"/>
              </a:rPr>
              <a:t>which</a:t>
            </a:r>
            <a:r>
              <a:rPr sz="2400" u="none" spc="-5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u="none" dirty="0">
                <a:solidFill>
                  <a:srgbClr val="333399"/>
                </a:solidFill>
                <a:latin typeface="Arial"/>
                <a:cs typeface="Arial"/>
              </a:rPr>
              <a:t>have</a:t>
            </a:r>
            <a:r>
              <a:rPr sz="2400" u="none" spc="-5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u="none" dirty="0">
                <a:solidFill>
                  <a:srgbClr val="333399"/>
                </a:solidFill>
                <a:latin typeface="Arial"/>
                <a:cs typeface="Arial"/>
              </a:rPr>
              <a:t>to</a:t>
            </a:r>
            <a:r>
              <a:rPr sz="2400" u="none" spc="-5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u="none" dirty="0">
                <a:solidFill>
                  <a:srgbClr val="333399"/>
                </a:solidFill>
                <a:latin typeface="Arial"/>
                <a:cs typeface="Arial"/>
              </a:rPr>
              <a:t>be</a:t>
            </a:r>
            <a:r>
              <a:rPr sz="2400" u="none" spc="-8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u="none" spc="-10" dirty="0">
                <a:solidFill>
                  <a:srgbClr val="333399"/>
                </a:solidFill>
                <a:latin typeface="Arial"/>
                <a:cs typeface="Arial"/>
              </a:rPr>
              <a:t>reconciled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7263"/>
            <a:ext cx="9144000" cy="645871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7263"/>
            <a:ext cx="9144000" cy="645871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7263"/>
            <a:ext cx="9144000" cy="645871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7263"/>
            <a:ext cx="9144000" cy="645871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9330" rIns="0" bIns="0" rtlCol="0">
            <a:spAutoFit/>
          </a:bodyPr>
          <a:lstStyle/>
          <a:p>
            <a:pPr marL="13716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85" dirty="0"/>
              <a:t> </a:t>
            </a:r>
            <a:r>
              <a:rPr dirty="0"/>
              <a:t>OLAP</a:t>
            </a:r>
            <a:r>
              <a:rPr spc="-210" dirty="0"/>
              <a:t> </a:t>
            </a:r>
            <a:r>
              <a:rPr spc="-10" dirty="0"/>
              <a:t>session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043" y="1460093"/>
            <a:ext cx="7008495" cy="3368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marR="1490980" indent="-355600">
              <a:lnSpc>
                <a:spcPct val="120000"/>
              </a:lnSpc>
              <a:spcBef>
                <a:spcPts val="100"/>
              </a:spcBef>
              <a:buChar char="•"/>
              <a:tabLst>
                <a:tab pos="367665" algn="l"/>
              </a:tabLst>
            </a:pP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Show</a:t>
            </a:r>
            <a:r>
              <a:rPr sz="3200" spc="-1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total</a:t>
            </a:r>
            <a:r>
              <a:rPr sz="3200" spc="-1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sales</a:t>
            </a:r>
            <a:r>
              <a:rPr sz="3200" spc="-2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of</a:t>
            </a:r>
            <a:r>
              <a:rPr sz="3200" spc="-2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009999"/>
                </a:solidFill>
                <a:latin typeface="Arial"/>
                <a:cs typeface="Arial"/>
              </a:rPr>
              <a:t>Iced</a:t>
            </a:r>
            <a:r>
              <a:rPr sz="3200" spc="-21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spc="-70" dirty="0">
                <a:solidFill>
                  <a:srgbClr val="009999"/>
                </a:solidFill>
                <a:latin typeface="Arial"/>
                <a:cs typeface="Arial"/>
              </a:rPr>
              <a:t>Tea.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“Dice”</a:t>
            </a:r>
            <a:r>
              <a:rPr sz="3200" spc="-5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by</a:t>
            </a:r>
            <a:r>
              <a:rPr sz="3200" spc="-3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item</a:t>
            </a:r>
            <a:r>
              <a:rPr sz="3200" spc="-4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Iced</a:t>
            </a:r>
            <a:r>
              <a:rPr sz="3200" spc="-7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333399"/>
                </a:solidFill>
                <a:latin typeface="Arial"/>
                <a:cs typeface="Arial"/>
              </a:rPr>
              <a:t>Tea.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Answer</a:t>
            </a:r>
            <a:r>
              <a:rPr sz="3200" spc="-6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Arial"/>
                <a:cs typeface="Arial"/>
              </a:rPr>
              <a:t>“$32M”.</a:t>
            </a:r>
            <a:endParaRPr sz="3200">
              <a:latin typeface="Arial"/>
              <a:cs typeface="Arial"/>
            </a:endParaRPr>
          </a:p>
          <a:p>
            <a:pPr marL="367665" marR="5080" indent="-343535">
              <a:lnSpc>
                <a:spcPct val="109300"/>
              </a:lnSpc>
              <a:spcBef>
                <a:spcPts val="865"/>
              </a:spcBef>
              <a:buChar char="•"/>
              <a:tabLst>
                <a:tab pos="768350" algn="l"/>
              </a:tabLst>
            </a:pPr>
            <a:r>
              <a:rPr sz="3200" dirty="0">
                <a:solidFill>
                  <a:srgbClr val="FF3300"/>
                </a:solidFill>
                <a:latin typeface="Arial"/>
                <a:cs typeface="Arial"/>
              </a:rPr>
              <a:t>Seems</a:t>
            </a:r>
            <a:r>
              <a:rPr sz="320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3300"/>
                </a:solidFill>
                <a:latin typeface="Arial"/>
                <a:cs typeface="Arial"/>
              </a:rPr>
              <a:t>low</a:t>
            </a:r>
            <a:r>
              <a:rPr sz="3200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3300"/>
                </a:solidFill>
                <a:latin typeface="Arial"/>
                <a:cs typeface="Arial"/>
              </a:rPr>
              <a:t>who</a:t>
            </a:r>
            <a:r>
              <a:rPr sz="320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3300"/>
                </a:solidFill>
                <a:latin typeface="Arial"/>
                <a:cs typeface="Arial"/>
              </a:rPr>
              <a:t>is</a:t>
            </a:r>
            <a:r>
              <a:rPr sz="320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3300"/>
                </a:solidFill>
                <a:latin typeface="Arial"/>
                <a:cs typeface="Arial"/>
              </a:rPr>
              <a:t>not</a:t>
            </a:r>
            <a:r>
              <a:rPr sz="3200" spc="-6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FF3300"/>
                </a:solidFill>
                <a:latin typeface="Arial"/>
                <a:cs typeface="Arial"/>
              </a:rPr>
              <a:t>drinking?</a:t>
            </a:r>
            <a:r>
              <a:rPr sz="3200" spc="800" dirty="0">
                <a:solidFill>
                  <a:srgbClr val="FF3300"/>
                </a:solidFill>
                <a:latin typeface="Arial"/>
                <a:cs typeface="Arial"/>
              </a:rPr>
              <a:t> 	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Show</a:t>
            </a:r>
            <a:r>
              <a:rPr sz="2800" spc="-6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total</a:t>
            </a:r>
            <a:r>
              <a:rPr sz="2800" spc="-6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sales</a:t>
            </a:r>
            <a:r>
              <a:rPr sz="2800" spc="-7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of</a:t>
            </a:r>
            <a:r>
              <a:rPr sz="2800" spc="-6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Iced</a:t>
            </a:r>
            <a:r>
              <a:rPr sz="2800" spc="-12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spc="-95" dirty="0">
                <a:solidFill>
                  <a:srgbClr val="333399"/>
                </a:solidFill>
                <a:latin typeface="Arial"/>
                <a:cs typeface="Arial"/>
              </a:rPr>
              <a:t>Tea</a:t>
            </a:r>
            <a:r>
              <a:rPr sz="2800" spc="-5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by</a:t>
            </a:r>
            <a:r>
              <a:rPr sz="2800" spc="-5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Arial"/>
                <a:cs typeface="Arial"/>
              </a:rPr>
              <a:t>country, 	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drill</a:t>
            </a:r>
            <a:r>
              <a:rPr sz="2800" spc="-4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down</a:t>
            </a:r>
            <a:r>
              <a:rPr sz="2800" spc="-5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on</a:t>
            </a:r>
            <a:r>
              <a:rPr sz="2800" spc="-3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3399"/>
                </a:solidFill>
                <a:latin typeface="Arial"/>
                <a:cs typeface="Arial"/>
              </a:rPr>
              <a:t>place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2578" y="5086330"/>
            <a:ext cx="5429986" cy="92360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5692" rIns="0" bIns="0" rtlCol="0">
            <a:spAutoFit/>
          </a:bodyPr>
          <a:lstStyle/>
          <a:p>
            <a:pPr marL="120014">
              <a:lnSpc>
                <a:spcPts val="955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9330" rIns="0" bIns="0" rtlCol="0">
            <a:spAutoFit/>
          </a:bodyPr>
          <a:lstStyle/>
          <a:p>
            <a:pPr marL="13716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85" dirty="0"/>
              <a:t> </a:t>
            </a:r>
            <a:r>
              <a:rPr dirty="0"/>
              <a:t>OLAP</a:t>
            </a:r>
            <a:r>
              <a:rPr spc="-210" dirty="0"/>
              <a:t> </a:t>
            </a:r>
            <a:r>
              <a:rPr spc="-10" dirty="0"/>
              <a:t>session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778" y="1733530"/>
            <a:ext cx="5429986" cy="9236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5635" y="3440048"/>
            <a:ext cx="66884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FF3300"/>
                </a:solidFill>
                <a:latin typeface="Arial"/>
                <a:cs typeface="Arial"/>
              </a:rPr>
              <a:t>What?</a:t>
            </a:r>
            <a:r>
              <a:rPr sz="3200" spc="-7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3300"/>
                </a:solidFill>
                <a:latin typeface="Arial"/>
                <a:cs typeface="Arial"/>
              </a:rPr>
              <a:t>Only</a:t>
            </a:r>
            <a:r>
              <a:rPr sz="320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3300"/>
                </a:solidFill>
                <a:latin typeface="Arial"/>
                <a:cs typeface="Arial"/>
              </a:rPr>
              <a:t>$1M</a:t>
            </a:r>
            <a:r>
              <a:rPr sz="320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3300"/>
                </a:solidFill>
                <a:latin typeface="Arial"/>
                <a:cs typeface="Arial"/>
              </a:rPr>
              <a:t>for</a:t>
            </a:r>
            <a:r>
              <a:rPr sz="320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3300"/>
                </a:solidFill>
                <a:latin typeface="Arial"/>
                <a:cs typeface="Arial"/>
              </a:rPr>
              <a:t>New</a:t>
            </a:r>
            <a:r>
              <a:rPr sz="3200" spc="-1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FF3300"/>
                </a:solidFill>
                <a:latin typeface="Arial"/>
                <a:cs typeface="Arial"/>
              </a:rPr>
              <a:t>Zealand?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5692" rIns="0" bIns="0" rtlCol="0">
            <a:spAutoFit/>
          </a:bodyPr>
          <a:lstStyle/>
          <a:p>
            <a:pPr marL="120014">
              <a:lnSpc>
                <a:spcPts val="955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156" y="2063949"/>
            <a:ext cx="7923461" cy="114666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74139" y="3892753"/>
            <a:ext cx="532066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3300"/>
                </a:solidFill>
                <a:latin typeface="Arial"/>
                <a:cs typeface="Arial"/>
              </a:rPr>
              <a:t>Sales</a:t>
            </a:r>
            <a:r>
              <a:rPr sz="4000" spc="-11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4000" dirty="0">
                <a:solidFill>
                  <a:srgbClr val="FF3300"/>
                </a:solidFill>
                <a:latin typeface="Arial"/>
                <a:cs typeface="Arial"/>
              </a:rPr>
              <a:t>dropping</a:t>
            </a:r>
            <a:r>
              <a:rPr sz="4000" spc="-10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4000" dirty="0">
                <a:solidFill>
                  <a:srgbClr val="FF3300"/>
                </a:solidFill>
                <a:latin typeface="Arial"/>
                <a:cs typeface="Arial"/>
              </a:rPr>
              <a:t>in</a:t>
            </a:r>
            <a:r>
              <a:rPr sz="4000" spc="-11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4000" spc="-10" dirty="0">
                <a:solidFill>
                  <a:srgbClr val="FF3300"/>
                </a:solidFill>
                <a:latin typeface="Arial"/>
                <a:cs typeface="Arial"/>
              </a:rPr>
              <a:t>June. </a:t>
            </a:r>
            <a:r>
              <a:rPr sz="4000" dirty="0">
                <a:solidFill>
                  <a:srgbClr val="009999"/>
                </a:solidFill>
                <a:latin typeface="Arial"/>
                <a:cs typeface="Arial"/>
              </a:rPr>
              <a:t>Maybe</a:t>
            </a:r>
            <a:r>
              <a:rPr sz="4000" spc="-7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000" dirty="0">
                <a:solidFill>
                  <a:srgbClr val="009999"/>
                </a:solidFill>
                <a:latin typeface="Arial"/>
                <a:cs typeface="Arial"/>
              </a:rPr>
              <a:t>it</a:t>
            </a:r>
            <a:r>
              <a:rPr sz="4000" spc="-9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000" dirty="0">
                <a:solidFill>
                  <a:srgbClr val="009999"/>
                </a:solidFill>
                <a:latin typeface="Arial"/>
                <a:cs typeface="Arial"/>
              </a:rPr>
              <a:t>is</a:t>
            </a:r>
            <a:r>
              <a:rPr sz="4000" spc="-9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000" spc="-10" dirty="0">
                <a:solidFill>
                  <a:srgbClr val="009999"/>
                </a:solidFill>
                <a:latin typeface="Arial"/>
                <a:cs typeface="Arial"/>
              </a:rPr>
              <a:t>geographic</a:t>
            </a:r>
            <a:endParaRPr sz="4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spc="-25" dirty="0">
                <a:solidFill>
                  <a:srgbClr val="009999"/>
                </a:solidFill>
                <a:latin typeface="Arial"/>
                <a:cs typeface="Arial"/>
              </a:rPr>
              <a:t>32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635" y="390525"/>
            <a:ext cx="6826884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OK</a:t>
            </a:r>
            <a:r>
              <a:rPr sz="3200" spc="-3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show</a:t>
            </a:r>
            <a:r>
              <a:rPr sz="3200" spc="-2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me</a:t>
            </a:r>
            <a:r>
              <a:rPr sz="3200" spc="-2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Iced</a:t>
            </a:r>
            <a:r>
              <a:rPr sz="3200" spc="-8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spc="-204" dirty="0">
                <a:solidFill>
                  <a:srgbClr val="009999"/>
                </a:solidFill>
                <a:latin typeface="Arial"/>
                <a:cs typeface="Arial"/>
              </a:rPr>
              <a:t>Tea</a:t>
            </a:r>
            <a:r>
              <a:rPr sz="3200" spc="-25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sales</a:t>
            </a:r>
            <a:r>
              <a:rPr sz="3200" spc="-5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for</a:t>
            </a:r>
            <a:r>
              <a:rPr sz="3200" spc="-12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009999"/>
                </a:solidFill>
                <a:latin typeface="Arial"/>
                <a:cs typeface="Arial"/>
              </a:rPr>
              <a:t>New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Zealand</a:t>
            </a:r>
            <a:r>
              <a:rPr sz="3200" spc="-9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broken</a:t>
            </a:r>
            <a:r>
              <a:rPr sz="3200" spc="-5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down</a:t>
            </a:r>
            <a:r>
              <a:rPr sz="3200" spc="-7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by</a:t>
            </a:r>
            <a:r>
              <a:rPr sz="3200" spc="-10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009999"/>
                </a:solidFill>
                <a:latin typeface="Arial"/>
                <a:cs typeface="Arial"/>
              </a:rPr>
              <a:t>month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611" y="1821225"/>
            <a:ext cx="8164731" cy="32597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59435" y="5192979"/>
            <a:ext cx="7414259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3200" dirty="0">
                <a:solidFill>
                  <a:srgbClr val="FF3300"/>
                </a:solidFill>
                <a:latin typeface="Arial"/>
                <a:cs typeface="Arial"/>
              </a:rPr>
              <a:t>Lots</a:t>
            </a:r>
            <a:r>
              <a:rPr sz="3200" spc="-6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3300"/>
                </a:solidFill>
                <a:latin typeface="Arial"/>
                <a:cs typeface="Arial"/>
              </a:rPr>
              <a:t>of</a:t>
            </a:r>
            <a:r>
              <a:rPr sz="3200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3200" spc="-45" dirty="0">
                <a:solidFill>
                  <a:srgbClr val="FF3300"/>
                </a:solidFill>
                <a:latin typeface="Arial"/>
                <a:cs typeface="Arial"/>
              </a:rPr>
              <a:t>variability,</a:t>
            </a:r>
            <a:r>
              <a:rPr sz="3200" spc="-9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3300"/>
                </a:solidFill>
                <a:latin typeface="Arial"/>
                <a:cs typeface="Arial"/>
              </a:rPr>
              <a:t>and</a:t>
            </a:r>
            <a:r>
              <a:rPr sz="3200" spc="-5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3300"/>
                </a:solidFill>
                <a:latin typeface="Arial"/>
                <a:cs typeface="Arial"/>
              </a:rPr>
              <a:t>drowning</a:t>
            </a:r>
            <a:r>
              <a:rPr sz="3200" spc="-8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3300"/>
                </a:solidFill>
                <a:latin typeface="Arial"/>
                <a:cs typeface="Arial"/>
              </a:rPr>
              <a:t>in</a:t>
            </a:r>
            <a:r>
              <a:rPr sz="3200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FF3300"/>
                </a:solidFill>
                <a:latin typeface="Arial"/>
                <a:cs typeface="Arial"/>
              </a:rPr>
              <a:t>data</a:t>
            </a:r>
            <a:r>
              <a:rPr sz="3200" spc="-10" dirty="0">
                <a:solidFill>
                  <a:srgbClr val="009999"/>
                </a:solidFill>
                <a:latin typeface="Arial"/>
                <a:cs typeface="Arial"/>
              </a:rPr>
              <a:t>,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roll</a:t>
            </a:r>
            <a:r>
              <a:rPr sz="3200" spc="-5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up</a:t>
            </a:r>
            <a:r>
              <a:rPr sz="3200" spc="-2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on</a:t>
            </a:r>
            <a:r>
              <a:rPr sz="3200" spc="-7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009999"/>
                </a:solidFill>
                <a:latin typeface="Arial"/>
                <a:cs typeface="Arial"/>
              </a:rPr>
              <a:t>place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spc="-25" dirty="0">
                <a:solidFill>
                  <a:srgbClr val="009999"/>
                </a:solidFill>
                <a:latin typeface="Arial"/>
                <a:cs typeface="Arial"/>
              </a:rPr>
              <a:t>33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635" y="390525"/>
            <a:ext cx="7827009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Show</a:t>
            </a:r>
            <a:r>
              <a:rPr sz="3200" spc="-4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me</a:t>
            </a:r>
            <a:r>
              <a:rPr sz="3200" spc="-4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Iced</a:t>
            </a:r>
            <a:r>
              <a:rPr sz="3200" spc="-7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spc="-100" dirty="0">
                <a:solidFill>
                  <a:srgbClr val="009999"/>
                </a:solidFill>
                <a:latin typeface="Arial"/>
                <a:cs typeface="Arial"/>
              </a:rPr>
              <a:t>Tea</a:t>
            </a:r>
            <a:r>
              <a:rPr sz="3200" spc="-6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sales</a:t>
            </a:r>
            <a:r>
              <a:rPr sz="3200" spc="-6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for</a:t>
            </a:r>
            <a:r>
              <a:rPr sz="3200" spc="-6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New</a:t>
            </a:r>
            <a:r>
              <a:rPr sz="3200" spc="-14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009999"/>
                </a:solidFill>
                <a:latin typeface="Arial"/>
                <a:cs typeface="Arial"/>
              </a:rPr>
              <a:t>Zealand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cities,</a:t>
            </a:r>
            <a:r>
              <a:rPr sz="3200" spc="-2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by</a:t>
            </a:r>
            <a:r>
              <a:rPr sz="3200" spc="-6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009999"/>
                </a:solidFill>
                <a:latin typeface="Arial"/>
                <a:cs typeface="Arial"/>
              </a:rPr>
              <a:t>month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7187" y="1926866"/>
            <a:ext cx="7885690" cy="219654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1835" y="4481677"/>
            <a:ext cx="7835900" cy="120586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05"/>
              </a:spcBef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FF3300"/>
                </a:solidFill>
                <a:latin typeface="Arial"/>
                <a:cs typeface="Arial"/>
              </a:rPr>
              <a:t>Not</a:t>
            </a:r>
            <a:r>
              <a:rPr sz="320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3300"/>
                </a:solidFill>
                <a:latin typeface="Arial"/>
                <a:cs typeface="Arial"/>
              </a:rPr>
              <a:t>many</a:t>
            </a:r>
            <a:r>
              <a:rPr sz="3200" spc="-6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3300"/>
                </a:solidFill>
                <a:latin typeface="Arial"/>
                <a:cs typeface="Arial"/>
              </a:rPr>
              <a:t>sales</a:t>
            </a:r>
            <a:r>
              <a:rPr sz="320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3300"/>
                </a:solidFill>
                <a:latin typeface="Arial"/>
                <a:cs typeface="Arial"/>
              </a:rPr>
              <a:t>in</a:t>
            </a:r>
            <a:r>
              <a:rPr sz="3200" spc="-1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3300"/>
                </a:solidFill>
                <a:latin typeface="Arial"/>
                <a:cs typeface="Arial"/>
              </a:rPr>
              <a:t>Otago</a:t>
            </a:r>
            <a:r>
              <a:rPr sz="3200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3300"/>
                </a:solidFill>
                <a:latin typeface="Arial"/>
                <a:cs typeface="Arial"/>
              </a:rPr>
              <a:t>in</a:t>
            </a:r>
            <a:r>
              <a:rPr sz="320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3300"/>
                </a:solidFill>
                <a:latin typeface="Arial"/>
                <a:cs typeface="Arial"/>
              </a:rPr>
              <a:t>June</a:t>
            </a:r>
            <a:r>
              <a:rPr sz="320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3300"/>
                </a:solidFill>
                <a:latin typeface="Arial"/>
                <a:cs typeface="Arial"/>
              </a:rPr>
              <a:t>and</a:t>
            </a:r>
            <a:r>
              <a:rPr sz="3200" spc="-18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FF3300"/>
                </a:solidFill>
                <a:latin typeface="Arial"/>
                <a:cs typeface="Arial"/>
              </a:rPr>
              <a:t>July</a:t>
            </a:r>
            <a:endParaRPr sz="3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05"/>
              </a:spcBef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It</a:t>
            </a:r>
            <a:r>
              <a:rPr sz="3200" spc="-1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is</a:t>
            </a:r>
            <a:r>
              <a:rPr sz="3200" spc="-1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too</a:t>
            </a:r>
            <a:r>
              <a:rPr sz="3200" spc="-4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cold</a:t>
            </a:r>
            <a:r>
              <a:rPr sz="3200" spc="-9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009999"/>
                </a:solidFill>
                <a:latin typeface="Arial"/>
                <a:cs typeface="Arial"/>
              </a:rPr>
              <a:t>then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z="1400" spc="-25" dirty="0">
                <a:solidFill>
                  <a:srgbClr val="009999"/>
                </a:solidFill>
                <a:latin typeface="Arial"/>
                <a:cs typeface="Arial"/>
              </a:rPr>
              <a:t>34</a:t>
            </a:fld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235" y="314325"/>
            <a:ext cx="6203315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Show</a:t>
            </a:r>
            <a:r>
              <a:rPr sz="3200" spc="-6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me</a:t>
            </a:r>
            <a:r>
              <a:rPr sz="3200" spc="-4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Iced</a:t>
            </a:r>
            <a:r>
              <a:rPr sz="3200" spc="-95" dirty="0">
                <a:solidFill>
                  <a:srgbClr val="009999"/>
                </a:solidFill>
                <a:latin typeface="Arial"/>
                <a:cs typeface="Arial"/>
              </a:rPr>
              <a:t> Tea</a:t>
            </a:r>
            <a:r>
              <a:rPr sz="3200" spc="-4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sales</a:t>
            </a:r>
            <a:r>
              <a:rPr sz="3200" spc="-6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for</a:t>
            </a:r>
            <a:r>
              <a:rPr sz="3200" spc="-17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009999"/>
                </a:solidFill>
                <a:latin typeface="Arial"/>
                <a:cs typeface="Arial"/>
              </a:rPr>
              <a:t>N.Z.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“provinces”,</a:t>
            </a:r>
            <a:r>
              <a:rPr sz="3200" spc="-6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by</a:t>
            </a:r>
            <a:r>
              <a:rPr sz="3200" spc="-12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009999"/>
                </a:solidFill>
                <a:latin typeface="Arial"/>
                <a:cs typeface="Arial"/>
              </a:rPr>
              <a:t>month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090" rIns="0" bIns="0" rtlCol="0">
            <a:spAutoFit/>
          </a:bodyPr>
          <a:lstStyle/>
          <a:p>
            <a:pPr marL="1383665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 Light"/>
                <a:cs typeface="Calibri Light"/>
              </a:rPr>
              <a:t>OLAP</a:t>
            </a:r>
            <a:r>
              <a:rPr b="0" spc="-35" dirty="0">
                <a:latin typeface="Calibri Light"/>
                <a:cs typeface="Calibri Light"/>
              </a:rPr>
              <a:t> </a:t>
            </a:r>
            <a:r>
              <a:rPr b="0" dirty="0">
                <a:latin typeface="Calibri Light"/>
                <a:cs typeface="Calibri Light"/>
              </a:rPr>
              <a:t>session</a:t>
            </a:r>
            <a:r>
              <a:rPr b="0" spc="-90" dirty="0">
                <a:latin typeface="Calibri Light"/>
                <a:cs typeface="Calibri Light"/>
              </a:rPr>
              <a:t> </a:t>
            </a:r>
            <a:r>
              <a:rPr b="0" spc="-10" dirty="0">
                <a:latin typeface="Calibri Light"/>
                <a:cs typeface="Calibri Light"/>
              </a:rPr>
              <a:t>concludes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8222" y="6467043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888888"/>
                </a:solidFill>
                <a:latin typeface="Calibri"/>
                <a:cs typeface="Calibri"/>
              </a:rPr>
              <a:t>42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635" y="2143709"/>
            <a:ext cx="7938134" cy="1002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Decide</a:t>
            </a:r>
            <a:r>
              <a:rPr sz="3200" spc="-5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to</a:t>
            </a:r>
            <a:r>
              <a:rPr sz="3200" spc="-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run</a:t>
            </a:r>
            <a:r>
              <a:rPr sz="3200" spc="-2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the</a:t>
            </a:r>
            <a:r>
              <a:rPr sz="3200" spc="-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“10</a:t>
            </a:r>
            <a:r>
              <a:rPr sz="3200" spc="-20" dirty="0">
                <a:solidFill>
                  <a:srgbClr val="009999"/>
                </a:solidFill>
                <a:latin typeface="Arial"/>
                <a:cs typeface="Arial"/>
              </a:rPr>
              <a:t> unconventional</a:t>
            </a:r>
            <a:r>
              <a:rPr sz="3200" spc="-19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009999"/>
                </a:solidFill>
                <a:latin typeface="Arial"/>
                <a:cs typeface="Arial"/>
              </a:rPr>
              <a:t>uses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for</a:t>
            </a:r>
            <a:r>
              <a:rPr sz="3200" spc="-5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Iced</a:t>
            </a:r>
            <a:r>
              <a:rPr sz="3200" spc="-9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spc="-90" dirty="0">
                <a:solidFill>
                  <a:srgbClr val="009999"/>
                </a:solidFill>
                <a:latin typeface="Arial"/>
                <a:cs typeface="Arial"/>
              </a:rPr>
              <a:t>Tea</a:t>
            </a:r>
            <a:r>
              <a:rPr sz="3200" spc="-5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Mix”</a:t>
            </a:r>
            <a:r>
              <a:rPr sz="3200" spc="-6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ad</a:t>
            </a:r>
            <a:r>
              <a:rPr sz="3200" spc="-4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in</a:t>
            </a:r>
            <a:r>
              <a:rPr sz="3200" spc="-11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009999"/>
                </a:solidFill>
                <a:latin typeface="Arial"/>
                <a:cs typeface="Arial"/>
              </a:rPr>
              <a:t>Otago.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8361" y="726930"/>
            <a:ext cx="6907844" cy="541547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0911" y="1062955"/>
            <a:ext cx="6661554" cy="507944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4507" y="1062955"/>
            <a:ext cx="7314418" cy="507944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5692" rIns="0" bIns="0" rtlCol="0">
            <a:spAutoFit/>
          </a:bodyPr>
          <a:lstStyle/>
          <a:p>
            <a:pPr marL="120014">
              <a:lnSpc>
                <a:spcPts val="955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535635" y="1754911"/>
            <a:ext cx="8013700" cy="369252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5"/>
              </a:spcBef>
              <a:buChar char="•"/>
              <a:tabLst>
                <a:tab pos="354965" algn="l"/>
              </a:tabLst>
            </a:pP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each</a:t>
            </a:r>
            <a:r>
              <a:rPr sz="2800" spc="-11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dimension</a:t>
            </a:r>
            <a:r>
              <a:rPr sz="2800" spc="-12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describes</a:t>
            </a:r>
            <a:r>
              <a:rPr sz="2800" spc="-13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a</a:t>
            </a:r>
            <a:r>
              <a:rPr sz="2800" spc="-10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“business</a:t>
            </a:r>
            <a:r>
              <a:rPr sz="2800" spc="-5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Arial"/>
                <a:cs typeface="Arial"/>
              </a:rPr>
              <a:t>entity”</a:t>
            </a:r>
            <a:endParaRPr sz="2800">
              <a:latin typeface="Arial"/>
              <a:cs typeface="Arial"/>
            </a:endParaRPr>
          </a:p>
          <a:p>
            <a:pPr marL="355600" marR="534670" indent="-342900">
              <a:lnSpc>
                <a:spcPct val="100000"/>
              </a:lnSpc>
              <a:spcBef>
                <a:spcPts val="700"/>
              </a:spcBef>
              <a:buChar char="•"/>
              <a:tabLst>
                <a:tab pos="355600" algn="l"/>
              </a:tabLst>
            </a:pP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dimensions</a:t>
            </a:r>
            <a:r>
              <a:rPr sz="2800" spc="-12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involve</a:t>
            </a:r>
            <a:r>
              <a:rPr sz="2800" spc="-8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u="heavy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attributes</a:t>
            </a:r>
            <a:r>
              <a:rPr sz="2800" u="none" spc="-9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800" u="none" dirty="0">
                <a:solidFill>
                  <a:srgbClr val="333399"/>
                </a:solidFill>
                <a:latin typeface="Arial"/>
                <a:cs typeface="Arial"/>
              </a:rPr>
              <a:t>that</a:t>
            </a:r>
            <a:r>
              <a:rPr sz="2800" u="none" spc="-10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u="none" dirty="0">
                <a:solidFill>
                  <a:srgbClr val="333399"/>
                </a:solidFill>
                <a:latin typeface="Arial"/>
                <a:cs typeface="Arial"/>
              </a:rPr>
              <a:t>provide</a:t>
            </a:r>
            <a:r>
              <a:rPr sz="2800" u="none" spc="-12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u="none" spc="-25" dirty="0">
                <a:solidFill>
                  <a:srgbClr val="333399"/>
                </a:solidFill>
                <a:latin typeface="Arial"/>
                <a:cs typeface="Arial"/>
              </a:rPr>
              <a:t>the </a:t>
            </a:r>
            <a:r>
              <a:rPr sz="2800" u="none" dirty="0">
                <a:solidFill>
                  <a:srgbClr val="333399"/>
                </a:solidFill>
                <a:latin typeface="Arial"/>
                <a:cs typeface="Arial"/>
              </a:rPr>
              <a:t>context</a:t>
            </a:r>
            <a:r>
              <a:rPr sz="2800" u="none" spc="-8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u="none" dirty="0">
                <a:solidFill>
                  <a:srgbClr val="333399"/>
                </a:solidFill>
                <a:latin typeface="Arial"/>
                <a:cs typeface="Arial"/>
              </a:rPr>
              <a:t>for</a:t>
            </a:r>
            <a:r>
              <a:rPr sz="2800" u="none" spc="-8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u="none" dirty="0">
                <a:solidFill>
                  <a:srgbClr val="333399"/>
                </a:solidFill>
                <a:latin typeface="Arial"/>
                <a:cs typeface="Arial"/>
              </a:rPr>
              <a:t>numeric</a:t>
            </a:r>
            <a:r>
              <a:rPr sz="2800" u="none" spc="-9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u="none" spc="-10" dirty="0">
                <a:solidFill>
                  <a:srgbClr val="333399"/>
                </a:solidFill>
                <a:latin typeface="Arial"/>
                <a:cs typeface="Arial"/>
              </a:rPr>
              <a:t>data/</a:t>
            </a:r>
            <a:r>
              <a:rPr sz="2800" i="1" u="heavy" spc="-1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measures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10"/>
              </a:spcBef>
              <a:buChar char="•"/>
              <a:tabLst>
                <a:tab pos="354965" algn="l"/>
              </a:tabLst>
            </a:pP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each</a:t>
            </a:r>
            <a:r>
              <a:rPr sz="2800" spc="-9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dimension</a:t>
            </a:r>
            <a:r>
              <a:rPr sz="2800" spc="-10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should</a:t>
            </a:r>
            <a:r>
              <a:rPr sz="2800" spc="-8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have</a:t>
            </a:r>
            <a:r>
              <a:rPr sz="2800" spc="-6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a</a:t>
            </a:r>
            <a:r>
              <a:rPr sz="2800" spc="-8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u="heavy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single</a:t>
            </a:r>
            <a:r>
              <a:rPr sz="2800" u="heavy" spc="-95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 </a:t>
            </a:r>
            <a:r>
              <a:rPr sz="2800" i="1" u="heavy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base</a:t>
            </a:r>
            <a:r>
              <a:rPr sz="2800" i="1" u="heavy" spc="5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 </a:t>
            </a:r>
            <a:r>
              <a:rPr sz="2800" i="1" u="heavy" spc="-1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level</a:t>
            </a:r>
            <a:r>
              <a:rPr sz="2800" i="1" u="none" spc="-10" dirty="0">
                <a:solidFill>
                  <a:srgbClr val="333399"/>
                </a:solidFill>
                <a:latin typeface="Arial"/>
                <a:cs typeface="Arial"/>
              </a:rPr>
              <a:t>,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05"/>
              </a:spcBef>
              <a:buChar char="–"/>
              <a:tabLst>
                <a:tab pos="755015" algn="l"/>
              </a:tabLst>
            </a:pP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“day”</a:t>
            </a:r>
            <a:r>
              <a:rPr sz="2400" spc="-6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can</a:t>
            </a:r>
            <a:r>
              <a:rPr sz="2400" spc="-4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be</a:t>
            </a:r>
            <a:r>
              <a:rPr sz="2400" spc="-7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the</a:t>
            </a:r>
            <a:r>
              <a:rPr sz="2400" spc="-4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base</a:t>
            </a:r>
            <a:r>
              <a:rPr sz="2400" spc="-7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level</a:t>
            </a:r>
            <a:r>
              <a:rPr sz="2400" spc="-4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for</a:t>
            </a:r>
            <a:r>
              <a:rPr sz="2400" spc="-6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the</a:t>
            </a:r>
            <a:r>
              <a:rPr sz="2400" spc="-4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“time”</a:t>
            </a:r>
            <a:r>
              <a:rPr sz="2400" spc="-8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"/>
                <a:cs typeface="Arial"/>
              </a:rPr>
              <a:t>dimension</a:t>
            </a:r>
            <a:endParaRPr sz="2400">
              <a:latin typeface="Arial"/>
              <a:cs typeface="Arial"/>
            </a:endParaRPr>
          </a:p>
          <a:p>
            <a:pPr marL="754380" marR="668020" lvl="1" indent="-285115">
              <a:lnSpc>
                <a:spcPct val="100000"/>
              </a:lnSpc>
              <a:spcBef>
                <a:spcPts val="600"/>
              </a:spcBef>
              <a:buChar char="–"/>
              <a:tabLst>
                <a:tab pos="756285" algn="l"/>
              </a:tabLst>
            </a:pP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“products”</a:t>
            </a:r>
            <a:r>
              <a:rPr sz="2400" spc="-9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can</a:t>
            </a:r>
            <a:r>
              <a:rPr sz="2400" spc="-5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be</a:t>
            </a:r>
            <a:r>
              <a:rPr sz="2400" spc="-6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the</a:t>
            </a:r>
            <a:r>
              <a:rPr sz="2400" spc="-5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base</a:t>
            </a:r>
            <a:r>
              <a:rPr sz="2400" spc="-6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level</a:t>
            </a:r>
            <a:r>
              <a:rPr sz="2400" spc="-7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for</a:t>
            </a:r>
            <a:r>
              <a:rPr sz="2400" spc="-6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the</a:t>
            </a:r>
            <a:r>
              <a:rPr sz="2400" spc="-5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"/>
                <a:cs typeface="Arial"/>
              </a:rPr>
              <a:t>“product” 	dimension</a:t>
            </a:r>
            <a:endParaRPr sz="24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00"/>
              </a:spcBef>
              <a:buChar char="–"/>
              <a:tabLst>
                <a:tab pos="755015" algn="l"/>
              </a:tabLst>
            </a:pP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“store”</a:t>
            </a:r>
            <a:r>
              <a:rPr sz="2400" spc="-10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can</a:t>
            </a:r>
            <a:r>
              <a:rPr sz="2400" spc="-5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be</a:t>
            </a:r>
            <a:r>
              <a:rPr sz="2400" spc="-6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the</a:t>
            </a:r>
            <a:r>
              <a:rPr sz="2400" spc="-7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base</a:t>
            </a:r>
            <a:r>
              <a:rPr sz="2400" spc="-6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level</a:t>
            </a:r>
            <a:r>
              <a:rPr sz="2400" spc="-7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for</a:t>
            </a:r>
            <a:r>
              <a:rPr sz="2400" spc="-5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99"/>
                </a:solidFill>
                <a:latin typeface="Arial"/>
                <a:cs typeface="Arial"/>
              </a:rPr>
              <a:t>“location</a:t>
            </a:r>
            <a:r>
              <a:rPr sz="2400" spc="-6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"/>
                <a:cs typeface="Arial"/>
              </a:rPr>
              <a:t>dimension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0127" rIns="0" bIns="0" rtlCol="0">
            <a:spAutoFit/>
          </a:bodyPr>
          <a:lstStyle/>
          <a:p>
            <a:pPr marL="56261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 Light"/>
                <a:cs typeface="Calibri Light"/>
              </a:rPr>
              <a:t>Rules</a:t>
            </a:r>
            <a:r>
              <a:rPr b="0" spc="-65" dirty="0">
                <a:latin typeface="Calibri Light"/>
                <a:cs typeface="Calibri Light"/>
              </a:rPr>
              <a:t> </a:t>
            </a:r>
            <a:r>
              <a:rPr b="0" dirty="0">
                <a:latin typeface="Calibri Light"/>
                <a:cs typeface="Calibri Light"/>
              </a:rPr>
              <a:t>for</a:t>
            </a:r>
            <a:r>
              <a:rPr b="0" spc="-45" dirty="0">
                <a:latin typeface="Calibri Light"/>
                <a:cs typeface="Calibri Light"/>
              </a:rPr>
              <a:t> </a:t>
            </a:r>
            <a:r>
              <a:rPr b="0" dirty="0">
                <a:latin typeface="Calibri Light"/>
                <a:cs typeface="Calibri Light"/>
              </a:rPr>
              <a:t>Dimensional</a:t>
            </a:r>
            <a:r>
              <a:rPr b="0" spc="-150" dirty="0">
                <a:latin typeface="Calibri Light"/>
                <a:cs typeface="Calibri Light"/>
              </a:rPr>
              <a:t> </a:t>
            </a:r>
            <a:r>
              <a:rPr b="0" spc="-10" dirty="0">
                <a:latin typeface="Calibri Light"/>
                <a:cs typeface="Calibri Light"/>
              </a:rPr>
              <a:t>Modelling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5692" rIns="0" bIns="0" rtlCol="0">
            <a:spAutoFit/>
          </a:bodyPr>
          <a:lstStyle/>
          <a:p>
            <a:pPr marL="120014">
              <a:lnSpc>
                <a:spcPts val="955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726" rIns="0" bIns="0" rtlCol="0">
            <a:spAutoFit/>
          </a:bodyPr>
          <a:lstStyle/>
          <a:p>
            <a:pPr marL="1235710" marR="5080" indent="1254125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Analysis</a:t>
            </a:r>
            <a:r>
              <a:rPr sz="4000" spc="-100" dirty="0"/>
              <a:t> </a:t>
            </a:r>
            <a:r>
              <a:rPr sz="4000" dirty="0"/>
              <a:t>using</a:t>
            </a:r>
            <a:r>
              <a:rPr sz="4000" spc="-100" dirty="0"/>
              <a:t> </a:t>
            </a:r>
            <a:r>
              <a:rPr sz="4000" spc="-50" dirty="0"/>
              <a:t>a </a:t>
            </a:r>
            <a:r>
              <a:rPr sz="4000" spc="-10" dirty="0"/>
              <a:t>multidimensional</a:t>
            </a:r>
            <a:r>
              <a:rPr sz="4000" spc="-265" dirty="0"/>
              <a:t> </a:t>
            </a:r>
            <a:r>
              <a:rPr sz="4000" spc="-10" dirty="0"/>
              <a:t>database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30530" y="1630334"/>
            <a:ext cx="8597265" cy="445643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3200" b="1" dirty="0">
                <a:solidFill>
                  <a:srgbClr val="009999"/>
                </a:solidFill>
                <a:latin typeface="Arial"/>
                <a:cs typeface="Arial"/>
              </a:rPr>
              <a:t>Attribute</a:t>
            </a:r>
            <a:r>
              <a:rPr sz="3200" b="1" spc="-10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Information</a:t>
            </a:r>
            <a:r>
              <a:rPr sz="3200" spc="-114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associated</a:t>
            </a:r>
            <a:r>
              <a:rPr sz="3200" spc="-7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with</a:t>
            </a:r>
            <a:r>
              <a:rPr sz="3200" spc="-4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an</a:t>
            </a:r>
            <a:r>
              <a:rPr sz="3200" spc="-17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Arial"/>
                <a:cs typeface="Arial"/>
              </a:rPr>
              <a:t>object.</a:t>
            </a:r>
            <a:endParaRPr sz="3200">
              <a:latin typeface="Arial"/>
              <a:cs typeface="Arial"/>
            </a:endParaRPr>
          </a:p>
          <a:p>
            <a:pPr marL="355600" marR="1405890" indent="-343535">
              <a:lnSpc>
                <a:spcPct val="100000"/>
              </a:lnSpc>
              <a:spcBef>
                <a:spcPts val="810"/>
              </a:spcBef>
            </a:pPr>
            <a:r>
              <a:rPr sz="3200" b="1" spc="-10" dirty="0">
                <a:solidFill>
                  <a:srgbClr val="009999"/>
                </a:solidFill>
                <a:latin typeface="Arial"/>
                <a:cs typeface="Arial"/>
              </a:rPr>
              <a:t>Variable</a:t>
            </a:r>
            <a:r>
              <a:rPr sz="3200" b="1" spc="-12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A</a:t>
            </a:r>
            <a:r>
              <a:rPr sz="3200" spc="-22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Arial"/>
                <a:cs typeface="Arial"/>
              </a:rPr>
              <a:t>unit-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bearing</a:t>
            </a:r>
            <a:r>
              <a:rPr sz="3200" spc="-10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data</a:t>
            </a:r>
            <a:r>
              <a:rPr sz="3200" spc="-8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type,</a:t>
            </a:r>
            <a:r>
              <a:rPr sz="3200" spc="-14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Arial"/>
                <a:cs typeface="Arial"/>
              </a:rPr>
              <a:t>either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measured</a:t>
            </a:r>
            <a:r>
              <a:rPr sz="3200" spc="-10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or</a:t>
            </a:r>
            <a:r>
              <a:rPr sz="3200" spc="-10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Arial"/>
                <a:cs typeface="Arial"/>
              </a:rPr>
              <a:t>derived</a:t>
            </a:r>
            <a:endParaRPr sz="3200">
              <a:latin typeface="Arial"/>
              <a:cs typeface="Arial"/>
            </a:endParaRPr>
          </a:p>
          <a:p>
            <a:pPr marL="972819">
              <a:lnSpc>
                <a:spcPct val="100000"/>
              </a:lnSpc>
              <a:spcBef>
                <a:spcPts val="805"/>
              </a:spcBef>
            </a:pPr>
            <a:r>
              <a:rPr sz="3200" i="1" u="heavy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For</a:t>
            </a:r>
            <a:r>
              <a:rPr sz="3200" i="1" u="heavy" spc="-5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 </a:t>
            </a:r>
            <a:r>
              <a:rPr sz="3200" i="1" u="heavy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our</a:t>
            </a:r>
            <a:r>
              <a:rPr sz="3200" i="1" u="heavy" spc="-65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 </a:t>
            </a:r>
            <a:r>
              <a:rPr sz="3200" i="1" u="heavy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purposes,</a:t>
            </a:r>
            <a:r>
              <a:rPr sz="3200" i="1" u="heavy" spc="-85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 </a:t>
            </a:r>
            <a:r>
              <a:rPr sz="3200" i="1" u="heavy" spc="-1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Variable</a:t>
            </a:r>
            <a:r>
              <a:rPr sz="3200" i="1" u="heavy" spc="-10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 </a:t>
            </a:r>
            <a:r>
              <a:rPr sz="3200" i="1" u="heavy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=</a:t>
            </a:r>
            <a:r>
              <a:rPr sz="3200" i="1" u="heavy" spc="-21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 </a:t>
            </a:r>
            <a:r>
              <a:rPr sz="3200" i="1" u="heavy" spc="-1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"/>
                <a:cs typeface="Arial"/>
              </a:rPr>
              <a:t>Attribute.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5"/>
              </a:spcBef>
            </a:pPr>
            <a:endParaRPr sz="3200">
              <a:latin typeface="Arial"/>
              <a:cs typeface="Arial"/>
            </a:endParaRPr>
          </a:p>
          <a:p>
            <a:pPr marL="354330" marR="165735" indent="-342265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b="1" dirty="0">
                <a:solidFill>
                  <a:srgbClr val="009999"/>
                </a:solidFill>
                <a:latin typeface="Arial"/>
                <a:cs typeface="Arial"/>
              </a:rPr>
              <a:t>Dimension</a:t>
            </a:r>
            <a:r>
              <a:rPr sz="3200" b="1" spc="-3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Collection</a:t>
            </a:r>
            <a:r>
              <a:rPr sz="3200" spc="-2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of</a:t>
            </a:r>
            <a:r>
              <a:rPr sz="3200" spc="-3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objects</a:t>
            </a:r>
            <a:r>
              <a:rPr sz="3200" spc="-2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of</a:t>
            </a:r>
            <a:r>
              <a:rPr sz="3200" spc="-1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the</a:t>
            </a:r>
            <a:r>
              <a:rPr sz="3200" spc="-3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333399"/>
                </a:solidFill>
                <a:latin typeface="Arial"/>
                <a:cs typeface="Arial"/>
              </a:rPr>
              <a:t>same 	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type.</a:t>
            </a:r>
            <a:r>
              <a:rPr sz="3200" spc="-3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Dimension</a:t>
            </a:r>
            <a:r>
              <a:rPr sz="3200" spc="-3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values</a:t>
            </a:r>
            <a:r>
              <a:rPr sz="3200" spc="-2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commenly</a:t>
            </a:r>
            <a:r>
              <a:rPr sz="3200" spc="-2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Arial"/>
                <a:cs typeface="Arial"/>
              </a:rPr>
              <a:t>organized 	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into</a:t>
            </a:r>
            <a:r>
              <a:rPr sz="3200" spc="-10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containment</a:t>
            </a:r>
            <a:r>
              <a:rPr sz="3200" spc="-14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Arial"/>
                <a:cs typeface="Arial"/>
              </a:rPr>
              <a:t>hieararchies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090" rIns="0" bIns="0" rtlCol="0">
            <a:spAutoFit/>
          </a:bodyPr>
          <a:lstStyle/>
          <a:p>
            <a:pPr marL="3031490">
              <a:lnSpc>
                <a:spcPct val="100000"/>
              </a:lnSpc>
              <a:spcBef>
                <a:spcPts val="100"/>
              </a:spcBef>
            </a:pPr>
            <a:r>
              <a:rPr b="0" spc="-10" dirty="0">
                <a:latin typeface="Calibri Light"/>
                <a:cs typeface="Calibri Light"/>
              </a:rPr>
              <a:t>Dimensions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8294" y="1806701"/>
            <a:ext cx="6402705" cy="86677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0"/>
              </a:spcBef>
              <a:buFont typeface="Arial"/>
              <a:buChar char="•"/>
              <a:tabLst>
                <a:tab pos="354965" algn="l"/>
              </a:tabLst>
            </a:pPr>
            <a:r>
              <a:rPr sz="2100" dirty="0">
                <a:solidFill>
                  <a:srgbClr val="009999"/>
                </a:solidFill>
                <a:latin typeface="Calibri"/>
                <a:cs typeface="Calibri"/>
              </a:rPr>
              <a:t>SCHEMA:</a:t>
            </a:r>
            <a:r>
              <a:rPr sz="2100" spc="-95" dirty="0">
                <a:solidFill>
                  <a:srgbClr val="009999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ItemXPlaceXMonth!SalesAmont</a:t>
            </a:r>
            <a:endParaRPr sz="21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90"/>
              </a:spcBef>
              <a:buFont typeface="Arial"/>
              <a:buChar char="•"/>
              <a:tabLst>
                <a:tab pos="354965" algn="l"/>
              </a:tabLst>
            </a:pPr>
            <a:r>
              <a:rPr sz="2100" spc="-20" dirty="0">
                <a:solidFill>
                  <a:srgbClr val="009999"/>
                </a:solidFill>
                <a:latin typeface="Calibri"/>
                <a:cs typeface="Calibri"/>
              </a:rPr>
              <a:t>INSTANCE: </a:t>
            </a:r>
            <a:r>
              <a:rPr sz="2100" dirty="0">
                <a:latin typeface="Calibri"/>
                <a:cs typeface="Calibri"/>
              </a:rPr>
              <a:t>$24K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Iced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tea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was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sold</a:t>
            </a:r>
            <a:r>
              <a:rPr sz="2100" spc="-11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</a:t>
            </a:r>
            <a:r>
              <a:rPr sz="2100" spc="4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Aucland</a:t>
            </a:r>
            <a:r>
              <a:rPr sz="2100" spc="-7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January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635" y="3167608"/>
            <a:ext cx="3934460" cy="238379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00"/>
              </a:spcBef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Item:</a:t>
            </a:r>
            <a:r>
              <a:rPr sz="3200" spc="-4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Iced</a:t>
            </a:r>
            <a:r>
              <a:rPr sz="3200" spc="-17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99"/>
                </a:solidFill>
                <a:latin typeface="Arial"/>
                <a:cs typeface="Arial"/>
              </a:rPr>
              <a:t>Tea</a:t>
            </a:r>
            <a:endParaRPr sz="3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05"/>
              </a:spcBef>
              <a:buChar char="•"/>
              <a:tabLst>
                <a:tab pos="354965" algn="l"/>
              </a:tabLst>
            </a:pPr>
            <a:r>
              <a:rPr sz="3200" spc="-10" dirty="0">
                <a:solidFill>
                  <a:srgbClr val="009999"/>
                </a:solidFill>
                <a:latin typeface="Arial"/>
                <a:cs typeface="Arial"/>
              </a:rPr>
              <a:t>Place:</a:t>
            </a:r>
            <a:r>
              <a:rPr sz="3200" spc="-17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Arial"/>
                <a:cs typeface="Arial"/>
              </a:rPr>
              <a:t>Aucland</a:t>
            </a:r>
            <a:endParaRPr sz="3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805"/>
              </a:spcBef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Month:</a:t>
            </a:r>
            <a:r>
              <a:rPr sz="3200" spc="-14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Arial"/>
                <a:cs typeface="Arial"/>
              </a:rPr>
              <a:t>January</a:t>
            </a:r>
            <a:endParaRPr sz="3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95"/>
              </a:spcBef>
              <a:buChar char="•"/>
              <a:tabLst>
                <a:tab pos="354965" algn="l"/>
              </a:tabLst>
            </a:pPr>
            <a:r>
              <a:rPr sz="3200" dirty="0">
                <a:solidFill>
                  <a:srgbClr val="009999"/>
                </a:solidFill>
                <a:latin typeface="Arial"/>
                <a:cs typeface="Arial"/>
              </a:rPr>
              <a:t>SalesAmount:</a:t>
            </a:r>
            <a:r>
              <a:rPr sz="3200" spc="-22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333399"/>
                </a:solidFill>
                <a:latin typeface="Arial"/>
                <a:cs typeface="Arial"/>
              </a:rPr>
              <a:t>$24K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657600" y="3541776"/>
            <a:ext cx="2590800" cy="129539"/>
            <a:chOff x="3657600" y="3541776"/>
            <a:chExt cx="2590800" cy="129539"/>
          </a:xfrm>
        </p:grpSpPr>
        <p:sp>
          <p:nvSpPr>
            <p:cNvPr id="6" name="object 6"/>
            <p:cNvSpPr/>
            <p:nvPr/>
          </p:nvSpPr>
          <p:spPr>
            <a:xfrm>
              <a:off x="3657600" y="3570097"/>
              <a:ext cx="2505710" cy="101600"/>
            </a:xfrm>
            <a:custGeom>
              <a:avLst/>
              <a:gdLst/>
              <a:ahLst/>
              <a:cxnLst/>
              <a:rect l="l" t="t" r="r" b="b"/>
              <a:pathLst>
                <a:path w="2505710" h="101600">
                  <a:moveTo>
                    <a:pt x="2504440" y="0"/>
                  </a:moveTo>
                  <a:lnTo>
                    <a:pt x="0" y="73025"/>
                  </a:lnTo>
                  <a:lnTo>
                    <a:pt x="762" y="101218"/>
                  </a:lnTo>
                  <a:lnTo>
                    <a:pt x="2505329" y="28320"/>
                  </a:lnTo>
                  <a:lnTo>
                    <a:pt x="2504440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61151" y="3541776"/>
              <a:ext cx="86995" cy="84836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3729228" y="4101083"/>
            <a:ext cx="2442845" cy="962660"/>
          </a:xfrm>
          <a:custGeom>
            <a:avLst/>
            <a:gdLst/>
            <a:ahLst/>
            <a:cxnLst/>
            <a:rect l="l" t="t" r="r" b="b"/>
            <a:pathLst>
              <a:path w="2442845" h="962660">
                <a:moveTo>
                  <a:pt x="2366264" y="699389"/>
                </a:moveTo>
                <a:lnTo>
                  <a:pt x="2295906" y="634365"/>
                </a:lnTo>
                <a:lnTo>
                  <a:pt x="2287905" y="661797"/>
                </a:lnTo>
                <a:lnTo>
                  <a:pt x="7874" y="0"/>
                </a:lnTo>
                <a:lnTo>
                  <a:pt x="0" y="27432"/>
                </a:lnTo>
                <a:lnTo>
                  <a:pt x="2280031" y="689229"/>
                </a:lnTo>
                <a:lnTo>
                  <a:pt x="2272030" y="716661"/>
                </a:lnTo>
                <a:lnTo>
                  <a:pt x="2366264" y="699389"/>
                </a:lnTo>
                <a:close/>
              </a:path>
              <a:path w="2442845" h="962660">
                <a:moveTo>
                  <a:pt x="2423160" y="935482"/>
                </a:moveTo>
                <a:lnTo>
                  <a:pt x="2355596" y="935482"/>
                </a:lnTo>
                <a:lnTo>
                  <a:pt x="2353056" y="962660"/>
                </a:lnTo>
                <a:lnTo>
                  <a:pt x="2423160" y="935482"/>
                </a:lnTo>
                <a:close/>
              </a:path>
              <a:path w="2442845" h="962660">
                <a:moveTo>
                  <a:pt x="2442464" y="927989"/>
                </a:moveTo>
                <a:lnTo>
                  <a:pt x="2361057" y="877316"/>
                </a:lnTo>
                <a:lnTo>
                  <a:pt x="2358390" y="905764"/>
                </a:lnTo>
                <a:lnTo>
                  <a:pt x="5207" y="685165"/>
                </a:lnTo>
                <a:lnTo>
                  <a:pt x="2540" y="713613"/>
                </a:lnTo>
                <a:lnTo>
                  <a:pt x="2355723" y="934212"/>
                </a:lnTo>
                <a:lnTo>
                  <a:pt x="2426589" y="934212"/>
                </a:lnTo>
                <a:lnTo>
                  <a:pt x="2442464" y="927989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4491228" y="5396484"/>
            <a:ext cx="1757045" cy="563880"/>
            <a:chOff x="4491228" y="5396484"/>
            <a:chExt cx="1757045" cy="56388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53658" y="5878182"/>
              <a:ext cx="94487" cy="8209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491228" y="5396484"/>
              <a:ext cx="1679575" cy="536575"/>
            </a:xfrm>
            <a:custGeom>
              <a:avLst/>
              <a:gdLst/>
              <a:ahLst/>
              <a:cxnLst/>
              <a:rect l="l" t="t" r="r" b="b"/>
              <a:pathLst>
                <a:path w="1679575" h="536575">
                  <a:moveTo>
                    <a:pt x="8382" y="0"/>
                  </a:moveTo>
                  <a:lnTo>
                    <a:pt x="0" y="27431"/>
                  </a:lnTo>
                  <a:lnTo>
                    <a:pt x="1670685" y="536422"/>
                  </a:lnTo>
                  <a:lnTo>
                    <a:pt x="1679067" y="509028"/>
                  </a:lnTo>
                  <a:lnTo>
                    <a:pt x="8382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396609" y="3351022"/>
            <a:ext cx="12839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333399"/>
                </a:solidFill>
                <a:latin typeface="Arial"/>
                <a:cs typeface="Arial"/>
              </a:rPr>
              <a:t>Variable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43269" y="4632197"/>
            <a:ext cx="170433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333399"/>
                </a:solidFill>
                <a:latin typeface="Arial"/>
                <a:cs typeface="Arial"/>
              </a:rPr>
              <a:t>Dimension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44792" y="5912916"/>
            <a:ext cx="14084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333399"/>
                </a:solidFill>
                <a:latin typeface="Arial"/>
                <a:cs typeface="Arial"/>
              </a:rPr>
              <a:t>Measure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249161" y="3277361"/>
            <a:ext cx="1676400" cy="685800"/>
          </a:xfrm>
          <a:custGeom>
            <a:avLst/>
            <a:gdLst/>
            <a:ahLst/>
            <a:cxnLst/>
            <a:rect l="l" t="t" r="r" b="b"/>
            <a:pathLst>
              <a:path w="1676400" h="685800">
                <a:moveTo>
                  <a:pt x="0" y="342900"/>
                </a:moveTo>
                <a:lnTo>
                  <a:pt x="9905" y="289813"/>
                </a:lnTo>
                <a:lnTo>
                  <a:pt x="38862" y="239395"/>
                </a:lnTo>
                <a:lnTo>
                  <a:pt x="85216" y="192150"/>
                </a:lnTo>
                <a:lnTo>
                  <a:pt x="147447" y="148589"/>
                </a:lnTo>
                <a:lnTo>
                  <a:pt x="184150" y="128397"/>
                </a:lnTo>
                <a:lnTo>
                  <a:pt x="224282" y="109474"/>
                </a:lnTo>
                <a:lnTo>
                  <a:pt x="267588" y="91693"/>
                </a:lnTo>
                <a:lnTo>
                  <a:pt x="313943" y="75311"/>
                </a:lnTo>
                <a:lnTo>
                  <a:pt x="363219" y="60325"/>
                </a:lnTo>
                <a:lnTo>
                  <a:pt x="415163" y="46862"/>
                </a:lnTo>
                <a:lnTo>
                  <a:pt x="469645" y="34798"/>
                </a:lnTo>
                <a:lnTo>
                  <a:pt x="526288" y="24511"/>
                </a:lnTo>
                <a:lnTo>
                  <a:pt x="585215" y="15875"/>
                </a:lnTo>
                <a:lnTo>
                  <a:pt x="646048" y="9016"/>
                </a:lnTo>
                <a:lnTo>
                  <a:pt x="708533" y="4063"/>
                </a:lnTo>
                <a:lnTo>
                  <a:pt x="772667" y="1015"/>
                </a:lnTo>
                <a:lnTo>
                  <a:pt x="838199" y="0"/>
                </a:lnTo>
                <a:lnTo>
                  <a:pt x="903732" y="1015"/>
                </a:lnTo>
                <a:lnTo>
                  <a:pt x="967866" y="4063"/>
                </a:lnTo>
                <a:lnTo>
                  <a:pt x="1030351" y="9016"/>
                </a:lnTo>
                <a:lnTo>
                  <a:pt x="1091184" y="15875"/>
                </a:lnTo>
                <a:lnTo>
                  <a:pt x="1150112" y="24511"/>
                </a:lnTo>
                <a:lnTo>
                  <a:pt x="1206754" y="34798"/>
                </a:lnTo>
                <a:lnTo>
                  <a:pt x="1261237" y="46862"/>
                </a:lnTo>
                <a:lnTo>
                  <a:pt x="1313180" y="60325"/>
                </a:lnTo>
                <a:lnTo>
                  <a:pt x="1362456" y="75311"/>
                </a:lnTo>
                <a:lnTo>
                  <a:pt x="1408811" y="91693"/>
                </a:lnTo>
                <a:lnTo>
                  <a:pt x="1452117" y="109474"/>
                </a:lnTo>
                <a:lnTo>
                  <a:pt x="1492249" y="128397"/>
                </a:lnTo>
                <a:lnTo>
                  <a:pt x="1528953" y="148589"/>
                </a:lnTo>
                <a:lnTo>
                  <a:pt x="1561972" y="169799"/>
                </a:lnTo>
                <a:lnTo>
                  <a:pt x="1616456" y="215264"/>
                </a:lnTo>
                <a:lnTo>
                  <a:pt x="1654302" y="264287"/>
                </a:lnTo>
                <a:lnTo>
                  <a:pt x="1673860" y="316102"/>
                </a:lnTo>
                <a:lnTo>
                  <a:pt x="1676399" y="342900"/>
                </a:lnTo>
                <a:lnTo>
                  <a:pt x="1673860" y="369696"/>
                </a:lnTo>
                <a:lnTo>
                  <a:pt x="1637538" y="446405"/>
                </a:lnTo>
                <a:lnTo>
                  <a:pt x="1591183" y="493649"/>
                </a:lnTo>
                <a:lnTo>
                  <a:pt x="1528953" y="537210"/>
                </a:lnTo>
                <a:lnTo>
                  <a:pt x="1492249" y="557402"/>
                </a:lnTo>
                <a:lnTo>
                  <a:pt x="1452117" y="576326"/>
                </a:lnTo>
                <a:lnTo>
                  <a:pt x="1408811" y="594106"/>
                </a:lnTo>
                <a:lnTo>
                  <a:pt x="1362456" y="610488"/>
                </a:lnTo>
                <a:lnTo>
                  <a:pt x="1313180" y="625475"/>
                </a:lnTo>
                <a:lnTo>
                  <a:pt x="1261237" y="638937"/>
                </a:lnTo>
                <a:lnTo>
                  <a:pt x="1206754" y="651001"/>
                </a:lnTo>
                <a:lnTo>
                  <a:pt x="1150112" y="661288"/>
                </a:lnTo>
                <a:lnTo>
                  <a:pt x="1091184" y="669925"/>
                </a:lnTo>
                <a:lnTo>
                  <a:pt x="1030351" y="676782"/>
                </a:lnTo>
                <a:lnTo>
                  <a:pt x="967866" y="681736"/>
                </a:lnTo>
                <a:lnTo>
                  <a:pt x="903732" y="684783"/>
                </a:lnTo>
                <a:lnTo>
                  <a:pt x="838199" y="685800"/>
                </a:lnTo>
                <a:lnTo>
                  <a:pt x="772667" y="684783"/>
                </a:lnTo>
                <a:lnTo>
                  <a:pt x="708533" y="681736"/>
                </a:lnTo>
                <a:lnTo>
                  <a:pt x="646048" y="676782"/>
                </a:lnTo>
                <a:lnTo>
                  <a:pt x="585215" y="669925"/>
                </a:lnTo>
                <a:lnTo>
                  <a:pt x="526288" y="661288"/>
                </a:lnTo>
                <a:lnTo>
                  <a:pt x="469645" y="651001"/>
                </a:lnTo>
                <a:lnTo>
                  <a:pt x="415163" y="638937"/>
                </a:lnTo>
                <a:lnTo>
                  <a:pt x="363219" y="625475"/>
                </a:lnTo>
                <a:lnTo>
                  <a:pt x="313943" y="610488"/>
                </a:lnTo>
                <a:lnTo>
                  <a:pt x="267588" y="594106"/>
                </a:lnTo>
                <a:lnTo>
                  <a:pt x="224282" y="576326"/>
                </a:lnTo>
                <a:lnTo>
                  <a:pt x="184150" y="557402"/>
                </a:lnTo>
                <a:lnTo>
                  <a:pt x="147447" y="537210"/>
                </a:lnTo>
                <a:lnTo>
                  <a:pt x="114426" y="516000"/>
                </a:lnTo>
                <a:lnTo>
                  <a:pt x="59943" y="470535"/>
                </a:lnTo>
                <a:lnTo>
                  <a:pt x="22098" y="421513"/>
                </a:lnTo>
                <a:lnTo>
                  <a:pt x="2539" y="369696"/>
                </a:lnTo>
                <a:lnTo>
                  <a:pt x="0" y="342900"/>
                </a:lnTo>
                <a:close/>
              </a:path>
            </a:pathLst>
          </a:custGeom>
          <a:ln w="28956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172961" y="4496561"/>
            <a:ext cx="1981200" cy="762000"/>
          </a:xfrm>
          <a:custGeom>
            <a:avLst/>
            <a:gdLst/>
            <a:ahLst/>
            <a:cxnLst/>
            <a:rect l="l" t="t" r="r" b="b"/>
            <a:pathLst>
              <a:path w="1981200" h="762000">
                <a:moveTo>
                  <a:pt x="0" y="381000"/>
                </a:moveTo>
                <a:lnTo>
                  <a:pt x="9016" y="329311"/>
                </a:lnTo>
                <a:lnTo>
                  <a:pt x="35433" y="279654"/>
                </a:lnTo>
                <a:lnTo>
                  <a:pt x="77850" y="232663"/>
                </a:lnTo>
                <a:lnTo>
                  <a:pt x="135254" y="188721"/>
                </a:lnTo>
                <a:lnTo>
                  <a:pt x="169163" y="168020"/>
                </a:lnTo>
                <a:lnTo>
                  <a:pt x="206375" y="148208"/>
                </a:lnTo>
                <a:lnTo>
                  <a:pt x="246761" y="129412"/>
                </a:lnTo>
                <a:lnTo>
                  <a:pt x="290067" y="111632"/>
                </a:lnTo>
                <a:lnTo>
                  <a:pt x="336295" y="94868"/>
                </a:lnTo>
                <a:lnTo>
                  <a:pt x="385317" y="79375"/>
                </a:lnTo>
                <a:lnTo>
                  <a:pt x="436753" y="65024"/>
                </a:lnTo>
                <a:lnTo>
                  <a:pt x="490601" y="52069"/>
                </a:lnTo>
                <a:lnTo>
                  <a:pt x="546735" y="40258"/>
                </a:lnTo>
                <a:lnTo>
                  <a:pt x="605028" y="29971"/>
                </a:lnTo>
                <a:lnTo>
                  <a:pt x="665226" y="21081"/>
                </a:lnTo>
                <a:lnTo>
                  <a:pt x="727202" y="13588"/>
                </a:lnTo>
                <a:lnTo>
                  <a:pt x="790956" y="7746"/>
                </a:lnTo>
                <a:lnTo>
                  <a:pt x="856234" y="3429"/>
                </a:lnTo>
                <a:lnTo>
                  <a:pt x="922782" y="888"/>
                </a:lnTo>
                <a:lnTo>
                  <a:pt x="990599" y="0"/>
                </a:lnTo>
                <a:lnTo>
                  <a:pt x="1058417" y="888"/>
                </a:lnTo>
                <a:lnTo>
                  <a:pt x="1124965" y="3429"/>
                </a:lnTo>
                <a:lnTo>
                  <a:pt x="1190243" y="7746"/>
                </a:lnTo>
                <a:lnTo>
                  <a:pt x="1253997" y="13588"/>
                </a:lnTo>
                <a:lnTo>
                  <a:pt x="1315973" y="21081"/>
                </a:lnTo>
                <a:lnTo>
                  <a:pt x="1376171" y="29971"/>
                </a:lnTo>
                <a:lnTo>
                  <a:pt x="1434464" y="40258"/>
                </a:lnTo>
                <a:lnTo>
                  <a:pt x="1490598" y="52069"/>
                </a:lnTo>
                <a:lnTo>
                  <a:pt x="1544446" y="65024"/>
                </a:lnTo>
                <a:lnTo>
                  <a:pt x="1595882" y="79375"/>
                </a:lnTo>
                <a:lnTo>
                  <a:pt x="1644904" y="94868"/>
                </a:lnTo>
                <a:lnTo>
                  <a:pt x="1691005" y="111632"/>
                </a:lnTo>
                <a:lnTo>
                  <a:pt x="1734439" y="129412"/>
                </a:lnTo>
                <a:lnTo>
                  <a:pt x="1774824" y="148208"/>
                </a:lnTo>
                <a:lnTo>
                  <a:pt x="1812036" y="168020"/>
                </a:lnTo>
                <a:lnTo>
                  <a:pt x="1845944" y="188721"/>
                </a:lnTo>
                <a:lnTo>
                  <a:pt x="1903348" y="232663"/>
                </a:lnTo>
                <a:lnTo>
                  <a:pt x="1945766" y="279654"/>
                </a:lnTo>
                <a:lnTo>
                  <a:pt x="1972183" y="329311"/>
                </a:lnTo>
                <a:lnTo>
                  <a:pt x="1981199" y="381000"/>
                </a:lnTo>
                <a:lnTo>
                  <a:pt x="1978914" y="407035"/>
                </a:lnTo>
                <a:lnTo>
                  <a:pt x="1945766" y="482345"/>
                </a:lnTo>
                <a:lnTo>
                  <a:pt x="1903348" y="529336"/>
                </a:lnTo>
                <a:lnTo>
                  <a:pt x="1845944" y="573277"/>
                </a:lnTo>
                <a:lnTo>
                  <a:pt x="1812036" y="593979"/>
                </a:lnTo>
                <a:lnTo>
                  <a:pt x="1774824" y="613790"/>
                </a:lnTo>
                <a:lnTo>
                  <a:pt x="1734439" y="632587"/>
                </a:lnTo>
                <a:lnTo>
                  <a:pt x="1691005" y="650367"/>
                </a:lnTo>
                <a:lnTo>
                  <a:pt x="1644904" y="667131"/>
                </a:lnTo>
                <a:lnTo>
                  <a:pt x="1595882" y="682625"/>
                </a:lnTo>
                <a:lnTo>
                  <a:pt x="1544446" y="696976"/>
                </a:lnTo>
                <a:lnTo>
                  <a:pt x="1490598" y="709930"/>
                </a:lnTo>
                <a:lnTo>
                  <a:pt x="1434464" y="721740"/>
                </a:lnTo>
                <a:lnTo>
                  <a:pt x="1376171" y="732027"/>
                </a:lnTo>
                <a:lnTo>
                  <a:pt x="1315973" y="740918"/>
                </a:lnTo>
                <a:lnTo>
                  <a:pt x="1253997" y="748410"/>
                </a:lnTo>
                <a:lnTo>
                  <a:pt x="1190243" y="754253"/>
                </a:lnTo>
                <a:lnTo>
                  <a:pt x="1124965" y="758571"/>
                </a:lnTo>
                <a:lnTo>
                  <a:pt x="1058417" y="761110"/>
                </a:lnTo>
                <a:lnTo>
                  <a:pt x="990599" y="762000"/>
                </a:lnTo>
                <a:lnTo>
                  <a:pt x="922782" y="761110"/>
                </a:lnTo>
                <a:lnTo>
                  <a:pt x="856234" y="758571"/>
                </a:lnTo>
                <a:lnTo>
                  <a:pt x="790956" y="754253"/>
                </a:lnTo>
                <a:lnTo>
                  <a:pt x="727202" y="748410"/>
                </a:lnTo>
                <a:lnTo>
                  <a:pt x="665226" y="740918"/>
                </a:lnTo>
                <a:lnTo>
                  <a:pt x="605028" y="732027"/>
                </a:lnTo>
                <a:lnTo>
                  <a:pt x="546735" y="721740"/>
                </a:lnTo>
                <a:lnTo>
                  <a:pt x="490601" y="709930"/>
                </a:lnTo>
                <a:lnTo>
                  <a:pt x="436753" y="696976"/>
                </a:lnTo>
                <a:lnTo>
                  <a:pt x="385317" y="682625"/>
                </a:lnTo>
                <a:lnTo>
                  <a:pt x="336295" y="667131"/>
                </a:lnTo>
                <a:lnTo>
                  <a:pt x="290067" y="650367"/>
                </a:lnTo>
                <a:lnTo>
                  <a:pt x="246761" y="632587"/>
                </a:lnTo>
                <a:lnTo>
                  <a:pt x="206375" y="613790"/>
                </a:lnTo>
                <a:lnTo>
                  <a:pt x="169163" y="593979"/>
                </a:lnTo>
                <a:lnTo>
                  <a:pt x="135254" y="573277"/>
                </a:lnTo>
                <a:lnTo>
                  <a:pt x="77850" y="529336"/>
                </a:lnTo>
                <a:lnTo>
                  <a:pt x="35433" y="482345"/>
                </a:lnTo>
                <a:lnTo>
                  <a:pt x="9016" y="432688"/>
                </a:lnTo>
                <a:lnTo>
                  <a:pt x="0" y="381000"/>
                </a:lnTo>
                <a:close/>
              </a:path>
            </a:pathLst>
          </a:custGeom>
          <a:ln w="28956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249161" y="5791961"/>
            <a:ext cx="1676400" cy="685800"/>
          </a:xfrm>
          <a:custGeom>
            <a:avLst/>
            <a:gdLst/>
            <a:ahLst/>
            <a:cxnLst/>
            <a:rect l="l" t="t" r="r" b="b"/>
            <a:pathLst>
              <a:path w="1676400" h="685800">
                <a:moveTo>
                  <a:pt x="0" y="342900"/>
                </a:moveTo>
                <a:lnTo>
                  <a:pt x="9905" y="289864"/>
                </a:lnTo>
                <a:lnTo>
                  <a:pt x="38862" y="239394"/>
                </a:lnTo>
                <a:lnTo>
                  <a:pt x="85216" y="192100"/>
                </a:lnTo>
                <a:lnTo>
                  <a:pt x="147447" y="148577"/>
                </a:lnTo>
                <a:lnTo>
                  <a:pt x="184150" y="128435"/>
                </a:lnTo>
                <a:lnTo>
                  <a:pt x="224282" y="109448"/>
                </a:lnTo>
                <a:lnTo>
                  <a:pt x="267588" y="91732"/>
                </a:lnTo>
                <a:lnTo>
                  <a:pt x="313943" y="75323"/>
                </a:lnTo>
                <a:lnTo>
                  <a:pt x="363219" y="60337"/>
                </a:lnTo>
                <a:lnTo>
                  <a:pt x="415163" y="46812"/>
                </a:lnTo>
                <a:lnTo>
                  <a:pt x="469645" y="34848"/>
                </a:lnTo>
                <a:lnTo>
                  <a:pt x="526288" y="24523"/>
                </a:lnTo>
                <a:lnTo>
                  <a:pt x="585215" y="15900"/>
                </a:lnTo>
                <a:lnTo>
                  <a:pt x="646048" y="9055"/>
                </a:lnTo>
                <a:lnTo>
                  <a:pt x="708533" y="4076"/>
                </a:lnTo>
                <a:lnTo>
                  <a:pt x="772667" y="1028"/>
                </a:lnTo>
                <a:lnTo>
                  <a:pt x="838199" y="0"/>
                </a:lnTo>
                <a:lnTo>
                  <a:pt x="903732" y="1028"/>
                </a:lnTo>
                <a:lnTo>
                  <a:pt x="967866" y="4076"/>
                </a:lnTo>
                <a:lnTo>
                  <a:pt x="1030351" y="9055"/>
                </a:lnTo>
                <a:lnTo>
                  <a:pt x="1091184" y="15900"/>
                </a:lnTo>
                <a:lnTo>
                  <a:pt x="1150112" y="24523"/>
                </a:lnTo>
                <a:lnTo>
                  <a:pt x="1206754" y="34848"/>
                </a:lnTo>
                <a:lnTo>
                  <a:pt x="1261237" y="46812"/>
                </a:lnTo>
                <a:lnTo>
                  <a:pt x="1313180" y="60337"/>
                </a:lnTo>
                <a:lnTo>
                  <a:pt x="1362456" y="75323"/>
                </a:lnTo>
                <a:lnTo>
                  <a:pt x="1408811" y="91732"/>
                </a:lnTo>
                <a:lnTo>
                  <a:pt x="1452117" y="109448"/>
                </a:lnTo>
                <a:lnTo>
                  <a:pt x="1492249" y="128435"/>
                </a:lnTo>
                <a:lnTo>
                  <a:pt x="1528953" y="148577"/>
                </a:lnTo>
                <a:lnTo>
                  <a:pt x="1561972" y="169824"/>
                </a:lnTo>
                <a:lnTo>
                  <a:pt x="1616456" y="215315"/>
                </a:lnTo>
                <a:lnTo>
                  <a:pt x="1654302" y="264274"/>
                </a:lnTo>
                <a:lnTo>
                  <a:pt x="1673860" y="316103"/>
                </a:lnTo>
                <a:lnTo>
                  <a:pt x="1676399" y="342900"/>
                </a:lnTo>
                <a:lnTo>
                  <a:pt x="1673860" y="369697"/>
                </a:lnTo>
                <a:lnTo>
                  <a:pt x="1637538" y="446405"/>
                </a:lnTo>
                <a:lnTo>
                  <a:pt x="1591183" y="493699"/>
                </a:lnTo>
                <a:lnTo>
                  <a:pt x="1528953" y="537222"/>
                </a:lnTo>
                <a:lnTo>
                  <a:pt x="1492249" y="557364"/>
                </a:lnTo>
                <a:lnTo>
                  <a:pt x="1452117" y="576338"/>
                </a:lnTo>
                <a:lnTo>
                  <a:pt x="1408811" y="594067"/>
                </a:lnTo>
                <a:lnTo>
                  <a:pt x="1362456" y="610463"/>
                </a:lnTo>
                <a:lnTo>
                  <a:pt x="1313180" y="625462"/>
                </a:lnTo>
                <a:lnTo>
                  <a:pt x="1261237" y="638987"/>
                </a:lnTo>
                <a:lnTo>
                  <a:pt x="1206754" y="650951"/>
                </a:lnTo>
                <a:lnTo>
                  <a:pt x="1150112" y="661276"/>
                </a:lnTo>
                <a:lnTo>
                  <a:pt x="1091184" y="669899"/>
                </a:lnTo>
                <a:lnTo>
                  <a:pt x="1030351" y="676744"/>
                </a:lnTo>
                <a:lnTo>
                  <a:pt x="967866" y="681723"/>
                </a:lnTo>
                <a:lnTo>
                  <a:pt x="903732" y="684771"/>
                </a:lnTo>
                <a:lnTo>
                  <a:pt x="838199" y="685800"/>
                </a:lnTo>
                <a:lnTo>
                  <a:pt x="772667" y="684771"/>
                </a:lnTo>
                <a:lnTo>
                  <a:pt x="708533" y="681723"/>
                </a:lnTo>
                <a:lnTo>
                  <a:pt x="646048" y="676744"/>
                </a:lnTo>
                <a:lnTo>
                  <a:pt x="585215" y="669899"/>
                </a:lnTo>
                <a:lnTo>
                  <a:pt x="526288" y="661276"/>
                </a:lnTo>
                <a:lnTo>
                  <a:pt x="469645" y="650951"/>
                </a:lnTo>
                <a:lnTo>
                  <a:pt x="415163" y="638987"/>
                </a:lnTo>
                <a:lnTo>
                  <a:pt x="363219" y="625462"/>
                </a:lnTo>
                <a:lnTo>
                  <a:pt x="313943" y="610463"/>
                </a:lnTo>
                <a:lnTo>
                  <a:pt x="267588" y="594067"/>
                </a:lnTo>
                <a:lnTo>
                  <a:pt x="224282" y="576338"/>
                </a:lnTo>
                <a:lnTo>
                  <a:pt x="184150" y="557364"/>
                </a:lnTo>
                <a:lnTo>
                  <a:pt x="147447" y="537222"/>
                </a:lnTo>
                <a:lnTo>
                  <a:pt x="114426" y="515962"/>
                </a:lnTo>
                <a:lnTo>
                  <a:pt x="59943" y="470484"/>
                </a:lnTo>
                <a:lnTo>
                  <a:pt x="22098" y="421525"/>
                </a:lnTo>
                <a:lnTo>
                  <a:pt x="2539" y="369697"/>
                </a:lnTo>
                <a:lnTo>
                  <a:pt x="0" y="342900"/>
                </a:lnTo>
                <a:close/>
              </a:path>
            </a:pathLst>
          </a:custGeom>
          <a:ln w="28956">
            <a:solidFill>
              <a:srgbClr val="3333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5692" rIns="0" bIns="0" rtlCol="0">
            <a:spAutoFit/>
          </a:bodyPr>
          <a:lstStyle/>
          <a:p>
            <a:pPr marL="120014">
              <a:lnSpc>
                <a:spcPts val="955"/>
              </a:lnSpc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5692" rIns="0" bIns="0" rtlCol="0">
            <a:spAutoFit/>
          </a:bodyPr>
          <a:lstStyle/>
          <a:p>
            <a:pPr marL="120014">
              <a:lnSpc>
                <a:spcPts val="955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535635" y="1610359"/>
            <a:ext cx="7898130" cy="4114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these</a:t>
            </a:r>
            <a:r>
              <a:rPr sz="3200" spc="-4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base</a:t>
            </a:r>
            <a:r>
              <a:rPr sz="3200" spc="-7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level</a:t>
            </a:r>
            <a:r>
              <a:rPr sz="3200" spc="-3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elements</a:t>
            </a:r>
            <a:r>
              <a:rPr sz="3200" spc="-9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can</a:t>
            </a:r>
            <a:r>
              <a:rPr sz="3200" spc="-3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then</a:t>
            </a:r>
            <a:r>
              <a:rPr sz="3200" spc="-4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spc="-25" dirty="0">
                <a:solidFill>
                  <a:srgbClr val="333399"/>
                </a:solidFill>
                <a:latin typeface="Arial"/>
                <a:cs typeface="Arial"/>
              </a:rPr>
              <a:t>be </a:t>
            </a:r>
            <a:r>
              <a:rPr sz="3200" i="1" dirty="0">
                <a:solidFill>
                  <a:srgbClr val="333399"/>
                </a:solidFill>
                <a:latin typeface="Arial"/>
                <a:cs typeface="Arial"/>
              </a:rPr>
              <a:t>aggregated</a:t>
            </a:r>
            <a:r>
              <a:rPr sz="3200" i="1" spc="-10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333399"/>
                </a:solidFill>
                <a:latin typeface="Arial"/>
                <a:cs typeface="Arial"/>
              </a:rPr>
              <a:t>/</a:t>
            </a:r>
            <a:r>
              <a:rPr sz="3200" i="1" spc="-4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333399"/>
                </a:solidFill>
                <a:latin typeface="Arial"/>
                <a:cs typeface="Arial"/>
              </a:rPr>
              <a:t>summarized</a:t>
            </a:r>
            <a:r>
              <a:rPr sz="3200" i="1" spc="-8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to</a:t>
            </a:r>
            <a:r>
              <a:rPr sz="3200" spc="-6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more</a:t>
            </a:r>
            <a:r>
              <a:rPr sz="3200" spc="-15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Arial"/>
                <a:cs typeface="Arial"/>
              </a:rPr>
              <a:t>coarse-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grained</a:t>
            </a:r>
            <a:r>
              <a:rPr sz="3200" spc="-14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Arial"/>
                <a:cs typeface="Arial"/>
              </a:rPr>
              <a:t>levels</a:t>
            </a:r>
            <a:endParaRPr sz="32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710"/>
              </a:spcBef>
              <a:buChar char="–"/>
              <a:tabLst>
                <a:tab pos="755650" algn="l"/>
              </a:tabLst>
            </a:pP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“days”</a:t>
            </a:r>
            <a:r>
              <a:rPr sz="2800" spc="-7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weeks,</a:t>
            </a:r>
            <a:r>
              <a:rPr sz="2800" spc="-12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months,</a:t>
            </a:r>
            <a:r>
              <a:rPr sz="2800" spc="-8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3399"/>
                </a:solidFill>
                <a:latin typeface="Arial"/>
                <a:cs typeface="Arial"/>
              </a:rPr>
              <a:t>quarter,</a:t>
            </a:r>
            <a:r>
              <a:rPr sz="2800" spc="-13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Arial"/>
                <a:cs typeface="Arial"/>
              </a:rPr>
              <a:t>year,</a:t>
            </a:r>
            <a:r>
              <a:rPr sz="2800" spc="-10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3399"/>
                </a:solidFill>
                <a:latin typeface="Arial"/>
                <a:cs typeface="Arial"/>
              </a:rPr>
              <a:t>....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710"/>
              </a:spcBef>
              <a:buChar char="–"/>
              <a:tabLst>
                <a:tab pos="755650" algn="l"/>
              </a:tabLst>
            </a:pP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“products”</a:t>
            </a:r>
            <a:r>
              <a:rPr sz="2800" spc="-13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brand,</a:t>
            </a:r>
            <a:r>
              <a:rPr sz="2800" spc="-12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3399"/>
                </a:solidFill>
                <a:latin typeface="Arial"/>
                <a:cs typeface="Arial"/>
              </a:rPr>
              <a:t>food/non-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food,</a:t>
            </a:r>
            <a:r>
              <a:rPr sz="2800" spc="-9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Arial"/>
                <a:cs typeface="Arial"/>
              </a:rPr>
              <a:t>supplier,</a:t>
            </a:r>
            <a:r>
              <a:rPr sz="2800" spc="-7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3399"/>
                </a:solidFill>
                <a:latin typeface="Arial"/>
                <a:cs typeface="Arial"/>
              </a:rPr>
              <a:t>....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700"/>
              </a:spcBef>
              <a:buChar char="–"/>
              <a:tabLst>
                <a:tab pos="755650" algn="l"/>
              </a:tabLst>
            </a:pP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“store”</a:t>
            </a:r>
            <a:r>
              <a:rPr sz="2800" spc="-13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3399"/>
                </a:solidFill>
                <a:latin typeface="Arial"/>
                <a:cs typeface="Arial"/>
              </a:rPr>
              <a:t>city,</a:t>
            </a:r>
            <a:r>
              <a:rPr sz="2800" spc="-12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region,</a:t>
            </a:r>
            <a:r>
              <a:rPr sz="2800" spc="-13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333399"/>
                </a:solidFill>
                <a:latin typeface="Arial"/>
                <a:cs typeface="Arial"/>
              </a:rPr>
              <a:t>country,</a:t>
            </a:r>
            <a:r>
              <a:rPr sz="2800" spc="-14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urban/rural,</a:t>
            </a:r>
            <a:r>
              <a:rPr sz="2800" spc="-12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3399"/>
                </a:solidFill>
                <a:latin typeface="Arial"/>
                <a:cs typeface="Arial"/>
              </a:rPr>
              <a:t>....</a:t>
            </a:r>
            <a:endParaRPr sz="2800">
              <a:latin typeface="Arial"/>
              <a:cs typeface="Arial"/>
            </a:endParaRPr>
          </a:p>
          <a:p>
            <a:pPr marL="355600" marR="1265555" indent="-342900">
              <a:lnSpc>
                <a:spcPct val="100000"/>
              </a:lnSpc>
              <a:spcBef>
                <a:spcPts val="785"/>
              </a:spcBef>
              <a:buChar char="•"/>
              <a:tabLst>
                <a:tab pos="355600" algn="l"/>
              </a:tabLst>
            </a:pP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dimension</a:t>
            </a:r>
            <a:r>
              <a:rPr sz="3200" spc="-13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elements</a:t>
            </a:r>
            <a:r>
              <a:rPr sz="3200" spc="-11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“make</a:t>
            </a:r>
            <a:r>
              <a:rPr sz="3200" spc="-18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Arial"/>
                <a:cs typeface="Arial"/>
              </a:rPr>
              <a:t>sense”,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independent</a:t>
            </a:r>
            <a:r>
              <a:rPr sz="3200" spc="-10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of</a:t>
            </a:r>
            <a:r>
              <a:rPr sz="3200" spc="-7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other</a:t>
            </a:r>
            <a:r>
              <a:rPr sz="3200" spc="-13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Arial"/>
                <a:cs typeface="Arial"/>
              </a:rPr>
              <a:t>dimensions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0127" rIns="0" bIns="0" rtlCol="0">
            <a:spAutoFit/>
          </a:bodyPr>
          <a:lstStyle/>
          <a:p>
            <a:pPr marL="56261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 Light"/>
                <a:cs typeface="Calibri Light"/>
              </a:rPr>
              <a:t>Rules</a:t>
            </a:r>
            <a:r>
              <a:rPr b="0" spc="-65" dirty="0">
                <a:latin typeface="Calibri Light"/>
                <a:cs typeface="Calibri Light"/>
              </a:rPr>
              <a:t> </a:t>
            </a:r>
            <a:r>
              <a:rPr b="0" dirty="0">
                <a:latin typeface="Calibri Light"/>
                <a:cs typeface="Calibri Light"/>
              </a:rPr>
              <a:t>for</a:t>
            </a:r>
            <a:r>
              <a:rPr b="0" spc="-45" dirty="0">
                <a:latin typeface="Calibri Light"/>
                <a:cs typeface="Calibri Light"/>
              </a:rPr>
              <a:t> </a:t>
            </a:r>
            <a:r>
              <a:rPr b="0" dirty="0">
                <a:latin typeface="Calibri Light"/>
                <a:cs typeface="Calibri Light"/>
              </a:rPr>
              <a:t>Dimensional</a:t>
            </a:r>
            <a:r>
              <a:rPr b="0" spc="-150" dirty="0">
                <a:latin typeface="Calibri Light"/>
                <a:cs typeface="Calibri Light"/>
              </a:rPr>
              <a:t> </a:t>
            </a:r>
            <a:r>
              <a:rPr b="0" spc="-10" dirty="0">
                <a:latin typeface="Calibri Light"/>
                <a:cs typeface="Calibri Light"/>
              </a:rPr>
              <a:t>Modelling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5692" rIns="0" bIns="0" rtlCol="0">
            <a:spAutoFit/>
          </a:bodyPr>
          <a:lstStyle/>
          <a:p>
            <a:pPr marL="120014">
              <a:lnSpc>
                <a:spcPts val="955"/>
              </a:lnSpc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535635" y="1610359"/>
            <a:ext cx="8032115" cy="23723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96774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each</a:t>
            </a:r>
            <a:r>
              <a:rPr sz="3200" spc="-6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level</a:t>
            </a:r>
            <a:r>
              <a:rPr sz="3200" spc="-3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is</a:t>
            </a:r>
            <a:r>
              <a:rPr sz="3200" spc="-3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characertised</a:t>
            </a:r>
            <a:r>
              <a:rPr sz="3200" spc="-7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by</a:t>
            </a:r>
            <a:r>
              <a:rPr sz="3200" spc="-3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a</a:t>
            </a:r>
            <a:r>
              <a:rPr sz="3200" spc="-14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Arial"/>
                <a:cs typeface="Arial"/>
              </a:rPr>
              <a:t>(non-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empty)</a:t>
            </a:r>
            <a:r>
              <a:rPr sz="3200" spc="-5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set</a:t>
            </a:r>
            <a:r>
              <a:rPr sz="3200" spc="-2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of</a:t>
            </a:r>
            <a:r>
              <a:rPr sz="3200" spc="-7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Arial"/>
                <a:cs typeface="Arial"/>
              </a:rPr>
              <a:t>attributes:</a:t>
            </a:r>
            <a:endParaRPr sz="3200">
              <a:latin typeface="Arial"/>
              <a:cs typeface="Arial"/>
            </a:endParaRPr>
          </a:p>
          <a:p>
            <a:pPr marL="756285" marR="5080" indent="-287020">
              <a:lnSpc>
                <a:spcPct val="100000"/>
              </a:lnSpc>
              <a:spcBef>
                <a:spcPts val="710"/>
              </a:spcBef>
            </a:pP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–</a:t>
            </a:r>
            <a:r>
              <a:rPr sz="2800" spc="-13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in</a:t>
            </a:r>
            <a:r>
              <a:rPr sz="2800" spc="-6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the</a:t>
            </a:r>
            <a:r>
              <a:rPr sz="2800" spc="-7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“month”</a:t>
            </a:r>
            <a:r>
              <a:rPr sz="2800" spc="-8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level,</a:t>
            </a:r>
            <a:r>
              <a:rPr sz="2800" spc="-5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we</a:t>
            </a:r>
            <a:r>
              <a:rPr sz="2800" spc="-6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group</a:t>
            </a:r>
            <a:r>
              <a:rPr sz="2800" spc="-7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all</a:t>
            </a:r>
            <a:r>
              <a:rPr sz="2800" spc="-7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those</a:t>
            </a:r>
            <a:r>
              <a:rPr sz="2800" spc="-8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3399"/>
                </a:solidFill>
                <a:latin typeface="Arial"/>
                <a:cs typeface="Arial"/>
              </a:rPr>
              <a:t>days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together</a:t>
            </a:r>
            <a:r>
              <a:rPr sz="2800" spc="-6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that</a:t>
            </a:r>
            <a:r>
              <a:rPr sz="2800" spc="-7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coincide</a:t>
            </a:r>
            <a:r>
              <a:rPr sz="2800" spc="-3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on</a:t>
            </a:r>
            <a:r>
              <a:rPr sz="2800" spc="-7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their</a:t>
            </a:r>
            <a:r>
              <a:rPr sz="2800" spc="-5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month</a:t>
            </a:r>
            <a:r>
              <a:rPr sz="2800" spc="-7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and</a:t>
            </a:r>
            <a:r>
              <a:rPr sz="2800" spc="-7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333399"/>
                </a:solidFill>
                <a:latin typeface="Arial"/>
                <a:cs typeface="Arial"/>
              </a:rPr>
              <a:t>year </a:t>
            </a:r>
            <a:r>
              <a:rPr sz="2800" spc="-10" dirty="0">
                <a:solidFill>
                  <a:srgbClr val="333399"/>
                </a:solidFill>
                <a:latin typeface="Arial"/>
                <a:cs typeface="Arial"/>
              </a:rPr>
              <a:t>attributes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0127" rIns="0" bIns="0" rtlCol="0">
            <a:spAutoFit/>
          </a:bodyPr>
          <a:lstStyle/>
          <a:p>
            <a:pPr marL="562610">
              <a:lnSpc>
                <a:spcPct val="100000"/>
              </a:lnSpc>
              <a:spcBef>
                <a:spcPts val="100"/>
              </a:spcBef>
            </a:pPr>
            <a:r>
              <a:rPr b="0" dirty="0">
                <a:latin typeface="Calibri Light"/>
                <a:cs typeface="Calibri Light"/>
              </a:rPr>
              <a:t>Rules</a:t>
            </a:r>
            <a:r>
              <a:rPr b="0" spc="-65" dirty="0">
                <a:latin typeface="Calibri Light"/>
                <a:cs typeface="Calibri Light"/>
              </a:rPr>
              <a:t> </a:t>
            </a:r>
            <a:r>
              <a:rPr b="0" dirty="0">
                <a:latin typeface="Calibri Light"/>
                <a:cs typeface="Calibri Light"/>
              </a:rPr>
              <a:t>for</a:t>
            </a:r>
            <a:r>
              <a:rPr b="0" spc="-45" dirty="0">
                <a:latin typeface="Calibri Light"/>
                <a:cs typeface="Calibri Light"/>
              </a:rPr>
              <a:t> </a:t>
            </a:r>
            <a:r>
              <a:rPr b="0" dirty="0">
                <a:latin typeface="Calibri Light"/>
                <a:cs typeface="Calibri Light"/>
              </a:rPr>
              <a:t>Dimensional</a:t>
            </a:r>
            <a:r>
              <a:rPr b="0" spc="-150" dirty="0">
                <a:latin typeface="Calibri Light"/>
                <a:cs typeface="Calibri Light"/>
              </a:rPr>
              <a:t> </a:t>
            </a:r>
            <a:r>
              <a:rPr b="0" spc="-10" dirty="0">
                <a:latin typeface="Calibri Light"/>
                <a:cs typeface="Calibri Light"/>
              </a:rPr>
              <a:t>Modelling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8779" y="2277821"/>
            <a:ext cx="4799330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5405" marR="5080" indent="-132334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009999"/>
                </a:solidFill>
              </a:rPr>
              <a:t>Relational</a:t>
            </a:r>
            <a:r>
              <a:rPr sz="4800" spc="-270" dirty="0">
                <a:solidFill>
                  <a:srgbClr val="009999"/>
                </a:solidFill>
              </a:rPr>
              <a:t> </a:t>
            </a:r>
            <a:r>
              <a:rPr sz="4800" spc="-20" dirty="0">
                <a:solidFill>
                  <a:srgbClr val="009999"/>
                </a:solidFill>
              </a:rPr>
              <a:t>OLAP </a:t>
            </a:r>
            <a:r>
              <a:rPr sz="4800" spc="-10" dirty="0">
                <a:solidFill>
                  <a:srgbClr val="009999"/>
                </a:solidFill>
              </a:rPr>
              <a:t>ROLAP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305927" y="6403035"/>
            <a:ext cx="2235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009999"/>
                </a:solidFill>
                <a:latin typeface="Arial"/>
                <a:cs typeface="Arial"/>
              </a:rPr>
              <a:t>52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87779" y="79959"/>
            <a:ext cx="539686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016635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solidFill>
                  <a:srgbClr val="009999"/>
                </a:solidFill>
                <a:latin typeface="Arial"/>
                <a:cs typeface="Arial"/>
              </a:rPr>
              <a:t>ROLAP</a:t>
            </a:r>
            <a:r>
              <a:rPr sz="4000" b="0" spc="-20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000" b="0" spc="-10" dirty="0">
                <a:solidFill>
                  <a:srgbClr val="009999"/>
                </a:solidFill>
                <a:latin typeface="Arial"/>
                <a:cs typeface="Arial"/>
              </a:rPr>
              <a:t>Server </a:t>
            </a:r>
            <a:r>
              <a:rPr sz="4000" b="0" dirty="0">
                <a:solidFill>
                  <a:srgbClr val="009999"/>
                </a:solidFill>
                <a:latin typeface="Arial"/>
                <a:cs typeface="Arial"/>
              </a:rPr>
              <a:t>Relational</a:t>
            </a:r>
            <a:r>
              <a:rPr sz="4000" b="0" spc="-21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000" b="0" dirty="0">
                <a:solidFill>
                  <a:srgbClr val="009999"/>
                </a:solidFill>
                <a:latin typeface="Arial"/>
                <a:cs typeface="Arial"/>
              </a:rPr>
              <a:t>OLAP</a:t>
            </a:r>
            <a:r>
              <a:rPr sz="4000" b="0" spc="-254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000" b="0" spc="-10" dirty="0">
                <a:solidFill>
                  <a:srgbClr val="009999"/>
                </a:solidFill>
                <a:latin typeface="Arial"/>
                <a:cs typeface="Arial"/>
              </a:rPr>
              <a:t>Server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05927" y="6403035"/>
            <a:ext cx="2235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009999"/>
                </a:solidFill>
                <a:latin typeface="Arial"/>
                <a:cs typeface="Arial"/>
              </a:rPr>
              <a:t>54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899" y="1613401"/>
            <a:ext cx="8797522" cy="461068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8124" y="290271"/>
            <a:ext cx="74390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Calibri Light"/>
                <a:cs typeface="Calibri Light"/>
              </a:rPr>
              <a:t>ROLAP:</a:t>
            </a:r>
            <a:r>
              <a:rPr sz="4000" b="0" spc="-140" dirty="0">
                <a:latin typeface="Calibri Light"/>
                <a:cs typeface="Calibri Light"/>
              </a:rPr>
              <a:t> </a:t>
            </a:r>
            <a:r>
              <a:rPr sz="4000" b="0" spc="-10" dirty="0">
                <a:latin typeface="Calibri Light"/>
                <a:cs typeface="Calibri Light"/>
              </a:rPr>
              <a:t>Dimensional</a:t>
            </a:r>
            <a:r>
              <a:rPr sz="4000" b="0" spc="-150" dirty="0">
                <a:latin typeface="Calibri Light"/>
                <a:cs typeface="Calibri Light"/>
              </a:rPr>
              <a:t> </a:t>
            </a:r>
            <a:r>
              <a:rPr sz="4000" b="0" dirty="0">
                <a:latin typeface="Calibri Light"/>
                <a:cs typeface="Calibri Light"/>
              </a:rPr>
              <a:t>Modeling</a:t>
            </a:r>
            <a:r>
              <a:rPr sz="4000" b="0" spc="-120" dirty="0">
                <a:latin typeface="Calibri Light"/>
                <a:cs typeface="Calibri Light"/>
              </a:rPr>
              <a:t> </a:t>
            </a:r>
            <a:r>
              <a:rPr sz="4000" b="0" spc="-10" dirty="0">
                <a:latin typeface="Calibri Light"/>
                <a:cs typeface="Calibri Light"/>
              </a:rPr>
              <a:t>Using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035" y="1000506"/>
            <a:ext cx="8167370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  <a:tab pos="7845425" algn="l"/>
              </a:tabLst>
            </a:pP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R</a:t>
            </a:r>
            <a:r>
              <a:rPr sz="3200" u="heavy" dirty="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Arial"/>
                <a:cs typeface="Arial"/>
              </a:rPr>
              <a:t>elational</a:t>
            </a:r>
            <a:r>
              <a:rPr sz="3200" u="heavy" spc="-100" dirty="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Arial"/>
                <a:cs typeface="Arial"/>
              </a:rPr>
              <a:t> </a:t>
            </a:r>
            <a:r>
              <a:rPr sz="3200" u="heavy" dirty="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Arial"/>
                <a:cs typeface="Arial"/>
              </a:rPr>
              <a:t>DBMS</a:t>
            </a:r>
            <a:r>
              <a:rPr sz="3200" u="heavy" spc="-114" dirty="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Arial"/>
                <a:cs typeface="Arial"/>
              </a:rPr>
              <a:t> </a:t>
            </a:r>
            <a:r>
              <a:rPr sz="3200" u="heavy" dirty="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Arial"/>
                <a:cs typeface="Arial"/>
              </a:rPr>
              <a:t>mensional</a:t>
            </a:r>
            <a:r>
              <a:rPr sz="3200" u="heavy" spc="-130" dirty="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Arial"/>
                <a:cs typeface="Arial"/>
              </a:rPr>
              <a:t> </a:t>
            </a:r>
            <a:r>
              <a:rPr sz="3200" u="heavy" spc="-10" dirty="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Arial"/>
                <a:cs typeface="Arial"/>
              </a:rPr>
              <a:t>Model</a:t>
            </a:r>
            <a:r>
              <a:rPr sz="3200" u="heavy" dirty="0">
                <a:solidFill>
                  <a:srgbClr val="333399"/>
                </a:solidFill>
                <a:uFill>
                  <a:solidFill>
                    <a:srgbClr val="333399"/>
                  </a:solidFill>
                </a:uFill>
                <a:latin typeface="Arial"/>
                <a:cs typeface="Arial"/>
              </a:rPr>
              <a:t>	</a:t>
            </a:r>
            <a:r>
              <a:rPr sz="3200" u="none" dirty="0">
                <a:solidFill>
                  <a:srgbClr val="333399"/>
                </a:solidFill>
                <a:latin typeface="Arial"/>
                <a:cs typeface="Arial"/>
              </a:rPr>
              <a:t> How</a:t>
            </a:r>
            <a:r>
              <a:rPr sz="3200" u="none" spc="-5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u="none" dirty="0">
                <a:solidFill>
                  <a:srgbClr val="333399"/>
                </a:solidFill>
                <a:latin typeface="Arial"/>
                <a:cs typeface="Arial"/>
              </a:rPr>
              <a:t>do</a:t>
            </a:r>
            <a:r>
              <a:rPr sz="3200" u="none" spc="-4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u="none" dirty="0">
                <a:solidFill>
                  <a:srgbClr val="333399"/>
                </a:solidFill>
                <a:latin typeface="Arial"/>
                <a:cs typeface="Arial"/>
              </a:rPr>
              <a:t>we</a:t>
            </a:r>
            <a:r>
              <a:rPr sz="3200" u="none" spc="-4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u="none" dirty="0">
                <a:solidFill>
                  <a:srgbClr val="333399"/>
                </a:solidFill>
                <a:latin typeface="Arial"/>
                <a:cs typeface="Arial"/>
              </a:rPr>
              <a:t>store</a:t>
            </a:r>
            <a:r>
              <a:rPr sz="3200" u="none" spc="-6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u="none" dirty="0">
                <a:solidFill>
                  <a:srgbClr val="333399"/>
                </a:solidFill>
                <a:latin typeface="Arial"/>
                <a:cs typeface="Arial"/>
              </a:rPr>
              <a:t>multidimensional</a:t>
            </a:r>
            <a:r>
              <a:rPr sz="3200" u="none" spc="-7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u="none" dirty="0">
                <a:solidFill>
                  <a:srgbClr val="333399"/>
                </a:solidFill>
                <a:latin typeface="Arial"/>
                <a:cs typeface="Arial"/>
              </a:rPr>
              <a:t>data</a:t>
            </a:r>
            <a:r>
              <a:rPr sz="3200" u="none" spc="-9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u="none" dirty="0">
                <a:solidFill>
                  <a:srgbClr val="333399"/>
                </a:solidFill>
                <a:latin typeface="Arial"/>
                <a:cs typeface="Arial"/>
              </a:rPr>
              <a:t>in</a:t>
            </a:r>
            <a:r>
              <a:rPr sz="3200" u="none" spc="-16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u="none" spc="-50" dirty="0">
                <a:solidFill>
                  <a:srgbClr val="333399"/>
                </a:solidFill>
                <a:latin typeface="Arial"/>
                <a:cs typeface="Arial"/>
              </a:rPr>
              <a:t>a </a:t>
            </a:r>
            <a:r>
              <a:rPr sz="3200" u="none" dirty="0">
                <a:solidFill>
                  <a:srgbClr val="333399"/>
                </a:solidFill>
                <a:latin typeface="Arial"/>
                <a:cs typeface="Arial"/>
              </a:rPr>
              <a:t>relational</a:t>
            </a:r>
            <a:r>
              <a:rPr sz="3200" u="none" spc="-16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u="none" spc="-10" dirty="0">
                <a:solidFill>
                  <a:srgbClr val="333399"/>
                </a:solidFill>
                <a:latin typeface="Arial"/>
                <a:cs typeface="Arial"/>
              </a:rPr>
              <a:t>database?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2438400"/>
            <a:ext cx="7924800" cy="38862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5692" rIns="0" bIns="0" rtlCol="0">
            <a:spAutoFit/>
          </a:bodyPr>
          <a:lstStyle/>
          <a:p>
            <a:pPr marL="120014">
              <a:lnSpc>
                <a:spcPts val="955"/>
              </a:lnSpc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536" y="1055140"/>
            <a:ext cx="6817929" cy="5087261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3545" y="1062955"/>
            <a:ext cx="6692829" cy="5079446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322" y="1027789"/>
            <a:ext cx="7677988" cy="518885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9352" y="539381"/>
            <a:ext cx="6857022" cy="560302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6633" y="1246596"/>
            <a:ext cx="6739741" cy="489580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6150" y="1246596"/>
            <a:ext cx="7146315" cy="489580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232" y="1227060"/>
            <a:ext cx="7380877" cy="4915341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9352" y="1246596"/>
            <a:ext cx="6853113" cy="489580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5481" y="2277821"/>
            <a:ext cx="6865620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36800" marR="5080" indent="-2324735">
              <a:lnSpc>
                <a:spcPct val="100000"/>
              </a:lnSpc>
              <a:spcBef>
                <a:spcPts val="100"/>
              </a:spcBef>
            </a:pPr>
            <a:r>
              <a:rPr sz="4800" spc="-10" dirty="0">
                <a:solidFill>
                  <a:srgbClr val="009999"/>
                </a:solidFill>
              </a:rPr>
              <a:t>Multidimensional</a:t>
            </a:r>
            <a:r>
              <a:rPr sz="4800" spc="-275" dirty="0">
                <a:solidFill>
                  <a:srgbClr val="009999"/>
                </a:solidFill>
              </a:rPr>
              <a:t> </a:t>
            </a:r>
            <a:r>
              <a:rPr sz="4800" spc="-20" dirty="0">
                <a:solidFill>
                  <a:srgbClr val="009999"/>
                </a:solidFill>
              </a:rPr>
              <a:t>OLAP </a:t>
            </a:r>
            <a:r>
              <a:rPr sz="4800" spc="-10" dirty="0">
                <a:solidFill>
                  <a:srgbClr val="009999"/>
                </a:solidFill>
              </a:rPr>
              <a:t>MOLAP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305927" y="6403035"/>
            <a:ext cx="2235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009999"/>
                </a:solidFill>
                <a:latin typeface="Arial"/>
                <a:cs typeface="Arial"/>
              </a:rPr>
              <a:t>66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5692" rIns="0" bIns="0" rtlCol="0">
            <a:spAutoFit/>
          </a:bodyPr>
          <a:lstStyle/>
          <a:p>
            <a:pPr marL="120014">
              <a:lnSpc>
                <a:spcPts val="955"/>
              </a:lnSpc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8751" rIns="0" bIns="0" rtlCol="0">
            <a:spAutoFit/>
          </a:bodyPr>
          <a:lstStyle/>
          <a:p>
            <a:pPr marL="801370">
              <a:lnSpc>
                <a:spcPct val="100000"/>
              </a:lnSpc>
              <a:spcBef>
                <a:spcPts val="95"/>
              </a:spcBef>
            </a:pPr>
            <a:r>
              <a:rPr sz="4000" b="0" spc="-10" dirty="0">
                <a:latin typeface="Calibri Light"/>
                <a:cs typeface="Calibri Light"/>
              </a:rPr>
              <a:t>Multidimensional</a:t>
            </a:r>
            <a:r>
              <a:rPr sz="4000" b="0" spc="-125" dirty="0">
                <a:latin typeface="Calibri Light"/>
                <a:cs typeface="Calibri Light"/>
              </a:rPr>
              <a:t> </a:t>
            </a:r>
            <a:r>
              <a:rPr sz="4000" b="0" dirty="0">
                <a:latin typeface="Calibri Light"/>
                <a:cs typeface="Calibri Light"/>
              </a:rPr>
              <a:t>OLAP</a:t>
            </a:r>
            <a:r>
              <a:rPr sz="4000" b="0" spc="-125" dirty="0">
                <a:latin typeface="Calibri Light"/>
                <a:cs typeface="Calibri Light"/>
              </a:rPr>
              <a:t> </a:t>
            </a:r>
            <a:r>
              <a:rPr sz="4000" b="0" spc="-10" dirty="0">
                <a:latin typeface="Calibri Light"/>
                <a:cs typeface="Calibri Light"/>
              </a:rPr>
              <a:t>(MOLAP)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0044" y="1915795"/>
            <a:ext cx="8013065" cy="3195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856615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Array-based</a:t>
            </a:r>
            <a:r>
              <a:rPr sz="3200" spc="-7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Arial"/>
                <a:cs typeface="Arial"/>
              </a:rPr>
              <a:t>multidimensional</a:t>
            </a:r>
            <a:r>
              <a:rPr sz="3200" spc="-13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Arial"/>
                <a:cs typeface="Arial"/>
              </a:rPr>
              <a:t>storage engine</a:t>
            </a:r>
            <a:endParaRPr sz="3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710"/>
              </a:spcBef>
            </a:pP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–</a:t>
            </a:r>
            <a:r>
              <a:rPr sz="2800" spc="-6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sparse</a:t>
            </a:r>
            <a:r>
              <a:rPr sz="2800" spc="-4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matrix</a:t>
            </a:r>
            <a:r>
              <a:rPr sz="2800" spc="-15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Arial"/>
                <a:cs typeface="Arial"/>
              </a:rPr>
              <a:t>techniques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00"/>
              </a:spcBef>
            </a:pPr>
            <a:endParaRPr sz="28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fast</a:t>
            </a:r>
            <a:r>
              <a:rPr sz="3200" spc="-6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indexing</a:t>
            </a:r>
            <a:r>
              <a:rPr sz="3200" spc="-10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to</a:t>
            </a:r>
            <a:r>
              <a:rPr sz="3200" spc="-4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Arial"/>
                <a:cs typeface="Arial"/>
              </a:rPr>
              <a:t>pre-</a:t>
            </a:r>
            <a:r>
              <a:rPr sz="3200" dirty="0">
                <a:solidFill>
                  <a:srgbClr val="333399"/>
                </a:solidFill>
                <a:latin typeface="Arial"/>
                <a:cs typeface="Arial"/>
              </a:rPr>
              <a:t>computed</a:t>
            </a:r>
            <a:r>
              <a:rPr sz="3200" spc="-14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333399"/>
                </a:solidFill>
                <a:latin typeface="Arial"/>
                <a:cs typeface="Arial"/>
              </a:rPr>
              <a:t>summarized </a:t>
            </a:r>
            <a:r>
              <a:rPr sz="3200" spc="-20" dirty="0">
                <a:solidFill>
                  <a:srgbClr val="333399"/>
                </a:solidFill>
                <a:latin typeface="Arial"/>
                <a:cs typeface="Arial"/>
              </a:rPr>
              <a:t>data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3689" y="183845"/>
            <a:ext cx="29527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Calibri Light"/>
                <a:cs typeface="Calibri Light"/>
              </a:rPr>
              <a:t>MOLAP</a:t>
            </a:r>
            <a:r>
              <a:rPr sz="4000" b="0" spc="-105" dirty="0">
                <a:latin typeface="Calibri Light"/>
                <a:cs typeface="Calibri Light"/>
              </a:rPr>
              <a:t> </a:t>
            </a:r>
            <a:r>
              <a:rPr sz="4000" b="0" spc="-10" dirty="0">
                <a:latin typeface="Calibri Light"/>
                <a:cs typeface="Calibri Light"/>
              </a:rPr>
              <a:t>Server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5441" y="805637"/>
            <a:ext cx="74930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8930" indent="-316230">
              <a:lnSpc>
                <a:spcPct val="100000"/>
              </a:lnSpc>
              <a:spcBef>
                <a:spcPts val="95"/>
              </a:spcBef>
              <a:buChar char="•"/>
              <a:tabLst>
                <a:tab pos="328930" algn="l"/>
              </a:tabLst>
            </a:pPr>
            <a:r>
              <a:rPr sz="4000" spc="-30" dirty="0">
                <a:solidFill>
                  <a:srgbClr val="009999"/>
                </a:solidFill>
                <a:latin typeface="Arial"/>
                <a:cs typeface="Arial"/>
              </a:rPr>
              <a:t>Multi-</a:t>
            </a:r>
            <a:r>
              <a:rPr sz="4000" spc="-10" dirty="0">
                <a:solidFill>
                  <a:srgbClr val="009999"/>
                </a:solidFill>
                <a:latin typeface="Arial"/>
                <a:cs typeface="Arial"/>
              </a:rPr>
              <a:t>Dimensional</a:t>
            </a:r>
            <a:r>
              <a:rPr sz="4000" spc="-10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000" dirty="0">
                <a:solidFill>
                  <a:srgbClr val="009999"/>
                </a:solidFill>
                <a:latin typeface="Arial"/>
                <a:cs typeface="Arial"/>
              </a:rPr>
              <a:t>OLAP</a:t>
            </a:r>
            <a:r>
              <a:rPr sz="4000" spc="-13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4000" spc="-10" dirty="0">
                <a:solidFill>
                  <a:srgbClr val="009999"/>
                </a:solidFill>
                <a:latin typeface="Arial"/>
                <a:cs typeface="Arial"/>
              </a:rPr>
              <a:t>Server</a:t>
            </a:r>
            <a:endParaRPr sz="4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220" y="1672451"/>
            <a:ext cx="8743876" cy="451573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5692" rIns="0" bIns="0" rtlCol="0">
            <a:spAutoFit/>
          </a:bodyPr>
          <a:lstStyle/>
          <a:p>
            <a:pPr marL="120014">
              <a:lnSpc>
                <a:spcPts val="955"/>
              </a:lnSpc>
            </a:pPr>
            <a:fld id="{81D60167-4931-47E6-BA6A-407CBD079E47}" type="slidenum">
              <a:rPr spc="-25" dirty="0"/>
              <a:t>57</a:t>
            </a:fld>
            <a:endParaRPr spc="-25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8700" y="1227060"/>
            <a:ext cx="7083765" cy="4915341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232" y="1227060"/>
            <a:ext cx="7380877" cy="4915341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513" y="1227060"/>
            <a:ext cx="7165862" cy="4915341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1449" y="1227060"/>
            <a:ext cx="6771016" cy="4915341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1835" y="6405778"/>
            <a:ext cx="152908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09999"/>
                </a:solidFill>
                <a:latin typeface="Arial"/>
                <a:cs typeface="Arial"/>
              </a:rPr>
              <a:t>Asst.</a:t>
            </a:r>
            <a:r>
              <a:rPr sz="1400" spc="-2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9999"/>
                </a:solidFill>
                <a:latin typeface="Arial"/>
                <a:cs typeface="Arial"/>
              </a:rPr>
              <a:t>Prof.</a:t>
            </a:r>
            <a:r>
              <a:rPr sz="1400" spc="-1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009999"/>
                </a:solidFill>
                <a:latin typeface="Arial"/>
                <a:cs typeface="Arial"/>
              </a:rPr>
              <a:t>Dr.</a:t>
            </a:r>
            <a:r>
              <a:rPr sz="1400" spc="-16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009999"/>
                </a:solidFill>
                <a:latin typeface="Arial"/>
                <a:cs typeface="Arial"/>
              </a:rPr>
              <a:t>Nerg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53157" y="6442988"/>
            <a:ext cx="617791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  <a:tabLst>
                <a:tab pos="5979160" algn="l"/>
              </a:tabLst>
            </a:pPr>
            <a:r>
              <a:rPr sz="1400" dirty="0">
                <a:solidFill>
                  <a:srgbClr val="009999"/>
                </a:solidFill>
                <a:latin typeface="Arial"/>
                <a:cs typeface="Arial"/>
              </a:rPr>
              <a:t>iz</a:t>
            </a:r>
            <a:r>
              <a:rPr sz="1400" spc="-3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9999"/>
                </a:solidFill>
                <a:latin typeface="Arial"/>
                <a:cs typeface="Arial"/>
              </a:rPr>
              <a:t>Ercil</a:t>
            </a:r>
            <a:r>
              <a:rPr sz="1400" spc="-3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1400" spc="-40" dirty="0">
                <a:solidFill>
                  <a:srgbClr val="009999"/>
                </a:solidFill>
                <a:latin typeface="Arial"/>
                <a:cs typeface="Arial"/>
              </a:rPr>
              <a:t>Çağıltay,</a:t>
            </a:r>
            <a:r>
              <a:rPr sz="1400" spc="-17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9999"/>
                </a:solidFill>
                <a:latin typeface="Arial"/>
                <a:cs typeface="Arial"/>
              </a:rPr>
              <a:t>Atılım</a:t>
            </a:r>
            <a:r>
              <a:rPr sz="1400" spc="-2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9999"/>
                </a:solidFill>
                <a:latin typeface="Arial"/>
                <a:cs typeface="Arial"/>
              </a:rPr>
              <a:t>University</a:t>
            </a:r>
            <a:r>
              <a:rPr sz="1400" dirty="0">
                <a:solidFill>
                  <a:srgbClr val="009999"/>
                </a:solidFill>
                <a:latin typeface="Arial"/>
                <a:cs typeface="Arial"/>
              </a:rPr>
              <a:t>	</a:t>
            </a:r>
            <a:r>
              <a:rPr sz="1400" spc="-25" dirty="0">
                <a:solidFill>
                  <a:srgbClr val="009999"/>
                </a:solidFill>
                <a:latin typeface="Arial"/>
                <a:cs typeface="Arial"/>
              </a:rPr>
              <a:t>30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4065" y="153864"/>
            <a:ext cx="6776009" cy="650912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009999"/>
                </a:solidFill>
              </a:rPr>
              <a:t>MOLAP</a:t>
            </a:r>
            <a:endParaRPr sz="4000"/>
          </a:p>
          <a:p>
            <a:pPr marL="12700">
              <a:lnSpc>
                <a:spcPct val="100000"/>
              </a:lnSpc>
            </a:pPr>
            <a:r>
              <a:rPr sz="4000" spc="-10" dirty="0">
                <a:solidFill>
                  <a:srgbClr val="009999"/>
                </a:solidFill>
              </a:rPr>
              <a:t>Example</a:t>
            </a:r>
            <a:endParaRPr sz="4000"/>
          </a:p>
        </p:txBody>
      </p:sp>
      <p:sp>
        <p:nvSpPr>
          <p:cNvPr id="6" name="object 6"/>
          <p:cNvSpPr txBox="1"/>
          <p:nvPr/>
        </p:nvSpPr>
        <p:spPr>
          <a:xfrm>
            <a:off x="8305927" y="6403035"/>
            <a:ext cx="2235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009999"/>
                </a:solidFill>
                <a:latin typeface="Arial"/>
                <a:cs typeface="Arial"/>
              </a:rPr>
              <a:t>75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5692" rIns="0" bIns="0" rtlCol="0">
            <a:spAutoFit/>
          </a:bodyPr>
          <a:lstStyle/>
          <a:p>
            <a:pPr marL="120014">
              <a:lnSpc>
                <a:spcPts val="955"/>
              </a:lnSpc>
            </a:pPr>
            <a:fld id="{81D60167-4931-47E6-BA6A-407CBD079E47}" type="slidenum">
              <a:rPr spc="-25" dirty="0"/>
              <a:t>63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9330" rIns="0" bIns="0" rtlCol="0">
            <a:spAutoFit/>
          </a:bodyPr>
          <a:lstStyle/>
          <a:p>
            <a:pPr marL="351472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HOLAP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443" y="1589225"/>
            <a:ext cx="7909559" cy="389509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67665" indent="-342900">
              <a:lnSpc>
                <a:spcPct val="100000"/>
              </a:lnSpc>
              <a:spcBef>
                <a:spcPts val="735"/>
              </a:spcBef>
              <a:buChar char="•"/>
              <a:tabLst>
                <a:tab pos="367665" algn="l"/>
              </a:tabLst>
            </a:pP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HOLAP:</a:t>
            </a:r>
            <a:r>
              <a:rPr sz="2800" spc="-8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do</a:t>
            </a:r>
            <a:r>
              <a:rPr sz="2800" spc="-6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both</a:t>
            </a:r>
            <a:r>
              <a:rPr sz="2800" spc="-5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(A</a:t>
            </a:r>
            <a:r>
              <a:rPr sz="2800" spc="-19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99"/>
                </a:solidFill>
                <a:latin typeface="Arial"/>
                <a:cs typeface="Arial"/>
              </a:rPr>
              <a:t>hybrid</a:t>
            </a:r>
            <a:r>
              <a:rPr sz="2800" spc="-3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Arial"/>
                <a:cs typeface="Arial"/>
              </a:rPr>
              <a:t>approach)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45"/>
              </a:spcBef>
            </a:pPr>
            <a:r>
              <a:rPr sz="2400" dirty="0">
                <a:latin typeface="Calibri"/>
                <a:cs typeface="Calibri"/>
              </a:rPr>
              <a:t>HOLAP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(Hybrid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Online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Analytical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Processing)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combination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ROLAP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(Relational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OLAP)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MOLAP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(Multidimensional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OLAP). </a:t>
            </a:r>
            <a:r>
              <a:rPr sz="2400" dirty="0">
                <a:latin typeface="Calibri"/>
                <a:cs typeface="Calibri"/>
              </a:rPr>
              <a:t>HOLAP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allows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MOLAP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</a:t>
            </a:r>
            <a:r>
              <a:rPr sz="2400" dirty="0">
                <a:latin typeface="Calibri"/>
                <a:cs typeface="Calibri"/>
              </a:rPr>
              <a:t>another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ROLAP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store.</a:t>
            </a:r>
            <a:endParaRPr sz="2400">
              <a:latin typeface="Calibri"/>
              <a:cs typeface="Calibri"/>
            </a:endParaRPr>
          </a:p>
          <a:p>
            <a:pPr marL="12700" marR="92710">
              <a:lnSpc>
                <a:spcPct val="100000"/>
              </a:lnSpc>
              <a:spcBef>
                <a:spcPts val="2885"/>
              </a:spcBef>
            </a:pPr>
            <a:r>
              <a:rPr sz="2400" dirty="0">
                <a:latin typeface="Calibri"/>
                <a:cs typeface="Calibri"/>
              </a:rPr>
              <a:t>HOLAP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varying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combinations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ROLAP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OLAP technology.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typically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multidimensional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depending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preferred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processing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958</Words>
  <Application>Microsoft Office PowerPoint</Application>
  <PresentationFormat>On-screen Show (4:3)</PresentationFormat>
  <Paragraphs>179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8" baseType="lpstr">
      <vt:lpstr>Arial</vt:lpstr>
      <vt:lpstr>Calibri</vt:lpstr>
      <vt:lpstr>Calibri Light</vt:lpstr>
      <vt:lpstr>Times New Roman</vt:lpstr>
      <vt:lpstr>Office Theme</vt:lpstr>
      <vt:lpstr>Operational Data Store (ODS)</vt:lpstr>
      <vt:lpstr>PowerPoint Presentation</vt:lpstr>
      <vt:lpstr>Operational Data Store (ODS)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Warehouse</vt:lpstr>
      <vt:lpstr>Data Warehouse</vt:lpstr>
      <vt:lpstr>OLTP vs. OLAP</vt:lpstr>
      <vt:lpstr>Warehouse as Specialized DB</vt:lpstr>
      <vt:lpstr>Data Warehouse vs. Operational DBMS</vt:lpstr>
      <vt:lpstr>Data Warehouse vs. Operational DBMS</vt:lpstr>
      <vt:lpstr>Data Warehouse vs. Operational DBMS</vt:lpstr>
      <vt:lpstr>Why Separate Data Warehouse?</vt:lpstr>
      <vt:lpstr>Why Separate Data Warehouse?</vt:lpstr>
      <vt:lpstr>PowerPoint Presentation</vt:lpstr>
      <vt:lpstr>PowerPoint Presentation</vt:lpstr>
      <vt:lpstr>PowerPoint Presentation</vt:lpstr>
      <vt:lpstr>PowerPoint Presentation</vt:lpstr>
      <vt:lpstr>Example OLAP session</vt:lpstr>
      <vt:lpstr>Example OLAP session</vt:lpstr>
      <vt:lpstr>PowerPoint Presentation</vt:lpstr>
      <vt:lpstr>PowerPoint Presentation</vt:lpstr>
      <vt:lpstr>PowerPoint Presentation</vt:lpstr>
      <vt:lpstr>OLAP session concludes</vt:lpstr>
      <vt:lpstr>PowerPoint Presentation</vt:lpstr>
      <vt:lpstr>PowerPoint Presentation</vt:lpstr>
      <vt:lpstr>PowerPoint Presentation</vt:lpstr>
      <vt:lpstr>Rules for Dimensional Modelling</vt:lpstr>
      <vt:lpstr>Analysis using a multidimensional database</vt:lpstr>
      <vt:lpstr>Dimensions</vt:lpstr>
      <vt:lpstr>Rules for Dimensional Modelling</vt:lpstr>
      <vt:lpstr>Rules for Dimensional Modelling</vt:lpstr>
      <vt:lpstr>Relational OLAP ROLAP</vt:lpstr>
      <vt:lpstr>ROLAP Server Relational OLAP Server</vt:lpstr>
      <vt:lpstr>ROLAP: Dimensional Modeling Using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Multidimensional OLAP MOLAP</vt:lpstr>
      <vt:lpstr>Multidimensional OLAP (MOLAP)</vt:lpstr>
      <vt:lpstr>MOLAP Server</vt:lpstr>
      <vt:lpstr>PowerPoint Presentation</vt:lpstr>
      <vt:lpstr>PowerPoint Presentation</vt:lpstr>
      <vt:lpstr>PowerPoint Presentation</vt:lpstr>
      <vt:lpstr>PowerPoint Presentation</vt:lpstr>
      <vt:lpstr>MOLAP Example</vt:lpstr>
      <vt:lpstr>HOLAP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Relational Database Concepts</dc:title>
  <dc:creator>Nergiz Cagiltay</dc:creator>
  <cp:lastModifiedBy>Damla Topallı</cp:lastModifiedBy>
  <cp:revision>2</cp:revision>
  <dcterms:created xsi:type="dcterms:W3CDTF">2025-03-20T03:52:27Z</dcterms:created>
  <dcterms:modified xsi:type="dcterms:W3CDTF">2025-03-20T04:31:24Z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2023-11-20T00:00:00Z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2025-03-20T00:00:00Z</vt:filetime>
  </property>
  <property fmtid="{D5CDD505-2E9C-101B-9397-08002B2CF9AE}" pid="5" name="Producer">
    <vt:lpwstr>Microsoft® PowerPoint® 2016</vt:lpwstr>
  </property>
</Properties>
</file>